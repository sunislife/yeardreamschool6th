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0"/>
  </p:notesMasterIdLst>
  <p:sldIdLst>
    <p:sldId id="256" r:id="rId2"/>
    <p:sldId id="286" r:id="rId3"/>
    <p:sldId id="258" r:id="rId4"/>
    <p:sldId id="259" r:id="rId5"/>
    <p:sldId id="260" r:id="rId6"/>
    <p:sldId id="261" r:id="rId7"/>
    <p:sldId id="288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89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90" r:id="rId32"/>
    <p:sldId id="291" r:id="rId33"/>
    <p:sldId id="292" r:id="rId34"/>
    <p:sldId id="293" r:id="rId35"/>
    <p:sldId id="296" r:id="rId36"/>
    <p:sldId id="295" r:id="rId37"/>
    <p:sldId id="287" r:id="rId38"/>
    <p:sldId id="269" r:id="rId3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B435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47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34479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786162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161266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8298545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05568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39428" y="978408"/>
            <a:ext cx="1746504" cy="5312664"/>
          </a:xfrm>
          <a:prstGeom prst="roundRect">
            <a:avLst>
              <a:gd name="adj" fmla="val 9424"/>
            </a:avLst>
          </a:prstGeom>
          <a:solidFill>
            <a:srgbClr val="2B313E"/>
          </a:solidFill>
          <a:ln w="15875">
            <a:solidFill>
              <a:srgbClr val="3B435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95460" y="1234440"/>
            <a:ext cx="1234440" cy="1234440"/>
          </a:xfrm>
          <a:prstGeom prst="ellipse">
            <a:avLst/>
          </a:prstGeom>
          <a:solidFill>
            <a:srgbClr val="D55E00"/>
          </a:solidFill>
          <a:ln/>
        </p:spPr>
      </p:sp>
      <p:sp>
        <p:nvSpPr>
          <p:cNvPr id="4" name="Shape 2"/>
          <p:cNvSpPr/>
          <p:nvPr/>
        </p:nvSpPr>
        <p:spPr>
          <a:xfrm>
            <a:off x="9395460" y="3017520"/>
            <a:ext cx="1234440" cy="1234440"/>
          </a:xfrm>
          <a:prstGeom prst="ellipse">
            <a:avLst/>
          </a:prstGeom>
          <a:solidFill>
            <a:srgbClr val="E69F00"/>
          </a:solidFill>
          <a:ln/>
        </p:spPr>
      </p:sp>
      <p:sp>
        <p:nvSpPr>
          <p:cNvPr id="5" name="Shape 3"/>
          <p:cNvSpPr/>
          <p:nvPr/>
        </p:nvSpPr>
        <p:spPr>
          <a:xfrm>
            <a:off x="9395460" y="4800600"/>
            <a:ext cx="1234440" cy="1234440"/>
          </a:xfrm>
          <a:prstGeom prst="ellipse">
            <a:avLst/>
          </a:prstGeom>
          <a:solidFill>
            <a:srgbClr val="009E73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3258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E69F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HEALTH SIGNAL  ·  플랫폼 제안서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86384" y="182880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건강신호등</a:t>
            </a:r>
            <a:endParaRPr lang="en-US" sz="6200" dirty="0"/>
          </a:p>
        </p:txBody>
      </p:sp>
      <p:sp>
        <p:nvSpPr>
          <p:cNvPr id="8" name="Text 6"/>
          <p:cNvSpPr/>
          <p:nvPr/>
        </p:nvSpPr>
        <p:spPr>
          <a:xfrm>
            <a:off x="822960" y="299923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9AA3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Health Signal Platform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22960" y="367588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8EB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학생의 작은 생활신호를 필요한 건강지원으로 연결합니다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22960" y="4224528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EB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3등급 신호등 자동 분류</a:t>
            </a:r>
            <a:r>
              <a:rPr lang="en-US" sz="1500" dirty="0">
                <a:solidFill>
                  <a:srgbClr val="9AA3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·   Balanced Accuracy </a:t>
            </a:r>
            <a:r>
              <a:rPr lang="en-US" sz="1500" b="1" dirty="0">
                <a:solidFill>
                  <a:srgbClr val="009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0.950</a:t>
            </a:r>
            <a:r>
              <a:rPr lang="en-US" sz="1500" dirty="0">
                <a:solidFill>
                  <a:srgbClr val="9AA3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로 검증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59536" y="5120640"/>
            <a:ext cx="3657600" cy="0"/>
          </a:xfrm>
          <a:prstGeom prst="line">
            <a:avLst/>
          </a:prstGeom>
          <a:noFill/>
          <a:ln w="19050">
            <a:solidFill>
              <a:srgbClr val="3B435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5321808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8EB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제안 · 발표 : [팀명 / 발표자 이름]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22960" y="5742432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AA3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2026. 07. 15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4"/>
          <p:cNvSpPr/>
          <p:nvPr/>
        </p:nvSpPr>
        <p:spPr>
          <a:xfrm>
            <a:off x="457200" y="1691640"/>
            <a:ext cx="11274552" cy="1024128"/>
          </a:xfrm>
          <a:prstGeom prst="roundRect">
            <a:avLst>
              <a:gd name="adj" fmla="val 8929"/>
            </a:avLst>
          </a:prstGeom>
          <a:solidFill>
            <a:srgbClr val="F1F2F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685800" y="1856232"/>
            <a:ext cx="694944" cy="694944"/>
          </a:xfrm>
          <a:prstGeom prst="ellipse">
            <a:avLst/>
          </a:prstGeom>
          <a:solidFill>
            <a:srgbClr val="2E93D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685800" y="1856232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666239" y="1893151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900" b="1" dirty="0">
                <a:solidFill>
                  <a:srgbClr val="2223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제안 배경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1666239" y="2258911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50" i="1" dirty="0" err="1">
                <a:solidFill>
                  <a:srgbClr val="2E9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위험군은</a:t>
            </a:r>
            <a:r>
              <a:rPr lang="en-US" altLang="ko-KR" sz="1050" i="1" dirty="0">
                <a:solidFill>
                  <a:srgbClr val="2E9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050" i="1" dirty="0" err="1">
                <a:solidFill>
                  <a:srgbClr val="2E9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소수인데</a:t>
            </a:r>
            <a:r>
              <a:rPr lang="en-US" altLang="ko-KR" sz="1050" i="1" dirty="0">
                <a:solidFill>
                  <a:srgbClr val="2E9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altLang="ko-KR" sz="1050" i="1" dirty="0" err="1">
                <a:solidFill>
                  <a:srgbClr val="2E9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전수</a:t>
            </a:r>
            <a:r>
              <a:rPr lang="en-US" altLang="ko-KR" sz="1050" i="1" dirty="0">
                <a:solidFill>
                  <a:srgbClr val="2E9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050" i="1" dirty="0" err="1">
                <a:solidFill>
                  <a:srgbClr val="2E9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관리로는</a:t>
            </a:r>
            <a:r>
              <a:rPr lang="en-US" altLang="ko-KR" sz="1050" i="1" dirty="0">
                <a:solidFill>
                  <a:srgbClr val="2E9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050" i="1" dirty="0" err="1">
                <a:solidFill>
                  <a:srgbClr val="2E9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놓칩니다</a:t>
            </a:r>
            <a:endParaRPr lang="en-US" altLang="ko-KR" sz="1050" i="1" dirty="0">
              <a:solidFill>
                <a:srgbClr val="2E93D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035040" y="1691640"/>
            <a:ext cx="55321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altLang="ko-KR" sz="115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보건·상담</a:t>
            </a:r>
            <a:r>
              <a:rPr lang="en-US" altLang="ko-KR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15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인력은</a:t>
            </a:r>
            <a:r>
              <a:rPr lang="en-US" altLang="ko-KR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15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한정적</a:t>
            </a:r>
            <a:r>
              <a:rPr lang="en-US" altLang="ko-KR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</a:t>
            </a:r>
            <a:r>
              <a:rPr lang="en-US" altLang="ko-KR" sz="115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먼저</a:t>
            </a:r>
            <a:r>
              <a:rPr lang="en-US" altLang="ko-KR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볼 </a:t>
            </a:r>
            <a:r>
              <a:rPr lang="en-US" altLang="ko-KR" sz="115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기준이</a:t>
            </a:r>
            <a:r>
              <a:rPr lang="en-US" altLang="ko-KR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없</a:t>
            </a:r>
            <a:r>
              <a:rPr lang="ko-KR" alt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</a:t>
            </a:r>
            <a:r>
              <a:rPr lang="en-US" altLang="ko-KR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</p:txBody>
      </p:sp>
      <p:sp>
        <p:nvSpPr>
          <p:cNvPr id="12" name="Shape 10"/>
          <p:cNvSpPr/>
          <p:nvPr/>
        </p:nvSpPr>
        <p:spPr>
          <a:xfrm>
            <a:off x="457200" y="2862072"/>
            <a:ext cx="11274552" cy="1024128"/>
          </a:xfrm>
          <a:prstGeom prst="roundRect">
            <a:avLst>
              <a:gd name="adj" fmla="val 8929"/>
            </a:avLst>
          </a:prstGeom>
          <a:solidFill>
            <a:srgbClr val="F1F2F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685800" y="3026664"/>
            <a:ext cx="694944" cy="694944"/>
          </a:xfrm>
          <a:prstGeom prst="ellipse">
            <a:avLst/>
          </a:prstGeom>
          <a:solidFill>
            <a:srgbClr val="155D8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685800" y="3026664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691640" y="3055116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900" b="1" dirty="0">
                <a:solidFill>
                  <a:srgbClr val="2223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건강신호등 서비스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1691640" y="3420876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50" i="1" dirty="0" err="1">
                <a:solidFill>
                  <a:srgbClr val="155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생활</a:t>
            </a:r>
            <a:r>
              <a:rPr lang="en-US" altLang="ko-KR" sz="1050" i="1" dirty="0">
                <a:solidFill>
                  <a:srgbClr val="155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050" i="1" dirty="0" err="1">
                <a:solidFill>
                  <a:srgbClr val="155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신호를</a:t>
            </a:r>
            <a:r>
              <a:rPr lang="en-US" altLang="ko-KR" sz="1050" i="1" dirty="0">
                <a:solidFill>
                  <a:srgbClr val="155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3등급 </a:t>
            </a:r>
            <a:r>
              <a:rPr lang="en-US" altLang="ko-KR" sz="1050" i="1" dirty="0" err="1">
                <a:solidFill>
                  <a:srgbClr val="155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신호등으로</a:t>
            </a:r>
            <a:r>
              <a:rPr lang="en-US" altLang="ko-KR" sz="1050" i="1" dirty="0">
                <a:solidFill>
                  <a:srgbClr val="155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050" i="1" dirty="0" err="1">
                <a:solidFill>
                  <a:srgbClr val="155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자동</a:t>
            </a:r>
            <a:r>
              <a:rPr lang="en-US" altLang="ko-KR" sz="1050" i="1" dirty="0">
                <a:solidFill>
                  <a:srgbClr val="155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050" i="1" dirty="0" err="1">
                <a:solidFill>
                  <a:srgbClr val="155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분류</a:t>
            </a:r>
            <a:endParaRPr lang="en-US" altLang="ko-KR" sz="1050" i="1" dirty="0">
              <a:solidFill>
                <a:srgbClr val="155D8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035040" y="2862072"/>
            <a:ext cx="55321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altLang="ko-KR" sz="115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위험도에</a:t>
            </a:r>
            <a:r>
              <a:rPr lang="en-US" altLang="ko-KR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15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맞춰</a:t>
            </a:r>
            <a:r>
              <a:rPr lang="en-US" altLang="ko-KR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15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콘텐츠·코칭·상담을</a:t>
            </a:r>
            <a:r>
              <a:rPr lang="en-US" altLang="ko-KR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15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연결하는</a:t>
            </a:r>
            <a:r>
              <a:rPr lang="en-US" altLang="ko-KR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15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건강관리</a:t>
            </a:r>
            <a:r>
              <a:rPr lang="en-US" altLang="ko-KR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15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플랫폼</a:t>
            </a:r>
            <a:r>
              <a:rPr lang="en-US" altLang="ko-KR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</p:txBody>
      </p:sp>
      <p:sp>
        <p:nvSpPr>
          <p:cNvPr id="18" name="Shape 16"/>
          <p:cNvSpPr/>
          <p:nvPr/>
        </p:nvSpPr>
        <p:spPr>
          <a:xfrm>
            <a:off x="457200" y="4032504"/>
            <a:ext cx="11274552" cy="1024128"/>
          </a:xfrm>
          <a:prstGeom prst="roundRect">
            <a:avLst>
              <a:gd name="adj" fmla="val 8929"/>
            </a:avLst>
          </a:prstGeom>
          <a:solidFill>
            <a:srgbClr val="F1F2F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685800" y="4197096"/>
            <a:ext cx="694944" cy="694944"/>
          </a:xfrm>
          <a:prstGeom prst="ellipse">
            <a:avLst/>
          </a:prstGeom>
          <a:solidFill>
            <a:srgbClr val="F299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685800" y="4197096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691640" y="4225548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900" b="1" dirty="0">
                <a:solidFill>
                  <a:srgbClr val="222325"/>
                </a:solidFill>
                <a:latin typeface="Arial" pitchFamily="34" charset="0"/>
                <a:cs typeface="Arial" pitchFamily="34" charset="-120"/>
              </a:rPr>
              <a:t>왜 이 </a:t>
            </a:r>
            <a:r>
              <a:rPr lang="en-US" altLang="ko-KR" sz="1900" b="1" dirty="0" err="1">
                <a:solidFill>
                  <a:srgbClr val="222325"/>
                </a:solidFill>
                <a:latin typeface="Arial" pitchFamily="34" charset="0"/>
                <a:cs typeface="Arial" pitchFamily="34" charset="-120"/>
              </a:rPr>
              <a:t>신호를</a:t>
            </a:r>
            <a:r>
              <a:rPr lang="en-US" altLang="ko-KR" sz="1900" b="1" dirty="0">
                <a:solidFill>
                  <a:srgbClr val="222325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en-US" altLang="ko-KR" sz="1900" b="1" dirty="0" err="1">
                <a:solidFill>
                  <a:srgbClr val="222325"/>
                </a:solidFill>
                <a:latin typeface="Arial" pitchFamily="34" charset="0"/>
                <a:cs typeface="Arial" pitchFamily="34" charset="-120"/>
              </a:rPr>
              <a:t>믿을</a:t>
            </a:r>
            <a:r>
              <a:rPr lang="en-US" altLang="ko-KR" sz="1900" b="1" dirty="0">
                <a:solidFill>
                  <a:srgbClr val="222325"/>
                </a:solidFill>
                <a:latin typeface="Arial" pitchFamily="34" charset="0"/>
                <a:cs typeface="Arial" pitchFamily="34" charset="-120"/>
              </a:rPr>
              <a:t> 수 </a:t>
            </a:r>
            <a:r>
              <a:rPr lang="en-US" altLang="ko-KR" sz="1900" b="1" dirty="0" err="1">
                <a:solidFill>
                  <a:srgbClr val="222325"/>
                </a:solidFill>
                <a:latin typeface="Arial" pitchFamily="34" charset="0"/>
                <a:cs typeface="Arial" pitchFamily="34" charset="-120"/>
              </a:rPr>
              <a:t>있는가</a:t>
            </a:r>
            <a:endParaRPr lang="en-US" altLang="ko-KR" sz="1900" b="1" dirty="0">
              <a:solidFill>
                <a:srgbClr val="222325"/>
              </a:solidFill>
              <a:latin typeface="Arial" pitchFamily="34" charset="0"/>
              <a:cs typeface="Arial" pitchFamily="34" charset="-12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1691640" y="459130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50" i="1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690k </a:t>
            </a:r>
            <a:r>
              <a:rPr lang="en-US" altLang="ko-KR" sz="1050" i="1" dirty="0" err="1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데이터로</a:t>
            </a:r>
            <a:r>
              <a:rPr lang="en-US" altLang="ko-KR" sz="1050" i="1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050" i="1" dirty="0" err="1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검증한</a:t>
            </a:r>
            <a:r>
              <a:rPr lang="en-US" altLang="ko-KR" sz="1050" i="1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Balanced Accuracy 0.950</a:t>
            </a:r>
          </a:p>
        </p:txBody>
      </p:sp>
      <p:sp>
        <p:nvSpPr>
          <p:cNvPr id="23" name="Text 21"/>
          <p:cNvSpPr/>
          <p:nvPr/>
        </p:nvSpPr>
        <p:spPr>
          <a:xfrm>
            <a:off x="6035040" y="4032504"/>
            <a:ext cx="55321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altLang="ko-KR" sz="115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로컬</a:t>
            </a:r>
            <a:r>
              <a:rPr lang="en-US" altLang="ko-KR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CV 0.94962 ≈ </a:t>
            </a:r>
            <a:r>
              <a:rPr lang="en-US" altLang="ko-KR" sz="115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리더보드</a:t>
            </a:r>
            <a:r>
              <a:rPr lang="en-US" altLang="ko-KR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0.94952, 갭 0.0001.</a:t>
            </a:r>
          </a:p>
        </p:txBody>
      </p:sp>
      <p:sp>
        <p:nvSpPr>
          <p:cNvPr id="24" name="Shape 22"/>
          <p:cNvSpPr/>
          <p:nvPr/>
        </p:nvSpPr>
        <p:spPr>
          <a:xfrm>
            <a:off x="457200" y="5202936"/>
            <a:ext cx="11274552" cy="1024128"/>
          </a:xfrm>
          <a:prstGeom prst="roundRect">
            <a:avLst>
              <a:gd name="adj" fmla="val 8929"/>
            </a:avLst>
          </a:prstGeom>
          <a:solidFill>
            <a:srgbClr val="F1F2F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685800" y="5367528"/>
            <a:ext cx="694944" cy="694944"/>
          </a:xfrm>
          <a:prstGeom prst="ellipse">
            <a:avLst/>
          </a:prstGeom>
          <a:solidFill>
            <a:srgbClr val="C1560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685800" y="5367528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691640" y="539598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900" b="1" dirty="0" err="1">
                <a:solidFill>
                  <a:srgbClr val="222325"/>
                </a:solidFill>
                <a:latin typeface="Arial" pitchFamily="34" charset="0"/>
                <a:cs typeface="Arial" pitchFamily="34" charset="-120"/>
              </a:rPr>
              <a:t>사후</a:t>
            </a:r>
            <a:r>
              <a:rPr lang="en-US" altLang="ko-KR" sz="1900" b="1" dirty="0">
                <a:solidFill>
                  <a:srgbClr val="222325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en-US" altLang="ko-KR" sz="1900" b="1" dirty="0" err="1">
                <a:solidFill>
                  <a:srgbClr val="222325"/>
                </a:solidFill>
                <a:latin typeface="Arial" pitchFamily="34" charset="0"/>
                <a:cs typeface="Arial" pitchFamily="34" charset="-120"/>
              </a:rPr>
              <a:t>대응을</a:t>
            </a:r>
            <a:r>
              <a:rPr lang="en-US" altLang="ko-KR" sz="1900" b="1" dirty="0">
                <a:solidFill>
                  <a:srgbClr val="222325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en-US" altLang="ko-KR" sz="1900" b="1" dirty="0" err="1">
                <a:solidFill>
                  <a:srgbClr val="222325"/>
                </a:solidFill>
                <a:latin typeface="Arial" pitchFamily="34" charset="0"/>
                <a:cs typeface="Arial" pitchFamily="34" charset="-120"/>
              </a:rPr>
              <a:t>선제적</a:t>
            </a:r>
            <a:r>
              <a:rPr lang="en-US" altLang="ko-KR" sz="1900" b="1" dirty="0">
                <a:solidFill>
                  <a:srgbClr val="222325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en-US" altLang="ko-KR" sz="1900" b="1" dirty="0" err="1">
                <a:solidFill>
                  <a:srgbClr val="222325"/>
                </a:solidFill>
                <a:latin typeface="Arial" pitchFamily="34" charset="0"/>
                <a:cs typeface="Arial" pitchFamily="34" charset="-120"/>
              </a:rPr>
              <a:t>연결로</a:t>
            </a:r>
            <a:r>
              <a:rPr lang="en-US" altLang="ko-KR" sz="1900" b="1" dirty="0">
                <a:solidFill>
                  <a:srgbClr val="222325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en-US" altLang="ko-KR" sz="1900" b="1" dirty="0" err="1">
                <a:solidFill>
                  <a:srgbClr val="222325"/>
                </a:solidFill>
                <a:latin typeface="Arial" pitchFamily="34" charset="0"/>
                <a:cs typeface="Arial" pitchFamily="34" charset="-120"/>
              </a:rPr>
              <a:t>바꿉니다</a:t>
            </a:r>
            <a:endParaRPr lang="en-US" altLang="ko-KR" sz="1900" b="1" dirty="0">
              <a:solidFill>
                <a:srgbClr val="222325"/>
              </a:solidFill>
              <a:latin typeface="Arial" pitchFamily="34" charset="0"/>
              <a:cs typeface="Arial" pitchFamily="34" charset="-12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1691640" y="576174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50" i="1" dirty="0">
                <a:solidFill>
                  <a:srgbClr val="C15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 </a:t>
            </a:r>
            <a:r>
              <a:rPr lang="en-US" altLang="ko-KR" sz="1050" i="1" dirty="0" err="1">
                <a:solidFill>
                  <a:srgbClr val="C15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학과·한</a:t>
            </a:r>
            <a:r>
              <a:rPr lang="en-US" altLang="ko-KR" sz="1050" i="1" dirty="0">
                <a:solidFill>
                  <a:srgbClr val="C15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050" i="1" dirty="0" err="1">
                <a:solidFill>
                  <a:srgbClr val="C15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학기</a:t>
            </a:r>
            <a:r>
              <a:rPr lang="en-US" altLang="ko-KR" sz="1050" i="1" dirty="0">
                <a:solidFill>
                  <a:srgbClr val="C15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050" i="1" dirty="0" err="1">
                <a:solidFill>
                  <a:srgbClr val="C15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</a:t>
            </a:r>
            <a:r>
              <a:rPr lang="en-US" altLang="ko-KR" sz="1050" i="1" dirty="0">
                <a:solidFill>
                  <a:srgbClr val="C15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050" i="1" dirty="0" err="1">
                <a:solidFill>
                  <a:srgbClr val="C15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승인을</a:t>
            </a:r>
            <a:r>
              <a:rPr lang="en-US" altLang="ko-KR" sz="1050" i="1" dirty="0">
                <a:solidFill>
                  <a:srgbClr val="C15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050" i="1" dirty="0" err="1">
                <a:solidFill>
                  <a:srgbClr val="C15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요청드립니다</a:t>
            </a:r>
            <a:endParaRPr lang="en-US" altLang="ko-KR" sz="1050" i="1" dirty="0">
              <a:solidFill>
                <a:srgbClr val="C1560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6035040" y="5202936"/>
            <a:ext cx="55321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altLang="ko-KR" sz="115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</a:t>
            </a:r>
            <a:r>
              <a:rPr lang="en-US" altLang="ko-KR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15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상담·검진과</a:t>
            </a:r>
            <a:r>
              <a:rPr lang="en-US" altLang="ko-KR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15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연결한</a:t>
            </a:r>
            <a:r>
              <a:rPr lang="en-US" altLang="ko-KR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8주 </a:t>
            </a:r>
            <a:r>
              <a:rPr lang="en-US" altLang="ko-KR" sz="115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파일럿으로</a:t>
            </a:r>
            <a:r>
              <a:rPr lang="en-US" altLang="ko-KR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15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현장에서</a:t>
            </a:r>
            <a:r>
              <a:rPr lang="en-US" altLang="ko-KR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15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검증</a:t>
            </a:r>
            <a:endParaRPr lang="en-US" altLang="ko-KR" sz="1150" dirty="0">
              <a:solidFill>
                <a:srgbClr val="6B728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31" name="Text 8">
            <a:extLst>
              <a:ext uri="{FF2B5EF4-FFF2-40B4-BE49-F238E27FC236}">
                <a16:creationId xmlns:a16="http://schemas.microsoft.com/office/drawing/2014/main" id="{E47AF2A9-FCB8-44AD-B270-84FCAD7D8154}"/>
              </a:ext>
            </a:extLst>
          </p:cNvPr>
          <p:cNvSpPr/>
          <p:nvPr/>
        </p:nvSpPr>
        <p:spPr>
          <a:xfrm>
            <a:off x="566928" y="402336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7A82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AGENA</a:t>
            </a:r>
            <a:endParaRPr lang="en-US" sz="1200" dirty="0"/>
          </a:p>
        </p:txBody>
      </p:sp>
      <p:sp>
        <p:nvSpPr>
          <p:cNvPr id="32" name="Text 9">
            <a:extLst>
              <a:ext uri="{FF2B5EF4-FFF2-40B4-BE49-F238E27FC236}">
                <a16:creationId xmlns:a16="http://schemas.microsoft.com/office/drawing/2014/main" id="{56B56A7C-D445-499C-B273-27E4DF6CBC2B}"/>
              </a:ext>
            </a:extLst>
          </p:cNvPr>
          <p:cNvSpPr/>
          <p:nvPr/>
        </p:nvSpPr>
        <p:spPr>
          <a:xfrm>
            <a:off x="548640" y="713232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34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목차</a:t>
            </a:r>
            <a:endParaRPr lang="en-US" sz="3400" dirty="0"/>
          </a:p>
        </p:txBody>
      </p:sp>
      <p:sp>
        <p:nvSpPr>
          <p:cNvPr id="33" name="Text 10">
            <a:extLst>
              <a:ext uri="{FF2B5EF4-FFF2-40B4-BE49-F238E27FC236}">
                <a16:creationId xmlns:a16="http://schemas.microsoft.com/office/drawing/2014/main" id="{CEB7F591-1095-4111-B278-5EA0FD8144D0}"/>
              </a:ext>
            </a:extLst>
          </p:cNvPr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EB6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00" dirty="0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8A55D3C0-B30D-4A9F-A0D7-E5EC5C2697C6}"/>
              </a:ext>
            </a:extLst>
          </p:cNvPr>
          <p:cNvSpPr/>
          <p:nvPr/>
        </p:nvSpPr>
        <p:spPr>
          <a:xfrm>
            <a:off x="457200" y="6108192"/>
            <a:ext cx="11274552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부록: 데이터 · 시각화 상세 (EDA, 실험 매트릭스, 추가 SHAP 분석)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1062" y="219456"/>
            <a:ext cx="1011784" cy="292608"/>
          </a:xfrm>
          <a:prstGeom prst="roundRect">
            <a:avLst>
              <a:gd name="adj" fmla="val 50000"/>
            </a:avLst>
          </a:prstGeom>
          <a:solidFill>
            <a:srgbClr val="2A2E35"/>
          </a:solidFill>
          <a:ln/>
        </p:spPr>
      </p:sp>
      <p:sp>
        <p:nvSpPr>
          <p:cNvPr id="3" name="Text 1"/>
          <p:cNvSpPr/>
          <p:nvPr/>
        </p:nvSpPr>
        <p:spPr>
          <a:xfrm>
            <a:off x="7581062" y="219456"/>
            <a:ext cx="1011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제안 배경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8665997" y="219456"/>
            <a:ext cx="833704" cy="292608"/>
          </a:xfrm>
          <a:prstGeom prst="roundRect">
            <a:avLst>
              <a:gd name="adj" fmla="val 50000"/>
            </a:avLst>
          </a:prstGeom>
          <a:solidFill>
            <a:srgbClr val="F0F1F2"/>
          </a:solidFill>
          <a:ln/>
        </p:spPr>
      </p:sp>
      <p:sp>
        <p:nvSpPr>
          <p:cNvPr id="5" name="Text 3"/>
          <p:cNvSpPr/>
          <p:nvPr/>
        </p:nvSpPr>
        <p:spPr>
          <a:xfrm>
            <a:off x="8665997" y="219456"/>
            <a:ext cx="833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9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서비스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9572854" y="219456"/>
            <a:ext cx="1046531" cy="292608"/>
          </a:xfrm>
          <a:prstGeom prst="roundRect">
            <a:avLst>
              <a:gd name="adj" fmla="val 50000"/>
            </a:avLst>
          </a:prstGeom>
          <a:solidFill>
            <a:srgbClr val="F0F1F2"/>
          </a:solidFill>
          <a:ln/>
        </p:spPr>
      </p:sp>
      <p:sp>
        <p:nvSpPr>
          <p:cNvPr id="7" name="Text 5"/>
          <p:cNvSpPr/>
          <p:nvPr/>
        </p:nvSpPr>
        <p:spPr>
          <a:xfrm>
            <a:off x="9572854" y="219456"/>
            <a:ext cx="104653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9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검증·근거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0692536" y="219456"/>
            <a:ext cx="1011784" cy="292608"/>
          </a:xfrm>
          <a:prstGeom prst="roundRect">
            <a:avLst>
              <a:gd name="adj" fmla="val 50000"/>
            </a:avLst>
          </a:prstGeom>
          <a:solidFill>
            <a:srgbClr val="F0F1F2"/>
          </a:solidFill>
          <a:ln/>
        </p:spPr>
      </p:sp>
      <p:sp>
        <p:nvSpPr>
          <p:cNvPr id="9" name="Text 7"/>
          <p:cNvSpPr/>
          <p:nvPr/>
        </p:nvSpPr>
        <p:spPr>
          <a:xfrm>
            <a:off x="10692536" y="219456"/>
            <a:ext cx="1011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9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도입 계획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66928" y="402336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7A82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WHY NOW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713232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병목은 '누구를 먼저 볼 </a:t>
            </a:r>
            <a:r>
              <a:rPr lang="en-US" sz="3400" b="1" dirty="0" err="1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것인가</a:t>
            </a:r>
            <a:r>
              <a:rPr lang="en-US" sz="34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EB6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1783080"/>
            <a:ext cx="5029200" cy="3291840"/>
          </a:xfrm>
          <a:prstGeom prst="roundRect">
            <a:avLst>
              <a:gd name="adj" fmla="val 2500"/>
            </a:avLst>
          </a:prstGeom>
          <a:solidFill>
            <a:srgbClr val="F3F5F7"/>
          </a:solidFill>
          <a:ln w="12700">
            <a:solidFill>
              <a:srgbClr val="DCE1E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196596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7A82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AS-IS · 사후 대응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77240" y="230428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모두를 같은 방식으로 관리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22960" y="2852928"/>
            <a:ext cx="4572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 algn="l">
              <a:lnSpc>
                <a:spcPct val="1070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 학생을 동일한 강도로 </a:t>
            </a:r>
            <a:r>
              <a:rPr lang="en-US" sz="1350" dirty="0" err="1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</a:t>
            </a:r>
            <a:r>
              <a:rPr lang="en-US" sz="135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- 비효율</a:t>
            </a:r>
            <a:endParaRPr lang="en-US" sz="1350" dirty="0"/>
          </a:p>
          <a:p>
            <a:pPr marL="203200" indent="-203200" algn="l">
              <a:lnSpc>
                <a:spcPct val="1070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위험군이 다수(14%) 속에 묻혀 잘 안 보임</a:t>
            </a:r>
            <a:endParaRPr lang="en-US" sz="1350" dirty="0"/>
          </a:p>
          <a:p>
            <a:pPr marL="203200" indent="-203200" algn="l">
              <a:lnSpc>
                <a:spcPct val="1070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문제가 커진 뒤에야 뒤늦게 발견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 rot="5400000">
            <a:off x="5783580" y="3172968"/>
            <a:ext cx="457200" cy="457200"/>
          </a:xfrm>
          <a:prstGeom prst="triangle">
            <a:avLst/>
          </a:prstGeom>
          <a:solidFill>
            <a:srgbClr val="A87400"/>
          </a:solidFill>
          <a:ln/>
        </p:spPr>
      </p:sp>
      <p:sp>
        <p:nvSpPr>
          <p:cNvPr id="18" name="Shape 16"/>
          <p:cNvSpPr/>
          <p:nvPr/>
        </p:nvSpPr>
        <p:spPr>
          <a:xfrm>
            <a:off x="6446520" y="1783080"/>
            <a:ext cx="5193792" cy="3291840"/>
          </a:xfrm>
          <a:prstGeom prst="roundRect">
            <a:avLst>
              <a:gd name="adj" fmla="val 2500"/>
            </a:avLst>
          </a:prstGeom>
          <a:solidFill>
            <a:srgbClr val="E1F3ED"/>
          </a:solidFill>
          <a:ln/>
        </p:spPr>
      </p:sp>
      <p:sp>
        <p:nvSpPr>
          <p:cNvPr id="19" name="Text 17"/>
          <p:cNvSpPr/>
          <p:nvPr/>
        </p:nvSpPr>
        <p:spPr>
          <a:xfrm>
            <a:off x="6693408" y="1965960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09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TO-BE · 선제 연결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693408" y="230428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 신호로 볼 순서를 정함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739128" y="2852928"/>
            <a:ext cx="4754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 algn="l">
              <a:lnSpc>
                <a:spcPct val="1070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 신호 기준으로 우선순위를 부여</a:t>
            </a:r>
            <a:endParaRPr lang="en-US" sz="1350" dirty="0"/>
          </a:p>
          <a:p>
            <a:pPr marL="203200" indent="-203200" algn="l">
              <a:lnSpc>
                <a:spcPct val="1070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제한된 자원을 위험군에 먼저 집중</a:t>
            </a:r>
            <a:endParaRPr lang="en-US" sz="1350" dirty="0"/>
          </a:p>
          <a:p>
            <a:pPr marL="203200" indent="-203200" algn="l">
              <a:lnSpc>
                <a:spcPct val="1070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악화되기 전에 개입·연결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548640" y="5285232"/>
            <a:ext cx="11091672" cy="932688"/>
          </a:xfrm>
          <a:prstGeom prst="roundRect">
            <a:avLst>
              <a:gd name="adj" fmla="val 8824"/>
            </a:avLst>
          </a:prstGeom>
          <a:solidFill>
            <a:srgbClr val="1F2430"/>
          </a:solidFill>
          <a:ln/>
          <a:effectLst>
            <a:outerShdw blurRad="114300" dist="38100" dir="5400000" algn="bl" rotWithShape="0">
              <a:srgbClr val="9BA6B0">
                <a:alpha val="3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48640" y="5285232"/>
            <a:ext cx="1109167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dirty="0">
                <a:solidFill>
                  <a:srgbClr val="E8EB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보건 인력을 바로 늘릴 수 없다면,  </a:t>
            </a:r>
            <a:r>
              <a:rPr lang="en-US" sz="1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배분 방식을 먼저 바꿔야 합니다.</a:t>
            </a:r>
            <a:endParaRPr lang="en-US" sz="1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1062" y="219456"/>
            <a:ext cx="1011784" cy="292608"/>
          </a:xfrm>
          <a:prstGeom prst="roundRect">
            <a:avLst>
              <a:gd name="adj" fmla="val 50000"/>
            </a:avLst>
          </a:prstGeom>
          <a:solidFill>
            <a:srgbClr val="2A2E35"/>
          </a:solidFill>
          <a:ln/>
        </p:spPr>
      </p:sp>
      <p:sp>
        <p:nvSpPr>
          <p:cNvPr id="3" name="Text 1"/>
          <p:cNvSpPr/>
          <p:nvPr/>
        </p:nvSpPr>
        <p:spPr>
          <a:xfrm>
            <a:off x="7581062" y="219456"/>
            <a:ext cx="1011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제안 배경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8665997" y="219456"/>
            <a:ext cx="833704" cy="292608"/>
          </a:xfrm>
          <a:prstGeom prst="roundRect">
            <a:avLst>
              <a:gd name="adj" fmla="val 50000"/>
            </a:avLst>
          </a:prstGeom>
          <a:solidFill>
            <a:srgbClr val="F0F1F2"/>
          </a:solidFill>
          <a:ln/>
        </p:spPr>
      </p:sp>
      <p:sp>
        <p:nvSpPr>
          <p:cNvPr id="5" name="Text 3"/>
          <p:cNvSpPr/>
          <p:nvPr/>
        </p:nvSpPr>
        <p:spPr>
          <a:xfrm>
            <a:off x="8665997" y="219456"/>
            <a:ext cx="833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9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서비스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9572854" y="219456"/>
            <a:ext cx="1046531" cy="292608"/>
          </a:xfrm>
          <a:prstGeom prst="roundRect">
            <a:avLst>
              <a:gd name="adj" fmla="val 50000"/>
            </a:avLst>
          </a:prstGeom>
          <a:solidFill>
            <a:srgbClr val="F0F1F2"/>
          </a:solidFill>
          <a:ln/>
        </p:spPr>
      </p:sp>
      <p:sp>
        <p:nvSpPr>
          <p:cNvPr id="7" name="Text 5"/>
          <p:cNvSpPr/>
          <p:nvPr/>
        </p:nvSpPr>
        <p:spPr>
          <a:xfrm>
            <a:off x="9572854" y="219456"/>
            <a:ext cx="104653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9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검증·근거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0692536" y="219456"/>
            <a:ext cx="1011784" cy="292608"/>
          </a:xfrm>
          <a:prstGeom prst="roundRect">
            <a:avLst>
              <a:gd name="adj" fmla="val 50000"/>
            </a:avLst>
          </a:prstGeom>
          <a:solidFill>
            <a:srgbClr val="F0F1F2"/>
          </a:solidFill>
          <a:ln/>
        </p:spPr>
      </p:sp>
      <p:sp>
        <p:nvSpPr>
          <p:cNvPr id="9" name="Text 7"/>
          <p:cNvSpPr/>
          <p:nvPr/>
        </p:nvSpPr>
        <p:spPr>
          <a:xfrm>
            <a:off x="10692536" y="219456"/>
            <a:ext cx="1011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9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도입 계획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66928" y="402336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7A82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THE DATA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713232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 쌓이는 생활 </a:t>
            </a:r>
            <a:r>
              <a:rPr lang="en-US" sz="3400" b="1" dirty="0" err="1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데이터가</a:t>
            </a:r>
            <a:r>
              <a:rPr lang="en-US" sz="34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3400" b="1" dirty="0" err="1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출발점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EB6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14173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설문·웨어러블로 이미 수집되는 생활 신호 </a:t>
            </a:r>
            <a:r>
              <a:rPr lang="en-US" sz="140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새 인프라 없이 바로 활용 가능한 13개 변수를 3등급 분류의 </a:t>
            </a:r>
            <a:r>
              <a:rPr lang="en-US" sz="1400" dirty="0" err="1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입력으로</a:t>
            </a:r>
            <a:r>
              <a:rPr lang="en-US" sz="140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00" dirty="0" err="1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1874520"/>
            <a:ext cx="2688336" cy="786384"/>
          </a:xfrm>
          <a:prstGeom prst="roundRect">
            <a:avLst>
              <a:gd name="adj" fmla="val 10465"/>
            </a:avLst>
          </a:prstGeom>
          <a:solidFill>
            <a:srgbClr val="F3F5F7"/>
          </a:solidFill>
          <a:ln w="12700">
            <a:solidFill>
              <a:srgbClr val="DCE1E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9808" y="1947672"/>
            <a:ext cx="23225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690,088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758952" y="2331720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82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train 행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355848" y="1874520"/>
            <a:ext cx="2688336" cy="786384"/>
          </a:xfrm>
          <a:prstGeom prst="roundRect">
            <a:avLst>
              <a:gd name="adj" fmla="val 10465"/>
            </a:avLst>
          </a:prstGeom>
          <a:solidFill>
            <a:srgbClr val="F3F5F7"/>
          </a:solidFill>
          <a:ln w="12700">
            <a:solidFill>
              <a:srgbClr val="DCE1E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57016" y="1947672"/>
            <a:ext cx="23225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295,753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3566160" y="2331720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82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test 행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163056" y="1874520"/>
            <a:ext cx="2688336" cy="786384"/>
          </a:xfrm>
          <a:prstGeom prst="roundRect">
            <a:avLst>
              <a:gd name="adj" fmla="val 10465"/>
            </a:avLst>
          </a:prstGeom>
          <a:solidFill>
            <a:srgbClr val="F3F5F7"/>
          </a:solidFill>
          <a:ln w="12700">
            <a:solidFill>
              <a:srgbClr val="DCE1E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64224" y="1947672"/>
            <a:ext cx="23225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6373368" y="2331720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82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피처 (수치 7 · 범주 6)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970264" y="1874520"/>
            <a:ext cx="2688336" cy="786384"/>
          </a:xfrm>
          <a:prstGeom prst="roundRect">
            <a:avLst>
              <a:gd name="adj" fmla="val 10465"/>
            </a:avLst>
          </a:prstGeom>
          <a:solidFill>
            <a:srgbClr val="F3F5F7"/>
          </a:solidFill>
          <a:ln w="12700">
            <a:solidFill>
              <a:srgbClr val="DCE1E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71432" y="1947672"/>
            <a:ext cx="23225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9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9180576" y="2331720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82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건강 등급 (fit·at-risk·unhealthy)</a:t>
            </a:r>
            <a:endParaRPr lang="en-US" sz="105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6423738"/>
              </p:ext>
            </p:extLst>
          </p:nvPr>
        </p:nvGraphicFramePr>
        <p:xfrm>
          <a:off x="548640" y="2898649"/>
          <a:ext cx="11091672" cy="3008376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908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148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변수명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E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유형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E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설명 · 범위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E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결측률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E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2A2E3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stress_level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A874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범주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E434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스트레스 (low·med·high)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D55E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12.0%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2A2E3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sleep_duration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9E7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수치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E434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수면 시간  3~10h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D55E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11.0%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2A2E3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calorie_expenditure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9E7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수치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E434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칼로리 소모  1200~3580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D55E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8.0%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2A2E3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sleep_quality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A874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범주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E434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수면 질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D55E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8.0%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2A2E3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water_intake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9E7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수치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E434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물 섭취  0.5~4.7L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7A828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6.0%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2A2E3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physical_activity_level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A874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범주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E434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활동 수준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7A828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5.0%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2A2E3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smoking_alcohol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A874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범주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E434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흡연·음주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7A828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4.0%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2A2E3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gender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A874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범주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E434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성별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7A828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3.0%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2A2E3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bmi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9E7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수치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E434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체질량지수  16~35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7A828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2.0%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2A2E3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step_count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9E7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수치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E434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걸음 수  1k~15k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7A828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2.0%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2A2E3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heart_rate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9E7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수치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E434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심박수  50~108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7A828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1.0%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2A2E3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exercise_duration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9E7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수치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E434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운동 시간  0~100분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7A828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1.0%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2A2E3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diet_type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A874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범주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E434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식단 유형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7A828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1.0%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27" name="Text 24"/>
          <p:cNvSpPr/>
          <p:nvPr/>
        </p:nvSpPr>
        <p:spPr>
          <a:xfrm>
            <a:off x="548640" y="605332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A82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결측률 8% 이상 4개(stress·sleep·calorie·sleep_quality)는 대치 전략의 핵심 대상 — 결측을 전제로 설계합니다.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1062" y="219456"/>
            <a:ext cx="1011784" cy="292608"/>
          </a:xfrm>
          <a:prstGeom prst="roundRect">
            <a:avLst>
              <a:gd name="adj" fmla="val 50000"/>
            </a:avLst>
          </a:prstGeom>
          <a:solidFill>
            <a:srgbClr val="2A2E35"/>
          </a:solidFill>
          <a:ln/>
        </p:spPr>
      </p:sp>
      <p:sp>
        <p:nvSpPr>
          <p:cNvPr id="3" name="Text 1"/>
          <p:cNvSpPr/>
          <p:nvPr/>
        </p:nvSpPr>
        <p:spPr>
          <a:xfrm>
            <a:off x="7581062" y="219456"/>
            <a:ext cx="1011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제안 배경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8665997" y="219456"/>
            <a:ext cx="833704" cy="292608"/>
          </a:xfrm>
          <a:prstGeom prst="roundRect">
            <a:avLst>
              <a:gd name="adj" fmla="val 50000"/>
            </a:avLst>
          </a:prstGeom>
          <a:solidFill>
            <a:srgbClr val="F0F1F2"/>
          </a:solidFill>
          <a:ln/>
        </p:spPr>
      </p:sp>
      <p:sp>
        <p:nvSpPr>
          <p:cNvPr id="5" name="Text 3"/>
          <p:cNvSpPr/>
          <p:nvPr/>
        </p:nvSpPr>
        <p:spPr>
          <a:xfrm>
            <a:off x="8665997" y="219456"/>
            <a:ext cx="833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9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서비스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9572854" y="219456"/>
            <a:ext cx="1046531" cy="292608"/>
          </a:xfrm>
          <a:prstGeom prst="roundRect">
            <a:avLst>
              <a:gd name="adj" fmla="val 50000"/>
            </a:avLst>
          </a:prstGeom>
          <a:solidFill>
            <a:srgbClr val="F0F1F2"/>
          </a:solidFill>
          <a:ln/>
        </p:spPr>
      </p:sp>
      <p:sp>
        <p:nvSpPr>
          <p:cNvPr id="7" name="Text 5"/>
          <p:cNvSpPr/>
          <p:nvPr/>
        </p:nvSpPr>
        <p:spPr>
          <a:xfrm>
            <a:off x="9572854" y="219456"/>
            <a:ext cx="104653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9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검증·근거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0692536" y="219456"/>
            <a:ext cx="1011784" cy="292608"/>
          </a:xfrm>
          <a:prstGeom prst="roundRect">
            <a:avLst>
              <a:gd name="adj" fmla="val 50000"/>
            </a:avLst>
          </a:prstGeom>
          <a:solidFill>
            <a:srgbClr val="F0F1F2"/>
          </a:solidFill>
          <a:ln/>
        </p:spPr>
      </p:sp>
      <p:sp>
        <p:nvSpPr>
          <p:cNvPr id="9" name="Text 7"/>
          <p:cNvSpPr/>
          <p:nvPr/>
        </p:nvSpPr>
        <p:spPr>
          <a:xfrm>
            <a:off x="10692536" y="219456"/>
            <a:ext cx="1011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9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도입 계획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66928" y="402336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7A82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PROBLEM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713232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 err="1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그래서</a:t>
            </a:r>
            <a:r>
              <a:rPr lang="en-US" sz="34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3400" b="1" dirty="0" err="1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</a:t>
            </a:r>
            <a:r>
              <a:rPr lang="en-US" sz="34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3400" b="1" dirty="0" err="1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만들어야</a:t>
            </a:r>
            <a:r>
              <a:rPr lang="en-US" sz="34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3400" b="1" dirty="0" err="1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하는가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EB6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58368" y="1756325"/>
            <a:ext cx="749808" cy="749808"/>
          </a:xfrm>
          <a:prstGeom prst="ellipse">
            <a:avLst/>
          </a:prstGeom>
          <a:solidFill>
            <a:srgbClr val="7A828C"/>
          </a:solidFill>
          <a:ln/>
        </p:spPr>
      </p:sp>
      <p:sp>
        <p:nvSpPr>
          <p:cNvPr id="14" name="Text 12"/>
          <p:cNvSpPr/>
          <p:nvPr/>
        </p:nvSpPr>
        <p:spPr>
          <a:xfrm>
            <a:off x="658368" y="1756325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1645920" y="1701461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7A82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상황 (Situation)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645920" y="2085509"/>
            <a:ext cx="9875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대학 보건·복지 부서는 생활습관 데이터로 학생 </a:t>
            </a:r>
            <a:r>
              <a:rPr lang="en-US" sz="1550" dirty="0" err="1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건강을</a:t>
            </a:r>
            <a:r>
              <a:rPr lang="en-US" sz="155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550" dirty="0" err="1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관리한다</a:t>
            </a:r>
            <a:r>
              <a:rPr lang="en-US" sz="155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658368" y="2926757"/>
            <a:ext cx="749808" cy="749808"/>
          </a:xfrm>
          <a:prstGeom prst="ellipse">
            <a:avLst/>
          </a:prstGeom>
          <a:solidFill>
            <a:srgbClr val="D55E00"/>
          </a:solidFill>
          <a:ln/>
        </p:spPr>
      </p:sp>
      <p:sp>
        <p:nvSpPr>
          <p:cNvPr id="18" name="Text 16"/>
          <p:cNvSpPr/>
          <p:nvPr/>
        </p:nvSpPr>
        <p:spPr>
          <a:xfrm>
            <a:off x="658368" y="2926757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1645920" y="2871893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55E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 (Complication)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645920" y="3255941"/>
            <a:ext cx="9875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학생 수 대비 보건 인력·상담 자원은 제한적 — 위험군은 소수(14%)인데 놓치면 건강 악화·중도이탈로 이어진다.</a:t>
            </a:r>
            <a:endParaRPr lang="en-US" sz="1550" dirty="0"/>
          </a:p>
        </p:txBody>
      </p:sp>
      <p:sp>
        <p:nvSpPr>
          <p:cNvPr id="21" name="Shape 19"/>
          <p:cNvSpPr/>
          <p:nvPr/>
        </p:nvSpPr>
        <p:spPr>
          <a:xfrm>
            <a:off x="658368" y="4097189"/>
            <a:ext cx="749808" cy="749808"/>
          </a:xfrm>
          <a:prstGeom prst="ellipse">
            <a:avLst/>
          </a:prstGeom>
          <a:solidFill>
            <a:srgbClr val="E69F00"/>
          </a:solidFill>
          <a:ln/>
        </p:spPr>
      </p:sp>
      <p:sp>
        <p:nvSpPr>
          <p:cNvPr id="22" name="Text 20"/>
          <p:cNvSpPr/>
          <p:nvPr/>
        </p:nvSpPr>
        <p:spPr>
          <a:xfrm>
            <a:off x="658368" y="4097189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1645920" y="4042325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A874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 (Question)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645920" y="4426373"/>
            <a:ext cx="9875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제한된 자원으로 위험 학생을 조기 식별하고 우선 개입하는 체계를 어떻게 만들 것인가?</a:t>
            </a:r>
            <a:endParaRPr lang="en-US" sz="1550" dirty="0"/>
          </a:p>
        </p:txBody>
      </p:sp>
      <p:sp>
        <p:nvSpPr>
          <p:cNvPr id="25" name="Shape 23"/>
          <p:cNvSpPr/>
          <p:nvPr/>
        </p:nvSpPr>
        <p:spPr>
          <a:xfrm>
            <a:off x="502920" y="5139605"/>
            <a:ext cx="11155680" cy="1097280"/>
          </a:xfrm>
          <a:prstGeom prst="roundRect">
            <a:avLst>
              <a:gd name="adj" fmla="val 7500"/>
            </a:avLst>
          </a:prstGeom>
          <a:solidFill>
            <a:srgbClr val="E1F3ED"/>
          </a:solidFill>
          <a:ln/>
        </p:spPr>
      </p:sp>
      <p:sp>
        <p:nvSpPr>
          <p:cNvPr id="26" name="Shape 24"/>
          <p:cNvSpPr/>
          <p:nvPr/>
        </p:nvSpPr>
        <p:spPr>
          <a:xfrm>
            <a:off x="658368" y="5267621"/>
            <a:ext cx="749808" cy="749808"/>
          </a:xfrm>
          <a:prstGeom prst="ellipse">
            <a:avLst/>
          </a:prstGeom>
          <a:solidFill>
            <a:srgbClr val="009E73"/>
          </a:solidFill>
          <a:ln/>
        </p:spPr>
      </p:sp>
      <p:sp>
        <p:nvSpPr>
          <p:cNvPr id="27" name="Text 25"/>
          <p:cNvSpPr/>
          <p:nvPr/>
        </p:nvSpPr>
        <p:spPr>
          <a:xfrm>
            <a:off x="658368" y="5267621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1645920" y="5212757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9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 (Answer)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645920" y="5596805"/>
            <a:ext cx="9875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기반 학생 건강관리 플랫폼 “건강신호등” — Balanced Accuracy 0.95 분류기로 3등급을 자동 선별한다.</a:t>
            </a:r>
            <a:endParaRPr lang="en-US" sz="1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1062" y="219456"/>
            <a:ext cx="1011784" cy="292608"/>
          </a:xfrm>
          <a:prstGeom prst="roundRect">
            <a:avLst>
              <a:gd name="adj" fmla="val 50000"/>
            </a:avLst>
          </a:prstGeom>
          <a:solidFill>
            <a:srgbClr val="2A2E35"/>
          </a:solidFill>
          <a:ln/>
        </p:spPr>
      </p:sp>
      <p:sp>
        <p:nvSpPr>
          <p:cNvPr id="3" name="Text 1"/>
          <p:cNvSpPr/>
          <p:nvPr/>
        </p:nvSpPr>
        <p:spPr>
          <a:xfrm>
            <a:off x="7581062" y="219456"/>
            <a:ext cx="1011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제안 배경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8665997" y="219456"/>
            <a:ext cx="833704" cy="292608"/>
          </a:xfrm>
          <a:prstGeom prst="roundRect">
            <a:avLst>
              <a:gd name="adj" fmla="val 50000"/>
            </a:avLst>
          </a:prstGeom>
          <a:solidFill>
            <a:srgbClr val="F0F1F2"/>
          </a:solidFill>
          <a:ln/>
        </p:spPr>
      </p:sp>
      <p:sp>
        <p:nvSpPr>
          <p:cNvPr id="5" name="Text 3"/>
          <p:cNvSpPr/>
          <p:nvPr/>
        </p:nvSpPr>
        <p:spPr>
          <a:xfrm>
            <a:off x="8665997" y="219456"/>
            <a:ext cx="833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9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서비스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9572854" y="219456"/>
            <a:ext cx="1046531" cy="292608"/>
          </a:xfrm>
          <a:prstGeom prst="roundRect">
            <a:avLst>
              <a:gd name="adj" fmla="val 50000"/>
            </a:avLst>
          </a:prstGeom>
          <a:solidFill>
            <a:srgbClr val="F0F1F2"/>
          </a:solidFill>
          <a:ln/>
        </p:spPr>
      </p:sp>
      <p:sp>
        <p:nvSpPr>
          <p:cNvPr id="7" name="Text 5"/>
          <p:cNvSpPr/>
          <p:nvPr/>
        </p:nvSpPr>
        <p:spPr>
          <a:xfrm>
            <a:off x="9572854" y="219456"/>
            <a:ext cx="104653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9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검증·근거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0692536" y="219456"/>
            <a:ext cx="1011784" cy="292608"/>
          </a:xfrm>
          <a:prstGeom prst="roundRect">
            <a:avLst>
              <a:gd name="adj" fmla="val 50000"/>
            </a:avLst>
          </a:prstGeom>
          <a:solidFill>
            <a:srgbClr val="F0F1F2"/>
          </a:solidFill>
          <a:ln/>
        </p:spPr>
      </p:sp>
      <p:sp>
        <p:nvSpPr>
          <p:cNvPr id="9" name="Text 7"/>
          <p:cNvSpPr/>
          <p:nvPr/>
        </p:nvSpPr>
        <p:spPr>
          <a:xfrm>
            <a:off x="10692536" y="219456"/>
            <a:ext cx="1011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9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도입 계획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66928" y="402336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7A82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WHO IT SERVES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713232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 err="1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</a:t>
            </a:r>
            <a:r>
              <a:rPr lang="ko-KR" altLang="en-US" sz="34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 </a:t>
            </a:r>
            <a:r>
              <a:rPr lang="en-US" sz="3400" b="1" dirty="0" err="1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서로</a:t>
            </a:r>
            <a:r>
              <a:rPr lang="en-US" sz="34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3400" b="1" dirty="0" err="1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다른</a:t>
            </a:r>
            <a:r>
              <a:rPr lang="en-US" sz="34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3400" b="1" dirty="0" err="1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가치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EB6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2075180"/>
            <a:ext cx="3566160" cy="361188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DCE1E7"/>
            </a:solidFill>
            <a:prstDash val="solid"/>
          </a:ln>
          <a:effectLst>
            <a:outerShdw blurRad="114300" dist="38100" dir="5400000" algn="bl" rotWithShape="0">
              <a:srgbClr val="9BA6B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41248" y="2376932"/>
            <a:ext cx="566928" cy="566928"/>
          </a:xfrm>
          <a:prstGeom prst="ellipse">
            <a:avLst/>
          </a:prstGeom>
          <a:solidFill>
            <a:srgbClr val="2A2E35"/>
          </a:solidFill>
          <a:ln/>
        </p:spPr>
      </p:sp>
      <p:sp>
        <p:nvSpPr>
          <p:cNvPr id="15" name="Text 13"/>
          <p:cNvSpPr/>
          <p:nvPr/>
        </p:nvSpPr>
        <p:spPr>
          <a:xfrm>
            <a:off x="841248" y="23769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554480" y="2431796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학생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859536" y="3145028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i="1" dirty="0">
                <a:solidFill>
                  <a:srgbClr val="009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상태를 쉽게 이해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859536" y="3757676"/>
            <a:ext cx="146304" cy="146304"/>
          </a:xfrm>
          <a:prstGeom prst="ellipse">
            <a:avLst/>
          </a:prstGeom>
          <a:solidFill>
            <a:srgbClr val="2A2E35"/>
          </a:solidFill>
          <a:ln/>
        </p:spPr>
      </p:sp>
      <p:sp>
        <p:nvSpPr>
          <p:cNvPr id="19" name="Text 17"/>
          <p:cNvSpPr/>
          <p:nvPr/>
        </p:nvSpPr>
        <p:spPr>
          <a:xfrm>
            <a:off x="1170432" y="3693668"/>
            <a:ext cx="27980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3분 체크인으로 내 건강신호 확인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59536" y="4324604"/>
            <a:ext cx="146304" cy="146304"/>
          </a:xfrm>
          <a:prstGeom prst="ellipse">
            <a:avLst/>
          </a:prstGeom>
          <a:solidFill>
            <a:srgbClr val="2A2E35"/>
          </a:solidFill>
          <a:ln/>
        </p:spPr>
      </p:sp>
      <p:sp>
        <p:nvSpPr>
          <p:cNvPr id="21" name="Text 19"/>
          <p:cNvSpPr/>
          <p:nvPr/>
        </p:nvSpPr>
        <p:spPr>
          <a:xfrm>
            <a:off x="1170432" y="4260596"/>
            <a:ext cx="27980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쉬운 언어의 맞춤 피드백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59536" y="4891532"/>
            <a:ext cx="146304" cy="146304"/>
          </a:xfrm>
          <a:prstGeom prst="ellipse">
            <a:avLst/>
          </a:prstGeom>
          <a:solidFill>
            <a:srgbClr val="2A2E35"/>
          </a:solidFill>
          <a:ln/>
        </p:spPr>
      </p:sp>
      <p:sp>
        <p:nvSpPr>
          <p:cNvPr id="23" name="Text 21"/>
          <p:cNvSpPr/>
          <p:nvPr/>
        </p:nvSpPr>
        <p:spPr>
          <a:xfrm>
            <a:off x="1170432" y="4827524"/>
            <a:ext cx="27980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다음에 할 행동을 안내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398264" y="2075180"/>
            <a:ext cx="3566160" cy="361188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DCE1E7"/>
            </a:solidFill>
            <a:prstDash val="solid"/>
          </a:ln>
          <a:effectLst>
            <a:outerShdw blurRad="114300" dist="38100" dir="5400000" algn="bl" rotWithShape="0">
              <a:srgbClr val="9BA6B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90872" y="2376932"/>
            <a:ext cx="566928" cy="566928"/>
          </a:xfrm>
          <a:prstGeom prst="ellipse">
            <a:avLst/>
          </a:prstGeom>
          <a:solidFill>
            <a:srgbClr val="2A2E35"/>
          </a:solidFill>
          <a:ln/>
        </p:spPr>
      </p:sp>
      <p:sp>
        <p:nvSpPr>
          <p:cNvPr id="26" name="Text 24"/>
          <p:cNvSpPr/>
          <p:nvPr/>
        </p:nvSpPr>
        <p:spPr>
          <a:xfrm>
            <a:off x="4690872" y="23769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5404104" y="2431796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상담사</a:t>
            </a:r>
            <a:endParaRPr lang="en-US" sz="1900" dirty="0"/>
          </a:p>
        </p:txBody>
      </p:sp>
      <p:sp>
        <p:nvSpPr>
          <p:cNvPr id="28" name="Text 26"/>
          <p:cNvSpPr/>
          <p:nvPr/>
        </p:nvSpPr>
        <p:spPr>
          <a:xfrm>
            <a:off x="4709160" y="3145028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i="1" dirty="0">
                <a:solidFill>
                  <a:srgbClr val="009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우선순위를 확신 있게</a:t>
            </a:r>
            <a:endParaRPr lang="en-US" sz="1450" dirty="0"/>
          </a:p>
        </p:txBody>
      </p:sp>
      <p:sp>
        <p:nvSpPr>
          <p:cNvPr id="29" name="Shape 27"/>
          <p:cNvSpPr/>
          <p:nvPr/>
        </p:nvSpPr>
        <p:spPr>
          <a:xfrm>
            <a:off x="4709160" y="3757676"/>
            <a:ext cx="146304" cy="146304"/>
          </a:xfrm>
          <a:prstGeom prst="ellipse">
            <a:avLst/>
          </a:prstGeom>
          <a:solidFill>
            <a:srgbClr val="2A2E35"/>
          </a:solidFill>
          <a:ln/>
        </p:spPr>
      </p:sp>
      <p:sp>
        <p:nvSpPr>
          <p:cNvPr id="30" name="Text 28"/>
          <p:cNvSpPr/>
          <p:nvPr/>
        </p:nvSpPr>
        <p:spPr>
          <a:xfrm>
            <a:off x="5020056" y="3693668"/>
            <a:ext cx="27980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명단이 아닌 우선 상담 큐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709160" y="4324604"/>
            <a:ext cx="146304" cy="146304"/>
          </a:xfrm>
          <a:prstGeom prst="ellipse">
            <a:avLst/>
          </a:prstGeom>
          <a:solidFill>
            <a:srgbClr val="2A2E35"/>
          </a:solidFill>
          <a:ln/>
        </p:spPr>
      </p:sp>
      <p:sp>
        <p:nvSpPr>
          <p:cNvPr id="32" name="Text 30"/>
          <p:cNvSpPr/>
          <p:nvPr/>
        </p:nvSpPr>
        <p:spPr>
          <a:xfrm>
            <a:off x="5020056" y="4260596"/>
            <a:ext cx="27980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학생별 위험 근거(SHAP) 제공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709160" y="4891532"/>
            <a:ext cx="146304" cy="146304"/>
          </a:xfrm>
          <a:prstGeom prst="ellipse">
            <a:avLst/>
          </a:prstGeom>
          <a:solidFill>
            <a:srgbClr val="2A2E35"/>
          </a:solidFill>
          <a:ln/>
        </p:spPr>
      </p:sp>
      <p:sp>
        <p:nvSpPr>
          <p:cNvPr id="34" name="Text 32"/>
          <p:cNvSpPr/>
          <p:nvPr/>
        </p:nvSpPr>
        <p:spPr>
          <a:xfrm>
            <a:off x="5020056" y="4827524"/>
            <a:ext cx="27980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개입 이력·변화 추적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8247888" y="2075180"/>
            <a:ext cx="3566160" cy="361188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DCE1E7"/>
            </a:solidFill>
            <a:prstDash val="solid"/>
          </a:ln>
          <a:effectLst>
            <a:outerShdw blurRad="114300" dist="38100" dir="5400000" algn="bl" rotWithShape="0">
              <a:srgbClr val="9BA6B0">
                <a:alpha val="3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8540496" y="2376932"/>
            <a:ext cx="566928" cy="566928"/>
          </a:xfrm>
          <a:prstGeom prst="ellipse">
            <a:avLst/>
          </a:prstGeom>
          <a:solidFill>
            <a:srgbClr val="2A2E35"/>
          </a:solidFill>
          <a:ln/>
        </p:spPr>
      </p:sp>
      <p:sp>
        <p:nvSpPr>
          <p:cNvPr id="37" name="Text 35"/>
          <p:cNvSpPr/>
          <p:nvPr/>
        </p:nvSpPr>
        <p:spPr>
          <a:xfrm>
            <a:off x="8540496" y="23769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9253728" y="2431796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관리자</a:t>
            </a:r>
            <a:endParaRPr lang="en-US" sz="1900" dirty="0"/>
          </a:p>
        </p:txBody>
      </p:sp>
      <p:sp>
        <p:nvSpPr>
          <p:cNvPr id="39" name="Text 37"/>
          <p:cNvSpPr/>
          <p:nvPr/>
        </p:nvSpPr>
        <p:spPr>
          <a:xfrm>
            <a:off x="8558784" y="3145028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i="1" dirty="0">
                <a:solidFill>
                  <a:srgbClr val="009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자원을 효과적으로 배분</a:t>
            </a:r>
            <a:endParaRPr lang="en-US" sz="1450" dirty="0"/>
          </a:p>
        </p:txBody>
      </p:sp>
      <p:sp>
        <p:nvSpPr>
          <p:cNvPr id="40" name="Shape 38"/>
          <p:cNvSpPr/>
          <p:nvPr/>
        </p:nvSpPr>
        <p:spPr>
          <a:xfrm>
            <a:off x="8558784" y="3757676"/>
            <a:ext cx="146304" cy="146304"/>
          </a:xfrm>
          <a:prstGeom prst="ellipse">
            <a:avLst/>
          </a:prstGeom>
          <a:solidFill>
            <a:srgbClr val="2A2E35"/>
          </a:solidFill>
          <a:ln/>
        </p:spPr>
      </p:sp>
      <p:sp>
        <p:nvSpPr>
          <p:cNvPr id="41" name="Text 39"/>
          <p:cNvSpPr/>
          <p:nvPr/>
        </p:nvSpPr>
        <p:spPr>
          <a:xfrm>
            <a:off x="8869680" y="3693668"/>
            <a:ext cx="27980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위험군·참여·개선 현황 파악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8558784" y="4324604"/>
            <a:ext cx="146304" cy="146304"/>
          </a:xfrm>
          <a:prstGeom prst="ellipse">
            <a:avLst/>
          </a:prstGeom>
          <a:solidFill>
            <a:srgbClr val="2A2E35"/>
          </a:solidFill>
          <a:ln/>
        </p:spPr>
      </p:sp>
      <p:sp>
        <p:nvSpPr>
          <p:cNvPr id="43" name="Text 41"/>
          <p:cNvSpPr/>
          <p:nvPr/>
        </p:nvSpPr>
        <p:spPr>
          <a:xfrm>
            <a:off x="8869680" y="4260596"/>
            <a:ext cx="27980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인력·프로그램 배분 근거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8558784" y="4891532"/>
            <a:ext cx="146304" cy="146304"/>
          </a:xfrm>
          <a:prstGeom prst="ellipse">
            <a:avLst/>
          </a:prstGeom>
          <a:solidFill>
            <a:srgbClr val="2A2E35"/>
          </a:solidFill>
          <a:ln/>
        </p:spPr>
      </p:sp>
      <p:sp>
        <p:nvSpPr>
          <p:cNvPr id="45" name="Text 43"/>
          <p:cNvSpPr/>
          <p:nvPr/>
        </p:nvSpPr>
        <p:spPr>
          <a:xfrm>
            <a:off x="8869680" y="4827524"/>
            <a:ext cx="27980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정책 리포트 자동화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1062" y="219456"/>
            <a:ext cx="1011784" cy="292608"/>
          </a:xfrm>
          <a:prstGeom prst="roundRect">
            <a:avLst>
              <a:gd name="adj" fmla="val 50000"/>
            </a:avLst>
          </a:prstGeom>
          <a:solidFill>
            <a:srgbClr val="3B4354"/>
          </a:solidFill>
          <a:ln/>
        </p:spPr>
      </p:sp>
      <p:sp>
        <p:nvSpPr>
          <p:cNvPr id="3" name="Text 1"/>
          <p:cNvSpPr/>
          <p:nvPr/>
        </p:nvSpPr>
        <p:spPr>
          <a:xfrm>
            <a:off x="7581062" y="219456"/>
            <a:ext cx="1011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AA3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제안 배경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8665997" y="219456"/>
            <a:ext cx="833704" cy="292608"/>
          </a:xfrm>
          <a:prstGeom prst="roundRect">
            <a:avLst>
              <a:gd name="adj" fmla="val 50000"/>
            </a:avLst>
          </a:prstGeom>
          <a:solidFill>
            <a:srgbClr val="E8EBF0"/>
          </a:solidFill>
          <a:ln/>
        </p:spPr>
      </p:sp>
      <p:sp>
        <p:nvSpPr>
          <p:cNvPr id="5" name="Text 3"/>
          <p:cNvSpPr/>
          <p:nvPr/>
        </p:nvSpPr>
        <p:spPr>
          <a:xfrm>
            <a:off x="8665997" y="219456"/>
            <a:ext cx="833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50" b="1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</a:rPr>
              <a:t>2. </a:t>
            </a:r>
            <a:r>
              <a:rPr lang="en-US" sz="950" b="1" dirty="0" err="1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</a:rPr>
              <a:t>서비스</a:t>
            </a:r>
            <a:endParaRPr lang="en-US" sz="950" b="1" dirty="0">
              <a:solidFill>
                <a:srgbClr val="1F2430"/>
              </a:solidFill>
              <a:latin typeface="Malgun Gothic" pitchFamily="34" charset="0"/>
              <a:ea typeface="Malgun Gothic" pitchFamily="34" charset="-122"/>
            </a:endParaRPr>
          </a:p>
        </p:txBody>
      </p:sp>
      <p:sp>
        <p:nvSpPr>
          <p:cNvPr id="6" name="Shape 4"/>
          <p:cNvSpPr/>
          <p:nvPr/>
        </p:nvSpPr>
        <p:spPr>
          <a:xfrm>
            <a:off x="9572854" y="219456"/>
            <a:ext cx="1046531" cy="292608"/>
          </a:xfrm>
          <a:prstGeom prst="roundRect">
            <a:avLst>
              <a:gd name="adj" fmla="val 50000"/>
            </a:avLst>
          </a:prstGeom>
          <a:solidFill>
            <a:srgbClr val="3B4354"/>
          </a:solidFill>
          <a:ln/>
        </p:spPr>
      </p:sp>
      <p:sp>
        <p:nvSpPr>
          <p:cNvPr id="7" name="Text 5"/>
          <p:cNvSpPr/>
          <p:nvPr/>
        </p:nvSpPr>
        <p:spPr>
          <a:xfrm>
            <a:off x="9572854" y="219456"/>
            <a:ext cx="104653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AA3B0"/>
                </a:solidFill>
                <a:latin typeface="Malgun Gothic" pitchFamily="34" charset="0"/>
                <a:ea typeface="Malgun Gothic" pitchFamily="34" charset="-122"/>
              </a:rPr>
              <a:t>3. </a:t>
            </a:r>
            <a:r>
              <a:rPr lang="en-US" sz="950" dirty="0" err="1">
                <a:solidFill>
                  <a:srgbClr val="9AA3B0"/>
                </a:solidFill>
                <a:latin typeface="Malgun Gothic" pitchFamily="34" charset="0"/>
                <a:ea typeface="Malgun Gothic" pitchFamily="34" charset="-122"/>
              </a:rPr>
              <a:t>검증·근거</a:t>
            </a:r>
            <a:endParaRPr lang="en-US" sz="950" dirty="0">
              <a:solidFill>
                <a:srgbClr val="9AA3B0"/>
              </a:solidFill>
              <a:latin typeface="Malgun Gothic" pitchFamily="34" charset="0"/>
              <a:ea typeface="Malgun Gothic" pitchFamily="34" charset="-122"/>
            </a:endParaRPr>
          </a:p>
        </p:txBody>
      </p:sp>
      <p:sp>
        <p:nvSpPr>
          <p:cNvPr id="8" name="Shape 6"/>
          <p:cNvSpPr/>
          <p:nvPr/>
        </p:nvSpPr>
        <p:spPr>
          <a:xfrm>
            <a:off x="10692536" y="219456"/>
            <a:ext cx="1011784" cy="292608"/>
          </a:xfrm>
          <a:prstGeom prst="roundRect">
            <a:avLst>
              <a:gd name="adj" fmla="val 50000"/>
            </a:avLst>
          </a:prstGeom>
          <a:solidFill>
            <a:srgbClr val="3B4354"/>
          </a:solidFill>
          <a:ln/>
        </p:spPr>
      </p:sp>
      <p:sp>
        <p:nvSpPr>
          <p:cNvPr id="9" name="Text 7"/>
          <p:cNvSpPr/>
          <p:nvPr/>
        </p:nvSpPr>
        <p:spPr>
          <a:xfrm>
            <a:off x="10692536" y="219456"/>
            <a:ext cx="1011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AA3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도입 계획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9459468" y="1527048"/>
            <a:ext cx="1472184" cy="4306824"/>
          </a:xfrm>
          <a:prstGeom prst="roundRect">
            <a:avLst>
              <a:gd name="adj" fmla="val 11180"/>
            </a:avLst>
          </a:prstGeom>
          <a:solidFill>
            <a:srgbClr val="2B313E"/>
          </a:solidFill>
          <a:ln w="15875">
            <a:solidFill>
              <a:srgbClr val="3B435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715500" y="1783080"/>
            <a:ext cx="960120" cy="960120"/>
          </a:xfrm>
          <a:prstGeom prst="ellipse">
            <a:avLst/>
          </a:prstGeom>
          <a:solidFill>
            <a:srgbClr val="D55E00"/>
          </a:solidFill>
          <a:ln/>
        </p:spPr>
      </p:sp>
      <p:sp>
        <p:nvSpPr>
          <p:cNvPr id="12" name="Shape 10"/>
          <p:cNvSpPr/>
          <p:nvPr/>
        </p:nvSpPr>
        <p:spPr>
          <a:xfrm>
            <a:off x="9715500" y="3200400"/>
            <a:ext cx="960120" cy="960120"/>
          </a:xfrm>
          <a:prstGeom prst="ellipse">
            <a:avLst/>
          </a:prstGeom>
          <a:solidFill>
            <a:srgbClr val="E69F00"/>
          </a:solidFill>
          <a:ln/>
        </p:spPr>
      </p:sp>
      <p:sp>
        <p:nvSpPr>
          <p:cNvPr id="13" name="Shape 11"/>
          <p:cNvSpPr/>
          <p:nvPr/>
        </p:nvSpPr>
        <p:spPr>
          <a:xfrm>
            <a:off x="9715500" y="4617720"/>
            <a:ext cx="960120" cy="960120"/>
          </a:xfrm>
          <a:prstGeom prst="ellipse">
            <a:avLst/>
          </a:prstGeom>
          <a:solidFill>
            <a:srgbClr val="009E73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23317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500" b="1" kern="0" spc="400" dirty="0">
                <a:solidFill>
                  <a:srgbClr val="E69F00"/>
                </a:solidFill>
                <a:latin typeface="Malgun Gothic" pitchFamily="34" charset="0"/>
                <a:ea typeface="Malgun Gothic" pitchFamily="34" charset="-122"/>
              </a:rPr>
              <a:t>Service</a:t>
            </a:r>
            <a:endParaRPr lang="en-US" sz="1500" b="1" kern="0" spc="400" dirty="0">
              <a:solidFill>
                <a:srgbClr val="E69F00"/>
              </a:solidFill>
              <a:latin typeface="Malgun Gothic" pitchFamily="34" charset="0"/>
              <a:ea typeface="Malgun Gothic" pitchFamily="34" charset="-122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95528" y="274320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3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건강신호등 서비스 앱</a:t>
            </a:r>
            <a:endParaRPr lang="en-US" sz="3800" dirty="0"/>
          </a:p>
        </p:txBody>
      </p:sp>
      <p:sp>
        <p:nvSpPr>
          <p:cNvPr id="16" name="Text 14"/>
          <p:cNvSpPr/>
          <p:nvPr/>
        </p:nvSpPr>
        <p:spPr>
          <a:xfrm>
            <a:off x="832104" y="3822192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ko-KR" altLang="en-US" sz="1650" dirty="0">
                <a:solidFill>
                  <a:srgbClr val="9AA3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건강을 지키는 </a:t>
            </a:r>
            <a:r>
              <a:rPr lang="ko-KR" altLang="en-US" sz="1650" dirty="0" err="1">
                <a:solidFill>
                  <a:srgbClr val="9AA3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서비스앱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B43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4387512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1062" y="219456"/>
            <a:ext cx="1011784" cy="292608"/>
          </a:xfrm>
          <a:prstGeom prst="roundRect">
            <a:avLst>
              <a:gd name="adj" fmla="val 50000"/>
            </a:avLst>
          </a:prstGeom>
          <a:solidFill>
            <a:srgbClr val="F0F1F2"/>
          </a:solidFill>
          <a:ln/>
        </p:spPr>
      </p:sp>
      <p:sp>
        <p:nvSpPr>
          <p:cNvPr id="3" name="Text 1"/>
          <p:cNvSpPr/>
          <p:nvPr/>
        </p:nvSpPr>
        <p:spPr>
          <a:xfrm>
            <a:off x="7581062" y="219456"/>
            <a:ext cx="1011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9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제안 배경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8665997" y="219456"/>
            <a:ext cx="833704" cy="292608"/>
          </a:xfrm>
          <a:prstGeom prst="roundRect">
            <a:avLst>
              <a:gd name="adj" fmla="val 50000"/>
            </a:avLst>
          </a:prstGeom>
          <a:solidFill>
            <a:srgbClr val="2A2E35"/>
          </a:solidFill>
          <a:ln/>
        </p:spPr>
      </p:sp>
      <p:sp>
        <p:nvSpPr>
          <p:cNvPr id="5" name="Text 3"/>
          <p:cNvSpPr/>
          <p:nvPr/>
        </p:nvSpPr>
        <p:spPr>
          <a:xfrm>
            <a:off x="8665997" y="219456"/>
            <a:ext cx="833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서비스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9572854" y="219456"/>
            <a:ext cx="1046531" cy="292608"/>
          </a:xfrm>
          <a:prstGeom prst="roundRect">
            <a:avLst>
              <a:gd name="adj" fmla="val 50000"/>
            </a:avLst>
          </a:prstGeom>
          <a:solidFill>
            <a:srgbClr val="F0F1F2"/>
          </a:solidFill>
          <a:ln/>
        </p:spPr>
      </p:sp>
      <p:sp>
        <p:nvSpPr>
          <p:cNvPr id="7" name="Text 5"/>
          <p:cNvSpPr/>
          <p:nvPr/>
        </p:nvSpPr>
        <p:spPr>
          <a:xfrm>
            <a:off x="9572854" y="219456"/>
            <a:ext cx="104653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9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검증·근거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0692536" y="219456"/>
            <a:ext cx="1011784" cy="292608"/>
          </a:xfrm>
          <a:prstGeom prst="roundRect">
            <a:avLst>
              <a:gd name="adj" fmla="val 50000"/>
            </a:avLst>
          </a:prstGeom>
          <a:solidFill>
            <a:srgbClr val="F0F1F2"/>
          </a:solidFill>
          <a:ln/>
        </p:spPr>
      </p:sp>
      <p:sp>
        <p:nvSpPr>
          <p:cNvPr id="9" name="Text 7"/>
          <p:cNvSpPr/>
          <p:nvPr/>
        </p:nvSpPr>
        <p:spPr>
          <a:xfrm>
            <a:off x="10692536" y="219456"/>
            <a:ext cx="1011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9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도입 계획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66928" y="402336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7A82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SOLUTION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713232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 err="1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플랫폼</a:t>
            </a:r>
            <a:r>
              <a:rPr lang="en-US" sz="34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3400" b="1" dirty="0" err="1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작동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EB6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1783080"/>
            <a:ext cx="11091672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2700">
            <a:solidFill>
              <a:srgbClr val="DCE1E7"/>
            </a:solidFill>
            <a:prstDash val="solid"/>
          </a:ln>
          <a:effectLst>
            <a:outerShdw blurRad="114300" dist="38100" dir="5400000" algn="bl" rotWithShape="0">
              <a:srgbClr val="9BA6B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68680" y="2121408"/>
            <a:ext cx="603504" cy="603504"/>
          </a:xfrm>
          <a:prstGeom prst="ellipse">
            <a:avLst/>
          </a:prstGeom>
          <a:solidFill>
            <a:srgbClr val="2A2E35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212140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1645920" y="1984248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kern="0" spc="50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 LAYER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1645920" y="240487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7A82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수집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937760" y="1783080"/>
            <a:ext cx="5394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설문 · 웨어러블 · 학사 신호를 표준화해 모읍니다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10424160" y="2221992"/>
            <a:ext cx="1051560" cy="402336"/>
          </a:xfrm>
          <a:prstGeom prst="roundRect">
            <a:avLst>
              <a:gd name="adj" fmla="val 50000"/>
            </a:avLst>
          </a:prstGeom>
          <a:solidFill>
            <a:srgbClr val="E9EDF1"/>
          </a:solidFill>
          <a:ln/>
        </p:spPr>
      </p:sp>
      <p:sp>
        <p:nvSpPr>
          <p:cNvPr id="20" name="Text 18"/>
          <p:cNvSpPr/>
          <p:nvPr/>
        </p:nvSpPr>
        <p:spPr>
          <a:xfrm>
            <a:off x="10424160" y="2221992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 rot="10800000">
            <a:off x="1060704" y="3128076"/>
            <a:ext cx="219456" cy="219456"/>
          </a:xfrm>
          <a:prstGeom prst="triangle">
            <a:avLst/>
          </a:prstGeom>
          <a:solidFill>
            <a:srgbClr val="AEB6BF"/>
          </a:solidFill>
          <a:ln/>
        </p:spPr>
      </p:sp>
      <p:sp>
        <p:nvSpPr>
          <p:cNvPr id="22" name="Shape 20"/>
          <p:cNvSpPr/>
          <p:nvPr/>
        </p:nvSpPr>
        <p:spPr>
          <a:xfrm>
            <a:off x="548640" y="3375428"/>
            <a:ext cx="11091672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2700">
            <a:solidFill>
              <a:srgbClr val="DCE1E7"/>
            </a:solidFill>
            <a:prstDash val="solid"/>
          </a:ln>
          <a:effectLst>
            <a:outerShdw blurRad="114300" dist="38100" dir="5400000" algn="bl" rotWithShape="0">
              <a:srgbClr val="9BA6B0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68680" y="3713756"/>
            <a:ext cx="603504" cy="603504"/>
          </a:xfrm>
          <a:prstGeom prst="ellipse">
            <a:avLst/>
          </a:prstGeom>
          <a:solidFill>
            <a:srgbClr val="2A2E35"/>
          </a:solidFill>
          <a:ln/>
        </p:spPr>
      </p:sp>
      <p:sp>
        <p:nvSpPr>
          <p:cNvPr id="24" name="Text 22"/>
          <p:cNvSpPr/>
          <p:nvPr/>
        </p:nvSpPr>
        <p:spPr>
          <a:xfrm>
            <a:off x="868680" y="3713756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1645920" y="3576596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kern="0" spc="50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INTELLIGENCE LAYER</a:t>
            </a:r>
            <a:endParaRPr lang="en-US" sz="1550" dirty="0"/>
          </a:p>
        </p:txBody>
      </p:sp>
      <p:sp>
        <p:nvSpPr>
          <p:cNvPr id="26" name="Text 24"/>
          <p:cNvSpPr/>
          <p:nvPr/>
        </p:nvSpPr>
        <p:spPr>
          <a:xfrm>
            <a:off x="1645920" y="39972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7A82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예측 · 설명 · 재평가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937760" y="3375428"/>
            <a:ext cx="5394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3등급 분류 + SHAP 근거 + 개입 후 변화 추적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10424160" y="3814340"/>
            <a:ext cx="1051560" cy="402336"/>
          </a:xfrm>
          <a:prstGeom prst="roundRect">
            <a:avLst>
              <a:gd name="adj" fmla="val 50000"/>
            </a:avLst>
          </a:prstGeom>
          <a:solidFill>
            <a:srgbClr val="E9EDF1"/>
          </a:solidFill>
          <a:ln/>
        </p:spPr>
      </p:sp>
      <p:sp>
        <p:nvSpPr>
          <p:cNvPr id="29" name="Text 27"/>
          <p:cNvSpPr/>
          <p:nvPr/>
        </p:nvSpPr>
        <p:spPr>
          <a:xfrm>
            <a:off x="10424160" y="3814340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엔진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 rot="10800000">
            <a:off x="1060704" y="4729659"/>
            <a:ext cx="219456" cy="219456"/>
          </a:xfrm>
          <a:prstGeom prst="triangle">
            <a:avLst/>
          </a:prstGeom>
          <a:solidFill>
            <a:srgbClr val="AEB6BF"/>
          </a:solidFill>
          <a:ln/>
        </p:spPr>
      </p:sp>
      <p:sp>
        <p:nvSpPr>
          <p:cNvPr id="31" name="Shape 29"/>
          <p:cNvSpPr/>
          <p:nvPr/>
        </p:nvSpPr>
        <p:spPr>
          <a:xfrm>
            <a:off x="548640" y="4995480"/>
            <a:ext cx="11091672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2700">
            <a:solidFill>
              <a:srgbClr val="DCE1E7"/>
            </a:solidFill>
            <a:prstDash val="solid"/>
          </a:ln>
          <a:effectLst>
            <a:outerShdw blurRad="114300" dist="38100" dir="5400000" algn="bl" rotWithShape="0">
              <a:srgbClr val="9BA6B0">
                <a:alpha val="3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868680" y="5333808"/>
            <a:ext cx="603504" cy="603504"/>
          </a:xfrm>
          <a:prstGeom prst="ellipse">
            <a:avLst/>
          </a:prstGeom>
          <a:solidFill>
            <a:srgbClr val="2A2E35"/>
          </a:solidFill>
          <a:ln/>
        </p:spPr>
      </p:sp>
      <p:sp>
        <p:nvSpPr>
          <p:cNvPr id="33" name="Text 31"/>
          <p:cNvSpPr/>
          <p:nvPr/>
        </p:nvSpPr>
        <p:spPr>
          <a:xfrm>
            <a:off x="868680" y="533380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900" dirty="0"/>
          </a:p>
        </p:txBody>
      </p:sp>
      <p:sp>
        <p:nvSpPr>
          <p:cNvPr id="34" name="Text 32"/>
          <p:cNvSpPr/>
          <p:nvPr/>
        </p:nvSpPr>
        <p:spPr>
          <a:xfrm>
            <a:off x="1645920" y="5196648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kern="0" spc="50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CARE LAYER</a:t>
            </a:r>
            <a:endParaRPr lang="en-US" sz="1550" dirty="0"/>
          </a:p>
        </p:txBody>
      </p:sp>
      <p:sp>
        <p:nvSpPr>
          <p:cNvPr id="35" name="Text 33"/>
          <p:cNvSpPr/>
          <p:nvPr/>
        </p:nvSpPr>
        <p:spPr>
          <a:xfrm>
            <a:off x="1645920" y="561727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7A82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연결 · 개입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4937760" y="4995480"/>
            <a:ext cx="5394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콘텐츠 · 프로그램 · 상담을 등급에 맞춰 연결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10424160" y="5434392"/>
            <a:ext cx="1051560" cy="402336"/>
          </a:xfrm>
          <a:prstGeom prst="roundRect">
            <a:avLst>
              <a:gd name="adj" fmla="val 50000"/>
            </a:avLst>
          </a:prstGeom>
          <a:solidFill>
            <a:srgbClr val="E9EDF1"/>
          </a:solidFill>
          <a:ln/>
        </p:spPr>
      </p:sp>
      <p:sp>
        <p:nvSpPr>
          <p:cNvPr id="38" name="Text 36"/>
          <p:cNvSpPr/>
          <p:nvPr/>
        </p:nvSpPr>
        <p:spPr>
          <a:xfrm>
            <a:off x="10424160" y="5434392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1062" y="219456"/>
            <a:ext cx="1011784" cy="292608"/>
          </a:xfrm>
          <a:prstGeom prst="roundRect">
            <a:avLst>
              <a:gd name="adj" fmla="val 50000"/>
            </a:avLst>
          </a:prstGeom>
          <a:solidFill>
            <a:srgbClr val="F0F1F2"/>
          </a:solidFill>
          <a:ln/>
        </p:spPr>
      </p:sp>
      <p:sp>
        <p:nvSpPr>
          <p:cNvPr id="3" name="Text 1"/>
          <p:cNvSpPr/>
          <p:nvPr/>
        </p:nvSpPr>
        <p:spPr>
          <a:xfrm>
            <a:off x="7581062" y="219456"/>
            <a:ext cx="1011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9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제안 배경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8665997" y="219456"/>
            <a:ext cx="833704" cy="292608"/>
          </a:xfrm>
          <a:prstGeom prst="roundRect">
            <a:avLst>
              <a:gd name="adj" fmla="val 50000"/>
            </a:avLst>
          </a:prstGeom>
          <a:solidFill>
            <a:srgbClr val="2A2E35"/>
          </a:solidFill>
          <a:ln/>
        </p:spPr>
      </p:sp>
      <p:sp>
        <p:nvSpPr>
          <p:cNvPr id="5" name="Text 3"/>
          <p:cNvSpPr/>
          <p:nvPr/>
        </p:nvSpPr>
        <p:spPr>
          <a:xfrm>
            <a:off x="8665997" y="219456"/>
            <a:ext cx="833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서비스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9572854" y="219456"/>
            <a:ext cx="1046531" cy="292608"/>
          </a:xfrm>
          <a:prstGeom prst="roundRect">
            <a:avLst>
              <a:gd name="adj" fmla="val 50000"/>
            </a:avLst>
          </a:prstGeom>
          <a:solidFill>
            <a:srgbClr val="F0F1F2"/>
          </a:solidFill>
          <a:ln/>
        </p:spPr>
      </p:sp>
      <p:sp>
        <p:nvSpPr>
          <p:cNvPr id="7" name="Text 5"/>
          <p:cNvSpPr/>
          <p:nvPr/>
        </p:nvSpPr>
        <p:spPr>
          <a:xfrm>
            <a:off x="9572854" y="219456"/>
            <a:ext cx="104653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9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검증·근거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0692536" y="219456"/>
            <a:ext cx="1011784" cy="292608"/>
          </a:xfrm>
          <a:prstGeom prst="roundRect">
            <a:avLst>
              <a:gd name="adj" fmla="val 50000"/>
            </a:avLst>
          </a:prstGeom>
          <a:solidFill>
            <a:srgbClr val="F0F1F2"/>
          </a:solidFill>
          <a:ln/>
        </p:spPr>
      </p:sp>
      <p:sp>
        <p:nvSpPr>
          <p:cNvPr id="9" name="Text 7"/>
          <p:cNvSpPr/>
          <p:nvPr/>
        </p:nvSpPr>
        <p:spPr>
          <a:xfrm>
            <a:off x="10692536" y="219456"/>
            <a:ext cx="1011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9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도입 계획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66928" y="402336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7A82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SERVICE LOGIC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713232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34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건강신호등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EB6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22960" y="169164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7A82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등급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154680" y="169164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7A82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상태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760720" y="169164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7A82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 행동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366760" y="169164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7A82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연결 지원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2920" y="2121408"/>
            <a:ext cx="11183112" cy="1143000"/>
          </a:xfrm>
          <a:prstGeom prst="roundRect">
            <a:avLst>
              <a:gd name="adj" fmla="val 7200"/>
            </a:avLst>
          </a:prstGeom>
          <a:solidFill>
            <a:srgbClr val="E1F3ED"/>
          </a:solidFill>
          <a:ln/>
        </p:spPr>
      </p:sp>
      <p:sp>
        <p:nvSpPr>
          <p:cNvPr id="18" name="Shape 16"/>
          <p:cNvSpPr/>
          <p:nvPr/>
        </p:nvSpPr>
        <p:spPr>
          <a:xfrm>
            <a:off x="777240" y="2578608"/>
            <a:ext cx="237744" cy="237744"/>
          </a:xfrm>
          <a:prstGeom prst="ellipse">
            <a:avLst/>
          </a:prstGeom>
          <a:solidFill>
            <a:srgbClr val="009E73"/>
          </a:solidFill>
          <a:ln/>
        </p:spPr>
      </p:sp>
      <p:sp>
        <p:nvSpPr>
          <p:cNvPr id="19" name="Text 17"/>
          <p:cNvSpPr/>
          <p:nvPr/>
        </p:nvSpPr>
        <p:spPr>
          <a:xfrm>
            <a:off x="1115568" y="2121408"/>
            <a:ext cx="1965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09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Fit · 양호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3154680" y="2121408"/>
            <a:ext cx="2468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건강 습관을 유지 중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5760720" y="2121408"/>
            <a:ext cx="2468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유지 · 강화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366760" y="2121408"/>
            <a:ext cx="3200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정기 리포트 · 건강 콘텐츠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502920" y="3419856"/>
            <a:ext cx="11183112" cy="1143000"/>
          </a:xfrm>
          <a:prstGeom prst="roundRect">
            <a:avLst>
              <a:gd name="adj" fmla="val 7200"/>
            </a:avLst>
          </a:prstGeom>
          <a:solidFill>
            <a:srgbClr val="FBEFD9"/>
          </a:solidFill>
          <a:ln/>
        </p:spPr>
      </p:sp>
      <p:sp>
        <p:nvSpPr>
          <p:cNvPr id="24" name="Shape 22"/>
          <p:cNvSpPr/>
          <p:nvPr/>
        </p:nvSpPr>
        <p:spPr>
          <a:xfrm>
            <a:off x="777240" y="3877056"/>
            <a:ext cx="237744" cy="237744"/>
          </a:xfrm>
          <a:prstGeom prst="ellipse">
            <a:avLst/>
          </a:prstGeom>
          <a:solidFill>
            <a:srgbClr val="E69F00"/>
          </a:solidFill>
          <a:ln/>
        </p:spPr>
      </p:sp>
      <p:sp>
        <p:nvSpPr>
          <p:cNvPr id="25" name="Text 23"/>
          <p:cNvSpPr/>
          <p:nvPr/>
        </p:nvSpPr>
        <p:spPr>
          <a:xfrm>
            <a:off x="1115568" y="3419856"/>
            <a:ext cx="1965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A874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At-risk · 주의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3154680" y="3419856"/>
            <a:ext cx="2468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 신호 감지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5760720" y="3419856"/>
            <a:ext cx="2468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예방 개입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366760" y="3419856"/>
            <a:ext cx="3200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생활습관 코칭 · 2주 프로그램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502920" y="4718304"/>
            <a:ext cx="11183112" cy="1143000"/>
          </a:xfrm>
          <a:prstGeom prst="roundRect">
            <a:avLst>
              <a:gd name="adj" fmla="val 7200"/>
            </a:avLst>
          </a:prstGeom>
          <a:solidFill>
            <a:srgbClr val="FBE9DD"/>
          </a:solidFill>
          <a:ln/>
        </p:spPr>
      </p:sp>
      <p:sp>
        <p:nvSpPr>
          <p:cNvPr id="30" name="Shape 28"/>
          <p:cNvSpPr/>
          <p:nvPr/>
        </p:nvSpPr>
        <p:spPr>
          <a:xfrm>
            <a:off x="777240" y="5175504"/>
            <a:ext cx="237744" cy="237744"/>
          </a:xfrm>
          <a:prstGeom prst="ellipse">
            <a:avLst/>
          </a:prstGeom>
          <a:solidFill>
            <a:srgbClr val="D55E00"/>
          </a:solidFill>
          <a:ln/>
        </p:spPr>
      </p:sp>
      <p:sp>
        <p:nvSpPr>
          <p:cNvPr id="31" name="Text 29"/>
          <p:cNvSpPr/>
          <p:nvPr/>
        </p:nvSpPr>
        <p:spPr>
          <a:xfrm>
            <a:off x="1115568" y="4718304"/>
            <a:ext cx="1965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D55E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Unhealthy · 위험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3154680" y="4718304"/>
            <a:ext cx="2468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즉시 확인 필요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5760720" y="4718304"/>
            <a:ext cx="2468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집중 관리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8366760" y="4718304"/>
            <a:ext cx="3200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상담 우선 배정 · 추적 관리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548640" y="614476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100" i="1" dirty="0" err="1">
                <a:solidFill>
                  <a:srgbClr val="7A828C"/>
                </a:solidFill>
                <a:latin typeface="Malgun Gothic" pitchFamily="34" charset="0"/>
                <a:ea typeface="Malgun Gothic" pitchFamily="34" charset="-122"/>
              </a:rPr>
              <a:t>상태와</a:t>
            </a:r>
            <a:r>
              <a:rPr lang="en-US" altLang="ko-KR" sz="1100" i="1" dirty="0">
                <a:solidFill>
                  <a:srgbClr val="7A828C"/>
                </a:solidFill>
                <a:latin typeface="Malgun Gothic" pitchFamily="34" charset="0"/>
                <a:ea typeface="Malgun Gothic" pitchFamily="34" charset="-122"/>
              </a:rPr>
              <a:t> </a:t>
            </a:r>
            <a:r>
              <a:rPr lang="en-US" altLang="ko-KR" sz="1100" i="1" dirty="0" err="1">
                <a:solidFill>
                  <a:srgbClr val="7A828C"/>
                </a:solidFill>
                <a:latin typeface="Malgun Gothic" pitchFamily="34" charset="0"/>
                <a:ea typeface="Malgun Gothic" pitchFamily="34" charset="-122"/>
              </a:rPr>
              <a:t>다음</a:t>
            </a:r>
            <a:r>
              <a:rPr lang="en-US" altLang="ko-KR" sz="1100" i="1" dirty="0">
                <a:solidFill>
                  <a:srgbClr val="7A828C"/>
                </a:solidFill>
                <a:latin typeface="Malgun Gothic" pitchFamily="34" charset="0"/>
                <a:ea typeface="Malgun Gothic" pitchFamily="34" charset="-122"/>
              </a:rPr>
              <a:t> </a:t>
            </a:r>
            <a:r>
              <a:rPr lang="en-US" altLang="ko-KR" sz="1100" i="1" dirty="0" err="1">
                <a:solidFill>
                  <a:srgbClr val="7A828C"/>
                </a:solidFill>
                <a:latin typeface="Malgun Gothic" pitchFamily="34" charset="0"/>
                <a:ea typeface="Malgun Gothic" pitchFamily="34" charset="-122"/>
              </a:rPr>
              <a:t>행동을</a:t>
            </a:r>
            <a:r>
              <a:rPr lang="en-US" altLang="ko-KR" sz="1100" i="1" dirty="0">
                <a:solidFill>
                  <a:srgbClr val="7A828C"/>
                </a:solidFill>
                <a:latin typeface="Malgun Gothic" pitchFamily="34" charset="0"/>
                <a:ea typeface="Malgun Gothic" pitchFamily="34" charset="-122"/>
              </a:rPr>
              <a:t> </a:t>
            </a:r>
            <a:r>
              <a:rPr lang="en-US" altLang="ko-KR" sz="1100" i="1" dirty="0" err="1">
                <a:solidFill>
                  <a:srgbClr val="7A828C"/>
                </a:solidFill>
                <a:latin typeface="Malgun Gothic" pitchFamily="34" charset="0"/>
                <a:ea typeface="Malgun Gothic" pitchFamily="34" charset="-122"/>
              </a:rPr>
              <a:t>함께</a:t>
            </a:r>
            <a:r>
              <a:rPr lang="en-US" altLang="ko-KR" sz="1100" i="1" dirty="0">
                <a:solidFill>
                  <a:srgbClr val="7A828C"/>
                </a:solidFill>
                <a:latin typeface="Malgun Gothic" pitchFamily="34" charset="0"/>
                <a:ea typeface="Malgun Gothic" pitchFamily="34" charset="-122"/>
              </a:rPr>
              <a:t> </a:t>
            </a:r>
            <a:r>
              <a:rPr lang="en-US" altLang="ko-KR" sz="1100" i="1" dirty="0" err="1">
                <a:solidFill>
                  <a:srgbClr val="7A828C"/>
                </a:solidFill>
                <a:latin typeface="Malgun Gothic" pitchFamily="34" charset="0"/>
                <a:ea typeface="Malgun Gothic" pitchFamily="34" charset="-122"/>
              </a:rPr>
              <a:t>안내합니다</a:t>
            </a:r>
            <a:r>
              <a:rPr lang="en-US" altLang="ko-KR" sz="1100" i="1" dirty="0">
                <a:solidFill>
                  <a:srgbClr val="7A828C"/>
                </a:solidFill>
                <a:latin typeface="Malgun Gothic" pitchFamily="34" charset="0"/>
                <a:ea typeface="Malgun Gothic" pitchFamily="34" charset="-122"/>
              </a:rPr>
              <a:t>.</a:t>
            </a:r>
          </a:p>
          <a:p>
            <a:endParaRPr lang="en-US" altLang="ko-KR" sz="1100" i="1" dirty="0">
              <a:solidFill>
                <a:srgbClr val="7A828C"/>
              </a:solidFill>
              <a:latin typeface="Malgun Gothic" pitchFamily="34" charset="0"/>
              <a:ea typeface="Malgun Gothic" pitchFamily="34" charset="-122"/>
            </a:endParaRPr>
          </a:p>
          <a:p>
            <a:r>
              <a:rPr lang="en-US" sz="1100" i="1" dirty="0">
                <a:solidFill>
                  <a:srgbClr val="7A82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색 + 라벨 + 위치로 삼중 인코딩 — 색만으로 판단하지 않도록 </a:t>
            </a:r>
            <a:r>
              <a:rPr lang="en-US" sz="1100" i="1" dirty="0" err="1">
                <a:solidFill>
                  <a:srgbClr val="7A82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설계했습니다</a:t>
            </a:r>
            <a:r>
              <a:rPr lang="en-US" sz="1100" i="1" dirty="0">
                <a:solidFill>
                  <a:srgbClr val="7A82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100" i="1" dirty="0">
              <a:solidFill>
                <a:srgbClr val="7A828C"/>
              </a:solidFill>
              <a:latin typeface="Malgun Gothic" pitchFamily="34" charset="0"/>
              <a:ea typeface="Malgun Gothic" pitchFamily="3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1062" y="219456"/>
            <a:ext cx="1011784" cy="292608"/>
          </a:xfrm>
          <a:prstGeom prst="roundRect">
            <a:avLst>
              <a:gd name="adj" fmla="val 50000"/>
            </a:avLst>
          </a:prstGeom>
          <a:solidFill>
            <a:srgbClr val="F0F1F2"/>
          </a:solidFill>
          <a:ln/>
        </p:spPr>
      </p:sp>
      <p:sp>
        <p:nvSpPr>
          <p:cNvPr id="3" name="Text 1"/>
          <p:cNvSpPr/>
          <p:nvPr/>
        </p:nvSpPr>
        <p:spPr>
          <a:xfrm>
            <a:off x="7581062" y="219456"/>
            <a:ext cx="1011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9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제안 배경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8665997" y="219456"/>
            <a:ext cx="833704" cy="292608"/>
          </a:xfrm>
          <a:prstGeom prst="roundRect">
            <a:avLst>
              <a:gd name="adj" fmla="val 50000"/>
            </a:avLst>
          </a:prstGeom>
          <a:solidFill>
            <a:srgbClr val="2A2E35"/>
          </a:solidFill>
          <a:ln/>
        </p:spPr>
      </p:sp>
      <p:sp>
        <p:nvSpPr>
          <p:cNvPr id="5" name="Text 3"/>
          <p:cNvSpPr/>
          <p:nvPr/>
        </p:nvSpPr>
        <p:spPr>
          <a:xfrm>
            <a:off x="8665997" y="219456"/>
            <a:ext cx="833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서비스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9572854" y="219456"/>
            <a:ext cx="1046531" cy="292608"/>
          </a:xfrm>
          <a:prstGeom prst="roundRect">
            <a:avLst>
              <a:gd name="adj" fmla="val 50000"/>
            </a:avLst>
          </a:prstGeom>
          <a:solidFill>
            <a:srgbClr val="F0F1F2"/>
          </a:solidFill>
          <a:ln/>
        </p:spPr>
      </p:sp>
      <p:sp>
        <p:nvSpPr>
          <p:cNvPr id="7" name="Text 5"/>
          <p:cNvSpPr/>
          <p:nvPr/>
        </p:nvSpPr>
        <p:spPr>
          <a:xfrm>
            <a:off x="9572854" y="219456"/>
            <a:ext cx="104653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9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검증·근거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0692536" y="219456"/>
            <a:ext cx="1011784" cy="292608"/>
          </a:xfrm>
          <a:prstGeom prst="roundRect">
            <a:avLst>
              <a:gd name="adj" fmla="val 50000"/>
            </a:avLst>
          </a:prstGeom>
          <a:solidFill>
            <a:srgbClr val="F0F1F2"/>
          </a:solidFill>
          <a:ln/>
        </p:spPr>
      </p:sp>
      <p:sp>
        <p:nvSpPr>
          <p:cNvPr id="9" name="Text 7"/>
          <p:cNvSpPr/>
          <p:nvPr/>
        </p:nvSpPr>
        <p:spPr>
          <a:xfrm>
            <a:off x="10692536" y="219456"/>
            <a:ext cx="1011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9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도입 계획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66928" y="402336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7A82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SERVICE JOURNEY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713232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</a:t>
            </a:r>
            <a:r>
              <a:rPr lang="en-US" sz="3400" b="1" dirty="0" err="1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학기</a:t>
            </a:r>
            <a:r>
              <a:rPr lang="en-US" sz="34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3400" b="1" dirty="0" err="1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건강</a:t>
            </a:r>
            <a:r>
              <a:rPr lang="en-US" sz="34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3400" b="1" dirty="0" err="1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여정</a:t>
            </a:r>
            <a:r>
              <a:rPr lang="en-US" sz="34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34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연결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EB6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234440" y="2907792"/>
            <a:ext cx="9738360" cy="0"/>
          </a:xfrm>
          <a:prstGeom prst="line">
            <a:avLst/>
          </a:prstGeom>
          <a:noFill/>
          <a:ln w="63500">
            <a:solidFill>
              <a:srgbClr val="E9EDF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27632" y="2532888"/>
            <a:ext cx="83667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AEB6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3250692" y="2532888"/>
            <a:ext cx="83667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AEB6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4873752" y="2532888"/>
            <a:ext cx="83667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AEB6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496812" y="2532888"/>
            <a:ext cx="83667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AEB6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8119872" y="2532888"/>
            <a:ext cx="83667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AEB6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9742932" y="2532888"/>
            <a:ext cx="83667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AEB6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841248" y="2514600"/>
            <a:ext cx="786384" cy="786384"/>
          </a:xfrm>
          <a:prstGeom prst="ellipse">
            <a:avLst/>
          </a:prstGeom>
          <a:solidFill>
            <a:srgbClr val="2A2E35"/>
          </a:solidFill>
          <a:ln/>
        </p:spPr>
      </p:sp>
      <p:sp>
        <p:nvSpPr>
          <p:cNvPr id="21" name="Text 19"/>
          <p:cNvSpPr/>
          <p:nvPr/>
        </p:nvSpPr>
        <p:spPr>
          <a:xfrm>
            <a:off x="841248" y="2514600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411480" y="34290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체크인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2464308" y="2514600"/>
            <a:ext cx="786384" cy="786384"/>
          </a:xfrm>
          <a:prstGeom prst="ellipse">
            <a:avLst/>
          </a:prstGeom>
          <a:solidFill>
            <a:srgbClr val="2A2E35"/>
          </a:solidFill>
          <a:ln/>
        </p:spPr>
      </p:sp>
      <p:sp>
        <p:nvSpPr>
          <p:cNvPr id="24" name="Text 22"/>
          <p:cNvSpPr/>
          <p:nvPr/>
        </p:nvSpPr>
        <p:spPr>
          <a:xfrm>
            <a:off x="2464308" y="2514600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2034540" y="34290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신호 확인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4087368" y="2514600"/>
            <a:ext cx="786384" cy="786384"/>
          </a:xfrm>
          <a:prstGeom prst="ellipse">
            <a:avLst/>
          </a:prstGeom>
          <a:solidFill>
            <a:srgbClr val="2A2E35"/>
          </a:solidFill>
          <a:ln/>
        </p:spPr>
      </p:sp>
      <p:sp>
        <p:nvSpPr>
          <p:cNvPr id="27" name="Text 25"/>
          <p:cNvSpPr/>
          <p:nvPr/>
        </p:nvSpPr>
        <p:spPr>
          <a:xfrm>
            <a:off x="4087368" y="2514600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3657600" y="34290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개입 선택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5710428" y="2514600"/>
            <a:ext cx="786384" cy="786384"/>
          </a:xfrm>
          <a:prstGeom prst="ellipse">
            <a:avLst/>
          </a:prstGeom>
          <a:solidFill>
            <a:srgbClr val="2A2E35"/>
          </a:solidFill>
          <a:ln/>
        </p:spPr>
      </p:sp>
      <p:sp>
        <p:nvSpPr>
          <p:cNvPr id="30" name="Text 28"/>
          <p:cNvSpPr/>
          <p:nvPr/>
        </p:nvSpPr>
        <p:spPr>
          <a:xfrm>
            <a:off x="5710428" y="2514600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5280660" y="34290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진행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7333488" y="2514600"/>
            <a:ext cx="786384" cy="786384"/>
          </a:xfrm>
          <a:prstGeom prst="ellipse">
            <a:avLst/>
          </a:prstGeom>
          <a:solidFill>
            <a:srgbClr val="2A2E35"/>
          </a:solidFill>
          <a:ln/>
        </p:spPr>
      </p:sp>
      <p:sp>
        <p:nvSpPr>
          <p:cNvPr id="33" name="Text 31"/>
          <p:cNvSpPr/>
          <p:nvPr/>
        </p:nvSpPr>
        <p:spPr>
          <a:xfrm>
            <a:off x="7333488" y="2514600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6903720" y="34290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상담 연결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8956548" y="2514600"/>
            <a:ext cx="786384" cy="786384"/>
          </a:xfrm>
          <a:prstGeom prst="ellipse">
            <a:avLst/>
          </a:prstGeom>
          <a:solidFill>
            <a:srgbClr val="2A2E35"/>
          </a:solidFill>
          <a:ln/>
        </p:spPr>
      </p:sp>
      <p:sp>
        <p:nvSpPr>
          <p:cNvPr id="36" name="Text 34"/>
          <p:cNvSpPr/>
          <p:nvPr/>
        </p:nvSpPr>
        <p:spPr>
          <a:xfrm>
            <a:off x="8956548" y="2514600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8526780" y="34290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리체크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10579608" y="2514600"/>
            <a:ext cx="786384" cy="786384"/>
          </a:xfrm>
          <a:prstGeom prst="ellipse">
            <a:avLst/>
          </a:prstGeom>
          <a:solidFill>
            <a:srgbClr val="009E73"/>
          </a:solidFill>
          <a:ln/>
        </p:spPr>
      </p:sp>
      <p:sp>
        <p:nvSpPr>
          <p:cNvPr id="39" name="Text 37"/>
          <p:cNvSpPr/>
          <p:nvPr/>
        </p:nvSpPr>
        <p:spPr>
          <a:xfrm>
            <a:off x="10579608" y="2514600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2000" dirty="0"/>
          </a:p>
        </p:txBody>
      </p:sp>
      <p:sp>
        <p:nvSpPr>
          <p:cNvPr id="40" name="Text 38"/>
          <p:cNvSpPr/>
          <p:nvPr/>
        </p:nvSpPr>
        <p:spPr>
          <a:xfrm>
            <a:off x="10149840" y="34290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변화 확인</a:t>
            </a:r>
            <a:endParaRPr lang="en-US" sz="1250" dirty="0"/>
          </a:p>
        </p:txBody>
      </p:sp>
      <p:sp>
        <p:nvSpPr>
          <p:cNvPr id="41" name="Shape 39"/>
          <p:cNvSpPr/>
          <p:nvPr/>
        </p:nvSpPr>
        <p:spPr>
          <a:xfrm>
            <a:off x="960120" y="4709160"/>
            <a:ext cx="10378440" cy="603504"/>
          </a:xfrm>
          <a:prstGeom prst="roundRect">
            <a:avLst>
              <a:gd name="adj" fmla="val 21212"/>
            </a:avLst>
          </a:prstGeom>
          <a:solidFill>
            <a:srgbClr val="E9EDF1"/>
          </a:solidFill>
          <a:ln/>
        </p:spPr>
      </p:sp>
      <p:sp>
        <p:nvSpPr>
          <p:cNvPr id="42" name="Shape 40"/>
          <p:cNvSpPr/>
          <p:nvPr/>
        </p:nvSpPr>
        <p:spPr>
          <a:xfrm rot="16200000">
            <a:off x="1152144" y="4882896"/>
            <a:ext cx="256032" cy="256032"/>
          </a:xfrm>
          <a:prstGeom prst="triangle">
            <a:avLst/>
          </a:prstGeom>
          <a:solidFill>
            <a:srgbClr val="A87400"/>
          </a:solidFill>
          <a:ln/>
        </p:spPr>
      </p:sp>
      <p:sp>
        <p:nvSpPr>
          <p:cNvPr id="43" name="Text 41"/>
          <p:cNvSpPr/>
          <p:nvPr/>
        </p:nvSpPr>
        <p:spPr>
          <a:xfrm>
            <a:off x="1737360" y="4709160"/>
            <a:ext cx="9418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학기가 끝나면 다시 체크인으로  ·  Closed Loop — 한 번의 진단이 아니라 반복되는 루프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548640" y="57150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7A82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 학기 이 루프를 돌며 학생의 신호 변화를 추적하고, 개입이 효과가 있었는지 확인합니다.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1062" y="219456"/>
            <a:ext cx="1011784" cy="292608"/>
          </a:xfrm>
          <a:prstGeom prst="roundRect">
            <a:avLst>
              <a:gd name="adj" fmla="val 50000"/>
            </a:avLst>
          </a:prstGeom>
          <a:solidFill>
            <a:srgbClr val="F0F1F2"/>
          </a:solidFill>
          <a:ln/>
        </p:spPr>
      </p:sp>
      <p:sp>
        <p:nvSpPr>
          <p:cNvPr id="3" name="Text 1"/>
          <p:cNvSpPr/>
          <p:nvPr/>
        </p:nvSpPr>
        <p:spPr>
          <a:xfrm>
            <a:off x="7581062" y="219456"/>
            <a:ext cx="1011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9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제안 배경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8665997" y="219456"/>
            <a:ext cx="833704" cy="292608"/>
          </a:xfrm>
          <a:prstGeom prst="roundRect">
            <a:avLst>
              <a:gd name="adj" fmla="val 50000"/>
            </a:avLst>
          </a:prstGeom>
          <a:solidFill>
            <a:srgbClr val="2A2E35"/>
          </a:solidFill>
          <a:ln/>
        </p:spPr>
      </p:sp>
      <p:sp>
        <p:nvSpPr>
          <p:cNvPr id="5" name="Text 3"/>
          <p:cNvSpPr/>
          <p:nvPr/>
        </p:nvSpPr>
        <p:spPr>
          <a:xfrm>
            <a:off x="8665997" y="219456"/>
            <a:ext cx="833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서비스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9572854" y="219456"/>
            <a:ext cx="1046531" cy="292608"/>
          </a:xfrm>
          <a:prstGeom prst="roundRect">
            <a:avLst>
              <a:gd name="adj" fmla="val 50000"/>
            </a:avLst>
          </a:prstGeom>
          <a:solidFill>
            <a:srgbClr val="F0F1F2"/>
          </a:solidFill>
          <a:ln/>
        </p:spPr>
      </p:sp>
      <p:sp>
        <p:nvSpPr>
          <p:cNvPr id="7" name="Text 5"/>
          <p:cNvSpPr/>
          <p:nvPr/>
        </p:nvSpPr>
        <p:spPr>
          <a:xfrm>
            <a:off x="9572854" y="219456"/>
            <a:ext cx="104653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9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검증·근거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0692536" y="219456"/>
            <a:ext cx="1011784" cy="292608"/>
          </a:xfrm>
          <a:prstGeom prst="roundRect">
            <a:avLst>
              <a:gd name="adj" fmla="val 50000"/>
            </a:avLst>
          </a:prstGeom>
          <a:solidFill>
            <a:srgbClr val="F0F1F2"/>
          </a:solidFill>
          <a:ln/>
        </p:spPr>
      </p:sp>
      <p:sp>
        <p:nvSpPr>
          <p:cNvPr id="9" name="Text 7"/>
          <p:cNvSpPr/>
          <p:nvPr/>
        </p:nvSpPr>
        <p:spPr>
          <a:xfrm>
            <a:off x="10692536" y="219456"/>
            <a:ext cx="1011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9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도입 계획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66928" y="402336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7A82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FEATURES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713232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가지 </a:t>
            </a:r>
            <a:r>
              <a:rPr lang="en-US" sz="3400" b="1" dirty="0" err="1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</a:t>
            </a:r>
            <a:r>
              <a:rPr lang="en-US" sz="34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3400" b="1" dirty="0" err="1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EB6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1783080"/>
            <a:ext cx="2578608" cy="3611880"/>
          </a:xfrm>
          <a:prstGeom prst="roundRect">
            <a:avLst>
              <a:gd name="adj" fmla="val 3191"/>
            </a:avLst>
          </a:prstGeom>
          <a:solidFill>
            <a:srgbClr val="FFFFFF"/>
          </a:solidFill>
          <a:ln w="12700">
            <a:solidFill>
              <a:srgbClr val="DCE1E7"/>
            </a:solidFill>
            <a:prstDash val="solid"/>
          </a:ln>
          <a:effectLst>
            <a:outerShdw blurRad="114300" dist="38100" dir="5400000" algn="bl" rotWithShape="0">
              <a:srgbClr val="9BA6B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22960" y="2084832"/>
            <a:ext cx="566928" cy="566928"/>
          </a:xfrm>
          <a:prstGeom prst="ellipse">
            <a:avLst/>
          </a:prstGeom>
          <a:solidFill>
            <a:srgbClr val="2A2E35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20848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786384" y="2816352"/>
            <a:ext cx="2121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간편 체크인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786384" y="3493008"/>
            <a:ext cx="212140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3분 설문·웨어러블 동기화로 생활 </a:t>
            </a:r>
            <a:r>
              <a:rPr lang="en-US" sz="1250" dirty="0" err="1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신호를</a:t>
            </a:r>
            <a:r>
              <a:rPr lang="en-US" sz="125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25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확보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86384" y="4828032"/>
            <a:ext cx="1280160" cy="384048"/>
          </a:xfrm>
          <a:prstGeom prst="roundRect">
            <a:avLst>
              <a:gd name="adj" fmla="val 50000"/>
            </a:avLst>
          </a:prstGeom>
          <a:solidFill>
            <a:srgbClr val="E1F3ED"/>
          </a:solidFill>
          <a:ln/>
        </p:spPr>
      </p:sp>
      <p:sp>
        <p:nvSpPr>
          <p:cNvPr id="19" name="Text 17"/>
          <p:cNvSpPr/>
          <p:nvPr/>
        </p:nvSpPr>
        <p:spPr>
          <a:xfrm>
            <a:off x="786384" y="4828032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09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3분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383280" y="1783080"/>
            <a:ext cx="2578608" cy="3611880"/>
          </a:xfrm>
          <a:prstGeom prst="roundRect">
            <a:avLst>
              <a:gd name="adj" fmla="val 3191"/>
            </a:avLst>
          </a:prstGeom>
          <a:solidFill>
            <a:srgbClr val="FFFFFF"/>
          </a:solidFill>
          <a:ln w="12700">
            <a:solidFill>
              <a:srgbClr val="DCE1E7"/>
            </a:solidFill>
            <a:prstDash val="solid"/>
          </a:ln>
          <a:effectLst>
            <a:outerShdw blurRad="114300" dist="38100" dir="5400000" algn="bl" rotWithShape="0">
              <a:srgbClr val="9BA6B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0" y="2084832"/>
            <a:ext cx="566928" cy="566928"/>
          </a:xfrm>
          <a:prstGeom prst="ellipse">
            <a:avLst/>
          </a:prstGeom>
          <a:solidFill>
            <a:srgbClr val="2A2E35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0" y="20848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3621024" y="2816352"/>
            <a:ext cx="2121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건강신호 생성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3621024" y="3493008"/>
            <a:ext cx="212140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3등급으로 </a:t>
            </a:r>
            <a:r>
              <a:rPr lang="en-US" sz="1250" dirty="0" err="1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분류하고</a:t>
            </a:r>
            <a:r>
              <a:rPr lang="en-US" sz="125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</a:p>
          <a:p>
            <a:pPr marL="0" indent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SHAP 근거를 </a:t>
            </a:r>
            <a:r>
              <a:rPr lang="en-US" sz="1250" dirty="0" err="1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함께</a:t>
            </a:r>
            <a:r>
              <a:rPr lang="en-US" sz="125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250" dirty="0" err="1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제시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3621024" y="4828032"/>
            <a:ext cx="1280160" cy="384048"/>
          </a:xfrm>
          <a:prstGeom prst="roundRect">
            <a:avLst>
              <a:gd name="adj" fmla="val 50000"/>
            </a:avLst>
          </a:prstGeom>
          <a:solidFill>
            <a:srgbClr val="E1F3ED"/>
          </a:solidFill>
          <a:ln/>
        </p:spPr>
      </p:sp>
      <p:sp>
        <p:nvSpPr>
          <p:cNvPr id="26" name="Text 24"/>
          <p:cNvSpPr/>
          <p:nvPr/>
        </p:nvSpPr>
        <p:spPr>
          <a:xfrm>
            <a:off x="3621024" y="4828032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09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설명 포함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217920" y="1783080"/>
            <a:ext cx="2578608" cy="3611880"/>
          </a:xfrm>
          <a:prstGeom prst="roundRect">
            <a:avLst>
              <a:gd name="adj" fmla="val 3191"/>
            </a:avLst>
          </a:prstGeom>
          <a:solidFill>
            <a:srgbClr val="FFFFFF"/>
          </a:solidFill>
          <a:ln w="12700">
            <a:solidFill>
              <a:srgbClr val="DCE1E7"/>
            </a:solidFill>
            <a:prstDash val="solid"/>
          </a:ln>
          <a:effectLst>
            <a:outerShdw blurRad="114300" dist="38100" dir="5400000" algn="bl" rotWithShape="0">
              <a:srgbClr val="9BA6B0">
                <a:alpha val="3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492240" y="2084832"/>
            <a:ext cx="566928" cy="566928"/>
          </a:xfrm>
          <a:prstGeom prst="ellipse">
            <a:avLst/>
          </a:prstGeom>
          <a:solidFill>
            <a:srgbClr val="2A2E35"/>
          </a:solidFill>
          <a:ln/>
        </p:spPr>
      </p:sp>
      <p:sp>
        <p:nvSpPr>
          <p:cNvPr id="29" name="Text 27"/>
          <p:cNvSpPr/>
          <p:nvPr/>
        </p:nvSpPr>
        <p:spPr>
          <a:xfrm>
            <a:off x="6492240" y="20848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900" dirty="0"/>
          </a:p>
        </p:txBody>
      </p:sp>
      <p:sp>
        <p:nvSpPr>
          <p:cNvPr id="30" name="Text 28"/>
          <p:cNvSpPr/>
          <p:nvPr/>
        </p:nvSpPr>
        <p:spPr>
          <a:xfrm>
            <a:off x="6455664" y="2816352"/>
            <a:ext cx="2121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개입 오케스트레이션</a:t>
            </a:r>
            <a:endParaRPr lang="en-US" sz="1550" dirty="0"/>
          </a:p>
        </p:txBody>
      </p:sp>
      <p:sp>
        <p:nvSpPr>
          <p:cNvPr id="31" name="Text 29"/>
          <p:cNvSpPr/>
          <p:nvPr/>
        </p:nvSpPr>
        <p:spPr>
          <a:xfrm>
            <a:off x="6455664" y="3493008"/>
            <a:ext cx="212140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등급별 콘텐츠·프로그램·상담을 </a:t>
            </a:r>
            <a:r>
              <a:rPr lang="en-US" sz="1250" dirty="0" err="1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자동으로</a:t>
            </a:r>
            <a:r>
              <a:rPr lang="en-US" sz="125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250" dirty="0" err="1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조합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6455664" y="4828032"/>
            <a:ext cx="1280160" cy="384048"/>
          </a:xfrm>
          <a:prstGeom prst="roundRect">
            <a:avLst>
              <a:gd name="adj" fmla="val 50000"/>
            </a:avLst>
          </a:prstGeom>
          <a:solidFill>
            <a:srgbClr val="E1F3ED"/>
          </a:solidFill>
          <a:ln/>
        </p:spPr>
      </p:sp>
      <p:sp>
        <p:nvSpPr>
          <p:cNvPr id="33" name="Text 31"/>
          <p:cNvSpPr/>
          <p:nvPr/>
        </p:nvSpPr>
        <p:spPr>
          <a:xfrm>
            <a:off x="6455664" y="4828032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09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9052560" y="1783080"/>
            <a:ext cx="2578608" cy="3611880"/>
          </a:xfrm>
          <a:prstGeom prst="roundRect">
            <a:avLst>
              <a:gd name="adj" fmla="val 3191"/>
            </a:avLst>
          </a:prstGeom>
          <a:solidFill>
            <a:srgbClr val="FFFFFF"/>
          </a:solidFill>
          <a:ln w="12700">
            <a:solidFill>
              <a:srgbClr val="DCE1E7"/>
            </a:solidFill>
            <a:prstDash val="solid"/>
          </a:ln>
          <a:effectLst>
            <a:outerShdw blurRad="114300" dist="38100" dir="5400000" algn="bl" rotWithShape="0">
              <a:srgbClr val="9BA6B0">
                <a:alpha val="3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9326880" y="2084832"/>
            <a:ext cx="566928" cy="566928"/>
          </a:xfrm>
          <a:prstGeom prst="ellipse">
            <a:avLst/>
          </a:prstGeom>
          <a:solidFill>
            <a:srgbClr val="2A2E35"/>
          </a:solidFill>
          <a:ln/>
        </p:spPr>
      </p:sp>
      <p:sp>
        <p:nvSpPr>
          <p:cNvPr id="36" name="Text 34"/>
          <p:cNvSpPr/>
          <p:nvPr/>
        </p:nvSpPr>
        <p:spPr>
          <a:xfrm>
            <a:off x="9326880" y="20848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900" dirty="0"/>
          </a:p>
        </p:txBody>
      </p:sp>
      <p:sp>
        <p:nvSpPr>
          <p:cNvPr id="37" name="Text 35"/>
          <p:cNvSpPr/>
          <p:nvPr/>
        </p:nvSpPr>
        <p:spPr>
          <a:xfrm>
            <a:off x="9290304" y="2816352"/>
            <a:ext cx="2121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대시보드</a:t>
            </a:r>
            <a:endParaRPr lang="en-US" sz="1550" dirty="0"/>
          </a:p>
        </p:txBody>
      </p:sp>
      <p:sp>
        <p:nvSpPr>
          <p:cNvPr id="38" name="Text 36"/>
          <p:cNvSpPr/>
          <p:nvPr/>
        </p:nvSpPr>
        <p:spPr>
          <a:xfrm>
            <a:off x="9290304" y="3493008"/>
            <a:ext cx="212140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위험군·참여·개선을 한 </a:t>
            </a:r>
            <a:r>
              <a:rPr lang="en-US" sz="1250" dirty="0" err="1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화면에서</a:t>
            </a:r>
            <a:r>
              <a:rPr lang="en-US" sz="125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25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9290304" y="4828032"/>
            <a:ext cx="1280160" cy="384048"/>
          </a:xfrm>
          <a:prstGeom prst="roundRect">
            <a:avLst>
              <a:gd name="adj" fmla="val 50000"/>
            </a:avLst>
          </a:prstGeom>
          <a:solidFill>
            <a:srgbClr val="E1F3ED"/>
          </a:solidFill>
          <a:ln/>
        </p:spPr>
      </p:sp>
      <p:sp>
        <p:nvSpPr>
          <p:cNvPr id="40" name="Text 38"/>
          <p:cNvSpPr/>
          <p:nvPr/>
        </p:nvSpPr>
        <p:spPr>
          <a:xfrm>
            <a:off x="9290304" y="4828032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09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한눈에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1062" y="219456"/>
            <a:ext cx="1011784" cy="292608"/>
          </a:xfrm>
          <a:prstGeom prst="roundRect">
            <a:avLst>
              <a:gd name="adj" fmla="val 50000"/>
            </a:avLst>
          </a:prstGeom>
          <a:solidFill>
            <a:srgbClr val="F0F1F2"/>
          </a:solidFill>
          <a:ln/>
        </p:spPr>
      </p:sp>
      <p:sp>
        <p:nvSpPr>
          <p:cNvPr id="3" name="Text 1"/>
          <p:cNvSpPr/>
          <p:nvPr/>
        </p:nvSpPr>
        <p:spPr>
          <a:xfrm>
            <a:off x="7581062" y="219456"/>
            <a:ext cx="1011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9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제안 배경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8665997" y="219456"/>
            <a:ext cx="833704" cy="292608"/>
          </a:xfrm>
          <a:prstGeom prst="roundRect">
            <a:avLst>
              <a:gd name="adj" fmla="val 50000"/>
            </a:avLst>
          </a:prstGeom>
          <a:solidFill>
            <a:srgbClr val="2A2E35"/>
          </a:solidFill>
          <a:ln/>
        </p:spPr>
      </p:sp>
      <p:sp>
        <p:nvSpPr>
          <p:cNvPr id="5" name="Text 3"/>
          <p:cNvSpPr/>
          <p:nvPr/>
        </p:nvSpPr>
        <p:spPr>
          <a:xfrm>
            <a:off x="8665997" y="219456"/>
            <a:ext cx="833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서비스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9572854" y="219456"/>
            <a:ext cx="1046531" cy="292608"/>
          </a:xfrm>
          <a:prstGeom prst="roundRect">
            <a:avLst>
              <a:gd name="adj" fmla="val 50000"/>
            </a:avLst>
          </a:prstGeom>
          <a:solidFill>
            <a:srgbClr val="F0F1F2"/>
          </a:solidFill>
          <a:ln/>
        </p:spPr>
      </p:sp>
      <p:sp>
        <p:nvSpPr>
          <p:cNvPr id="7" name="Text 5"/>
          <p:cNvSpPr/>
          <p:nvPr/>
        </p:nvSpPr>
        <p:spPr>
          <a:xfrm>
            <a:off x="9572854" y="219456"/>
            <a:ext cx="104653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9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검증·근거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0692536" y="219456"/>
            <a:ext cx="1011784" cy="292608"/>
          </a:xfrm>
          <a:prstGeom prst="roundRect">
            <a:avLst>
              <a:gd name="adj" fmla="val 50000"/>
            </a:avLst>
          </a:prstGeom>
          <a:solidFill>
            <a:srgbClr val="F0F1F2"/>
          </a:solidFill>
          <a:ln/>
        </p:spPr>
      </p:sp>
      <p:sp>
        <p:nvSpPr>
          <p:cNvPr id="9" name="Text 7"/>
          <p:cNvSpPr/>
          <p:nvPr/>
        </p:nvSpPr>
        <p:spPr>
          <a:xfrm>
            <a:off x="10692536" y="219456"/>
            <a:ext cx="1011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9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도입 계획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66928" y="402336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7A82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FEATURE · DASHBOARD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713232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34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화면 보는 </a:t>
            </a:r>
            <a:r>
              <a:rPr lang="en-US" sz="3400" b="1" dirty="0" err="1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</a:t>
            </a:r>
            <a:r>
              <a:rPr lang="en-US" sz="34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3400" b="1" dirty="0" err="1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현황과</a:t>
            </a:r>
            <a:r>
              <a:rPr lang="en-US" sz="34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3400" b="1" dirty="0" err="1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성과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EB6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1463040"/>
            <a:ext cx="11274552" cy="4892040"/>
          </a:xfrm>
          <a:prstGeom prst="roundRect">
            <a:avLst>
              <a:gd name="adj" fmla="val 1121"/>
            </a:avLst>
          </a:prstGeom>
          <a:solidFill>
            <a:srgbClr val="FFFFFF"/>
          </a:solidFill>
          <a:ln w="12700">
            <a:solidFill>
              <a:srgbClr val="DCE1E7"/>
            </a:solidFill>
            <a:prstDash val="solid"/>
          </a:ln>
          <a:effectLst>
            <a:outerShdw blurRad="114300" dist="38100" dir="5400000" algn="bl" rotWithShape="0">
              <a:srgbClr val="9BA6B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1463040"/>
            <a:ext cx="11274552" cy="457200"/>
          </a:xfrm>
          <a:prstGeom prst="roundRect">
            <a:avLst>
              <a:gd name="adj" fmla="val 12000"/>
            </a:avLst>
          </a:prstGeom>
          <a:solidFill>
            <a:srgbClr val="1F2430"/>
          </a:solidFill>
          <a:ln/>
        </p:spPr>
      </p:sp>
      <p:sp>
        <p:nvSpPr>
          <p:cNvPr id="15" name="Shape 13"/>
          <p:cNvSpPr/>
          <p:nvPr/>
        </p:nvSpPr>
        <p:spPr>
          <a:xfrm>
            <a:off x="685800" y="1618488"/>
            <a:ext cx="137160" cy="137160"/>
          </a:xfrm>
          <a:prstGeom prst="ellipse">
            <a:avLst/>
          </a:prstGeom>
          <a:solidFill>
            <a:srgbClr val="D55E00"/>
          </a:solidFill>
          <a:ln/>
        </p:spPr>
      </p:sp>
      <p:sp>
        <p:nvSpPr>
          <p:cNvPr id="16" name="Shape 14"/>
          <p:cNvSpPr/>
          <p:nvPr/>
        </p:nvSpPr>
        <p:spPr>
          <a:xfrm>
            <a:off x="914400" y="1618488"/>
            <a:ext cx="137160" cy="137160"/>
          </a:xfrm>
          <a:prstGeom prst="ellipse">
            <a:avLst/>
          </a:prstGeom>
          <a:solidFill>
            <a:srgbClr val="E69F00"/>
          </a:solidFill>
          <a:ln/>
        </p:spPr>
      </p:sp>
      <p:sp>
        <p:nvSpPr>
          <p:cNvPr id="17" name="Shape 15"/>
          <p:cNvSpPr/>
          <p:nvPr/>
        </p:nvSpPr>
        <p:spPr>
          <a:xfrm>
            <a:off x="1143000" y="1618488"/>
            <a:ext cx="137160" cy="137160"/>
          </a:xfrm>
          <a:prstGeom prst="ellipse">
            <a:avLst/>
          </a:prstGeom>
          <a:solidFill>
            <a:srgbClr val="009E73"/>
          </a:solidFill>
          <a:ln/>
        </p:spPr>
      </p:sp>
      <p:sp>
        <p:nvSpPr>
          <p:cNvPr id="18" name="Text 16"/>
          <p:cNvSpPr/>
          <p:nvPr/>
        </p:nvSpPr>
        <p:spPr>
          <a:xfrm>
            <a:off x="1371600" y="1490472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8EB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건강신호등  ·  보건센터 대시보드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9875520" y="1490472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3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2026-07-14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31520" y="2084832"/>
            <a:ext cx="3429000" cy="1024128"/>
          </a:xfrm>
          <a:prstGeom prst="roundRect">
            <a:avLst>
              <a:gd name="adj" fmla="val 8036"/>
            </a:avLst>
          </a:prstGeom>
          <a:solidFill>
            <a:srgbClr val="F3F5F7"/>
          </a:solidFill>
          <a:ln/>
        </p:spPr>
      </p:sp>
      <p:sp>
        <p:nvSpPr>
          <p:cNvPr id="21" name="Text 19"/>
          <p:cNvSpPr/>
          <p:nvPr/>
        </p:nvSpPr>
        <p:spPr>
          <a:xfrm>
            <a:off x="987552" y="2185416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8,420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1005840" y="2752344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A82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학생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334256" y="2084832"/>
            <a:ext cx="3429000" cy="1024128"/>
          </a:xfrm>
          <a:prstGeom prst="roundRect">
            <a:avLst>
              <a:gd name="adj" fmla="val 8036"/>
            </a:avLst>
          </a:prstGeom>
          <a:solidFill>
            <a:srgbClr val="F3F5F7"/>
          </a:solidFill>
          <a:ln/>
        </p:spPr>
      </p:sp>
      <p:sp>
        <p:nvSpPr>
          <p:cNvPr id="24" name="Text 22"/>
          <p:cNvSpPr/>
          <p:nvPr/>
        </p:nvSpPr>
        <p:spPr>
          <a:xfrm>
            <a:off x="4590288" y="2185416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D55E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690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4608576" y="2752344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A82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위험군 (Unhealthy)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7936992" y="2084832"/>
            <a:ext cx="3429000" cy="1024128"/>
          </a:xfrm>
          <a:prstGeom prst="roundRect">
            <a:avLst>
              <a:gd name="adj" fmla="val 8036"/>
            </a:avLst>
          </a:prstGeom>
          <a:solidFill>
            <a:srgbClr val="F3F5F7"/>
          </a:solidFill>
          <a:ln/>
        </p:spPr>
      </p:sp>
      <p:sp>
        <p:nvSpPr>
          <p:cNvPr id="27" name="Text 25"/>
          <p:cNvSpPr/>
          <p:nvPr/>
        </p:nvSpPr>
        <p:spPr>
          <a:xfrm>
            <a:off x="8193024" y="2185416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9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23%</a:t>
            </a:r>
            <a:endParaRPr lang="en-US" sz="3000" dirty="0"/>
          </a:p>
        </p:txBody>
      </p:sp>
      <p:sp>
        <p:nvSpPr>
          <p:cNvPr id="28" name="Text 26"/>
          <p:cNvSpPr/>
          <p:nvPr/>
        </p:nvSpPr>
        <p:spPr>
          <a:xfrm>
            <a:off x="8211312" y="2752344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A82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이번 달 개선율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731520" y="3310128"/>
            <a:ext cx="5989320" cy="2852928"/>
          </a:xfrm>
          <a:prstGeom prst="roundRect">
            <a:avLst>
              <a:gd name="adj" fmla="val 2885"/>
            </a:avLst>
          </a:prstGeom>
          <a:solidFill>
            <a:srgbClr val="FFFFFF"/>
          </a:solidFill>
          <a:ln w="12700">
            <a:solidFill>
              <a:srgbClr val="DCE1E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60120" y="3438144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위험군 리스트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960120" y="39319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S-10428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2103120" y="4041648"/>
            <a:ext cx="146304" cy="146304"/>
          </a:xfrm>
          <a:prstGeom prst="ellipse">
            <a:avLst/>
          </a:prstGeom>
          <a:solidFill>
            <a:srgbClr val="D55E00"/>
          </a:solidFill>
          <a:ln/>
        </p:spPr>
      </p:sp>
      <p:sp>
        <p:nvSpPr>
          <p:cNvPr id="33" name="Text 31"/>
          <p:cNvSpPr/>
          <p:nvPr/>
        </p:nvSpPr>
        <p:spPr>
          <a:xfrm>
            <a:off x="2322576" y="39319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55E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Unhealthy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3703320" y="393192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수면 3.9h · 스트레스 high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960120" y="4425696"/>
            <a:ext cx="5532120" cy="0"/>
          </a:xfrm>
          <a:prstGeom prst="line">
            <a:avLst/>
          </a:prstGeom>
          <a:noFill/>
          <a:ln w="9525">
            <a:solidFill>
              <a:srgbClr val="DCE1E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60120" y="44805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S-09982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2103120" y="4590288"/>
            <a:ext cx="146304" cy="146304"/>
          </a:xfrm>
          <a:prstGeom prst="ellipse">
            <a:avLst/>
          </a:prstGeom>
          <a:solidFill>
            <a:srgbClr val="D55E00"/>
          </a:solidFill>
          <a:ln/>
        </p:spPr>
      </p:sp>
      <p:sp>
        <p:nvSpPr>
          <p:cNvPr id="38" name="Text 36"/>
          <p:cNvSpPr/>
          <p:nvPr/>
        </p:nvSpPr>
        <p:spPr>
          <a:xfrm>
            <a:off x="2322576" y="44805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55E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Unhealthy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3703320" y="448056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수면 4.5h · 흡연·음주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960120" y="4974336"/>
            <a:ext cx="5532120" cy="0"/>
          </a:xfrm>
          <a:prstGeom prst="line">
            <a:avLst/>
          </a:prstGeom>
          <a:noFill/>
          <a:ln w="9525">
            <a:solidFill>
              <a:srgbClr val="DCE1E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60120" y="50292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S-10774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2103120" y="5138928"/>
            <a:ext cx="146304" cy="146304"/>
          </a:xfrm>
          <a:prstGeom prst="ellipse">
            <a:avLst/>
          </a:prstGeom>
          <a:solidFill>
            <a:srgbClr val="E69F00"/>
          </a:solidFill>
          <a:ln/>
        </p:spPr>
      </p:sp>
      <p:sp>
        <p:nvSpPr>
          <p:cNvPr id="43" name="Text 41"/>
          <p:cNvSpPr/>
          <p:nvPr/>
        </p:nvSpPr>
        <p:spPr>
          <a:xfrm>
            <a:off x="2322576" y="50292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A874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At-risk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3703320" y="502920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활동 sedentary · 수면 5.8h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960120" y="5522976"/>
            <a:ext cx="5532120" cy="0"/>
          </a:xfrm>
          <a:prstGeom prst="line">
            <a:avLst/>
          </a:prstGeom>
          <a:noFill/>
          <a:ln w="9525">
            <a:solidFill>
              <a:srgbClr val="DCE1E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60120" y="55778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S-11045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2103120" y="5687568"/>
            <a:ext cx="146304" cy="146304"/>
          </a:xfrm>
          <a:prstGeom prst="ellipse">
            <a:avLst/>
          </a:prstGeom>
          <a:solidFill>
            <a:srgbClr val="E69F00"/>
          </a:solidFill>
          <a:ln/>
        </p:spPr>
      </p:sp>
      <p:sp>
        <p:nvSpPr>
          <p:cNvPr id="48" name="Text 46"/>
          <p:cNvSpPr/>
          <p:nvPr/>
        </p:nvSpPr>
        <p:spPr>
          <a:xfrm>
            <a:off x="2322576" y="55778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A874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At-risk</a:t>
            </a:r>
            <a:endParaRPr lang="en-US" sz="1150" dirty="0"/>
          </a:p>
        </p:txBody>
      </p:sp>
      <p:sp>
        <p:nvSpPr>
          <p:cNvPr id="49" name="Text 47"/>
          <p:cNvSpPr/>
          <p:nvPr/>
        </p:nvSpPr>
        <p:spPr>
          <a:xfrm>
            <a:off x="3703320" y="557784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BMI 29 · 스트레스 medium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6903720" y="3310128"/>
            <a:ext cx="4828032" cy="2852928"/>
          </a:xfrm>
          <a:prstGeom prst="roundRect">
            <a:avLst>
              <a:gd name="adj" fmla="val 2885"/>
            </a:avLst>
          </a:prstGeom>
          <a:solidFill>
            <a:srgbClr val="FFFFFF"/>
          </a:solidFill>
          <a:ln w="12700">
            <a:solidFill>
              <a:srgbClr val="DCE1E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132320" y="3438144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개입 프로그램 참여율</a:t>
            </a:r>
            <a:endParaRPr lang="en-US" sz="1350" dirty="0"/>
          </a:p>
        </p:txBody>
      </p:sp>
      <p:sp>
        <p:nvSpPr>
          <p:cNvPr id="52" name="Text 50"/>
          <p:cNvSpPr/>
          <p:nvPr/>
        </p:nvSpPr>
        <p:spPr>
          <a:xfrm>
            <a:off x="7132320" y="374904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정기 건강 리포트</a:t>
            </a:r>
            <a:endParaRPr lang="en-US" sz="1150" dirty="0"/>
          </a:p>
        </p:txBody>
      </p:sp>
      <p:sp>
        <p:nvSpPr>
          <p:cNvPr id="53" name="Shape 51"/>
          <p:cNvSpPr/>
          <p:nvPr/>
        </p:nvSpPr>
        <p:spPr>
          <a:xfrm>
            <a:off x="7132320" y="4005072"/>
            <a:ext cx="3108960" cy="219456"/>
          </a:xfrm>
          <a:prstGeom prst="roundRect">
            <a:avLst>
              <a:gd name="adj" fmla="val 20833"/>
            </a:avLst>
          </a:prstGeom>
          <a:solidFill>
            <a:srgbClr val="E9EDF1"/>
          </a:solidFill>
          <a:ln/>
        </p:spPr>
      </p:sp>
      <p:sp>
        <p:nvSpPr>
          <p:cNvPr id="54" name="Shape 52"/>
          <p:cNvSpPr/>
          <p:nvPr/>
        </p:nvSpPr>
        <p:spPr>
          <a:xfrm>
            <a:off x="7132320" y="4005072"/>
            <a:ext cx="2424989" cy="219456"/>
          </a:xfrm>
          <a:prstGeom prst="roundRect">
            <a:avLst>
              <a:gd name="adj" fmla="val 20833"/>
            </a:avLst>
          </a:prstGeom>
          <a:solidFill>
            <a:srgbClr val="009E73"/>
          </a:solidFill>
          <a:ln/>
        </p:spPr>
      </p:sp>
      <p:sp>
        <p:nvSpPr>
          <p:cNvPr id="55" name="Text 53"/>
          <p:cNvSpPr/>
          <p:nvPr/>
        </p:nvSpPr>
        <p:spPr>
          <a:xfrm>
            <a:off x="10378440" y="3950208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9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78%</a:t>
            </a:r>
            <a:endParaRPr lang="en-US" sz="1250" dirty="0"/>
          </a:p>
        </p:txBody>
      </p:sp>
      <p:sp>
        <p:nvSpPr>
          <p:cNvPr id="56" name="Text 54"/>
          <p:cNvSpPr/>
          <p:nvPr/>
        </p:nvSpPr>
        <p:spPr>
          <a:xfrm>
            <a:off x="7132320" y="4462272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생활습관 코칭</a:t>
            </a:r>
            <a:endParaRPr lang="en-US" sz="1150" dirty="0"/>
          </a:p>
        </p:txBody>
      </p:sp>
      <p:sp>
        <p:nvSpPr>
          <p:cNvPr id="57" name="Shape 55"/>
          <p:cNvSpPr/>
          <p:nvPr/>
        </p:nvSpPr>
        <p:spPr>
          <a:xfrm>
            <a:off x="7132320" y="4718304"/>
            <a:ext cx="3108960" cy="219456"/>
          </a:xfrm>
          <a:prstGeom prst="roundRect">
            <a:avLst>
              <a:gd name="adj" fmla="val 20833"/>
            </a:avLst>
          </a:prstGeom>
          <a:solidFill>
            <a:srgbClr val="E9EDF1"/>
          </a:solidFill>
          <a:ln/>
        </p:spPr>
      </p:sp>
      <p:sp>
        <p:nvSpPr>
          <p:cNvPr id="58" name="Shape 56"/>
          <p:cNvSpPr/>
          <p:nvPr/>
        </p:nvSpPr>
        <p:spPr>
          <a:xfrm>
            <a:off x="7132320" y="4718304"/>
            <a:ext cx="1896466" cy="219456"/>
          </a:xfrm>
          <a:prstGeom prst="roundRect">
            <a:avLst>
              <a:gd name="adj" fmla="val 20833"/>
            </a:avLst>
          </a:prstGeom>
          <a:solidFill>
            <a:srgbClr val="E69F00"/>
          </a:solidFill>
          <a:ln/>
        </p:spPr>
      </p:sp>
      <p:sp>
        <p:nvSpPr>
          <p:cNvPr id="59" name="Text 57"/>
          <p:cNvSpPr/>
          <p:nvPr/>
        </p:nvSpPr>
        <p:spPr>
          <a:xfrm>
            <a:off x="10378440" y="4663440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A874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61%</a:t>
            </a:r>
            <a:endParaRPr lang="en-US" sz="1250" dirty="0"/>
          </a:p>
        </p:txBody>
      </p:sp>
      <p:sp>
        <p:nvSpPr>
          <p:cNvPr id="60" name="Text 58"/>
          <p:cNvSpPr/>
          <p:nvPr/>
        </p:nvSpPr>
        <p:spPr>
          <a:xfrm>
            <a:off x="7132320" y="5175504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상담 연계</a:t>
            </a:r>
            <a:endParaRPr lang="en-US" sz="1150" dirty="0"/>
          </a:p>
        </p:txBody>
      </p:sp>
      <p:sp>
        <p:nvSpPr>
          <p:cNvPr id="61" name="Shape 59"/>
          <p:cNvSpPr/>
          <p:nvPr/>
        </p:nvSpPr>
        <p:spPr>
          <a:xfrm>
            <a:off x="7132320" y="5431536"/>
            <a:ext cx="3108960" cy="219456"/>
          </a:xfrm>
          <a:prstGeom prst="roundRect">
            <a:avLst>
              <a:gd name="adj" fmla="val 20833"/>
            </a:avLst>
          </a:prstGeom>
          <a:solidFill>
            <a:srgbClr val="E9EDF1"/>
          </a:solidFill>
          <a:ln/>
        </p:spPr>
      </p:sp>
      <p:sp>
        <p:nvSpPr>
          <p:cNvPr id="62" name="Shape 60"/>
          <p:cNvSpPr/>
          <p:nvPr/>
        </p:nvSpPr>
        <p:spPr>
          <a:xfrm>
            <a:off x="7132320" y="5431536"/>
            <a:ext cx="1367942" cy="219456"/>
          </a:xfrm>
          <a:prstGeom prst="roundRect">
            <a:avLst>
              <a:gd name="adj" fmla="val 20833"/>
            </a:avLst>
          </a:prstGeom>
          <a:solidFill>
            <a:srgbClr val="D55E00"/>
          </a:solidFill>
          <a:ln/>
        </p:spPr>
      </p:sp>
      <p:sp>
        <p:nvSpPr>
          <p:cNvPr id="63" name="Text 61"/>
          <p:cNvSpPr/>
          <p:nvPr/>
        </p:nvSpPr>
        <p:spPr>
          <a:xfrm>
            <a:off x="10378440" y="5376672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55E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44%</a:t>
            </a:r>
            <a:endParaRPr lang="en-US" sz="1250" dirty="0"/>
          </a:p>
        </p:txBody>
      </p:sp>
      <p:sp>
        <p:nvSpPr>
          <p:cNvPr id="64" name="Text 62"/>
          <p:cNvSpPr/>
          <p:nvPr/>
        </p:nvSpPr>
        <p:spPr>
          <a:xfrm>
            <a:off x="7132320" y="5943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AEB6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* 서비스 화면 예시 — 수치는 목업 샘플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1062" y="219456"/>
            <a:ext cx="1011784" cy="292608"/>
          </a:xfrm>
          <a:prstGeom prst="roundRect">
            <a:avLst>
              <a:gd name="adj" fmla="val 50000"/>
            </a:avLst>
          </a:prstGeom>
          <a:solidFill>
            <a:srgbClr val="3B4354"/>
          </a:solidFill>
          <a:ln/>
        </p:spPr>
      </p:sp>
      <p:sp>
        <p:nvSpPr>
          <p:cNvPr id="3" name="Text 1"/>
          <p:cNvSpPr/>
          <p:nvPr/>
        </p:nvSpPr>
        <p:spPr>
          <a:xfrm>
            <a:off x="7581062" y="219456"/>
            <a:ext cx="1011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AA3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제안 배경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8665997" y="219456"/>
            <a:ext cx="833704" cy="292608"/>
          </a:xfrm>
          <a:prstGeom prst="roundRect">
            <a:avLst>
              <a:gd name="adj" fmla="val 50000"/>
            </a:avLst>
          </a:prstGeom>
          <a:solidFill>
            <a:srgbClr val="3B4354"/>
          </a:solidFill>
          <a:ln/>
        </p:spPr>
      </p:sp>
      <p:sp>
        <p:nvSpPr>
          <p:cNvPr id="5" name="Text 3"/>
          <p:cNvSpPr/>
          <p:nvPr/>
        </p:nvSpPr>
        <p:spPr>
          <a:xfrm>
            <a:off x="8665997" y="219456"/>
            <a:ext cx="833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AA3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서비스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9572854" y="219456"/>
            <a:ext cx="1046531" cy="292608"/>
          </a:xfrm>
          <a:prstGeom prst="roundRect">
            <a:avLst>
              <a:gd name="adj" fmla="val 50000"/>
            </a:avLst>
          </a:prstGeom>
          <a:solidFill>
            <a:srgbClr val="E8EBF0"/>
          </a:solidFill>
          <a:ln/>
        </p:spPr>
      </p:sp>
      <p:sp>
        <p:nvSpPr>
          <p:cNvPr id="7" name="Text 5"/>
          <p:cNvSpPr/>
          <p:nvPr/>
        </p:nvSpPr>
        <p:spPr>
          <a:xfrm>
            <a:off x="9572854" y="219456"/>
            <a:ext cx="104653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검증·근거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0692536" y="219456"/>
            <a:ext cx="1011784" cy="292608"/>
          </a:xfrm>
          <a:prstGeom prst="roundRect">
            <a:avLst>
              <a:gd name="adj" fmla="val 50000"/>
            </a:avLst>
          </a:prstGeom>
          <a:solidFill>
            <a:srgbClr val="3B4354"/>
          </a:solidFill>
          <a:ln/>
        </p:spPr>
      </p:sp>
      <p:sp>
        <p:nvSpPr>
          <p:cNvPr id="9" name="Text 7"/>
          <p:cNvSpPr/>
          <p:nvPr/>
        </p:nvSpPr>
        <p:spPr>
          <a:xfrm>
            <a:off x="10692536" y="219456"/>
            <a:ext cx="1011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AA3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도입 계획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9459468" y="1527048"/>
            <a:ext cx="1472184" cy="4306824"/>
          </a:xfrm>
          <a:prstGeom prst="roundRect">
            <a:avLst>
              <a:gd name="adj" fmla="val 11180"/>
            </a:avLst>
          </a:prstGeom>
          <a:solidFill>
            <a:srgbClr val="2B313E"/>
          </a:solidFill>
          <a:ln w="15875">
            <a:solidFill>
              <a:srgbClr val="3B435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715500" y="1783080"/>
            <a:ext cx="960120" cy="960120"/>
          </a:xfrm>
          <a:prstGeom prst="ellipse">
            <a:avLst/>
          </a:prstGeom>
          <a:solidFill>
            <a:srgbClr val="D55E00"/>
          </a:solidFill>
          <a:ln/>
        </p:spPr>
      </p:sp>
      <p:sp>
        <p:nvSpPr>
          <p:cNvPr id="12" name="Shape 10"/>
          <p:cNvSpPr/>
          <p:nvPr/>
        </p:nvSpPr>
        <p:spPr>
          <a:xfrm>
            <a:off x="9715500" y="3200400"/>
            <a:ext cx="960120" cy="960120"/>
          </a:xfrm>
          <a:prstGeom prst="ellipse">
            <a:avLst/>
          </a:prstGeom>
          <a:solidFill>
            <a:srgbClr val="E69F00"/>
          </a:solidFill>
          <a:ln/>
        </p:spPr>
      </p:sp>
      <p:sp>
        <p:nvSpPr>
          <p:cNvPr id="13" name="Shape 11"/>
          <p:cNvSpPr/>
          <p:nvPr/>
        </p:nvSpPr>
        <p:spPr>
          <a:xfrm>
            <a:off x="9715500" y="4617720"/>
            <a:ext cx="960120" cy="960120"/>
          </a:xfrm>
          <a:prstGeom prst="ellipse">
            <a:avLst/>
          </a:prstGeom>
          <a:solidFill>
            <a:srgbClr val="009E73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23317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400" dirty="0">
                <a:solidFill>
                  <a:srgbClr val="E69F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EVIDENCE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95528" y="274320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이 신호를 믿을 수 있는가</a:t>
            </a:r>
            <a:endParaRPr lang="en-US" sz="3800" dirty="0"/>
          </a:p>
        </p:txBody>
      </p:sp>
      <p:sp>
        <p:nvSpPr>
          <p:cNvPr id="16" name="Text 14"/>
          <p:cNvSpPr/>
          <p:nvPr/>
        </p:nvSpPr>
        <p:spPr>
          <a:xfrm>
            <a:off x="832104" y="3822192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650" dirty="0">
                <a:solidFill>
                  <a:srgbClr val="9AA3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690,088건 데이터로 </a:t>
            </a:r>
            <a:r>
              <a:rPr lang="en-US" sz="1650" dirty="0" err="1">
                <a:solidFill>
                  <a:srgbClr val="9AA3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검증한</a:t>
            </a:r>
            <a:r>
              <a:rPr lang="en-US" sz="1650" dirty="0">
                <a:solidFill>
                  <a:srgbClr val="9AA3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650" dirty="0" err="1">
                <a:solidFill>
                  <a:srgbClr val="9AA3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</a:t>
            </a:r>
            <a:r>
              <a:rPr lang="en-US" sz="1650" dirty="0">
                <a:solidFill>
                  <a:srgbClr val="9AA3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650" dirty="0" err="1">
                <a:solidFill>
                  <a:srgbClr val="9AA3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제시</a:t>
            </a:r>
            <a:endParaRPr lang="en-US" sz="1650" dirty="0">
              <a:solidFill>
                <a:srgbClr val="9AA3B0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B43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1062" y="219456"/>
            <a:ext cx="1011784" cy="292608"/>
          </a:xfrm>
          <a:prstGeom prst="roundRect">
            <a:avLst>
              <a:gd name="adj" fmla="val 50000"/>
            </a:avLst>
          </a:prstGeom>
          <a:solidFill>
            <a:srgbClr val="F0F1F2"/>
          </a:solidFill>
          <a:ln/>
        </p:spPr>
      </p:sp>
      <p:sp>
        <p:nvSpPr>
          <p:cNvPr id="3" name="Text 1"/>
          <p:cNvSpPr/>
          <p:nvPr/>
        </p:nvSpPr>
        <p:spPr>
          <a:xfrm>
            <a:off x="7581062" y="219456"/>
            <a:ext cx="1011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9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제안 배경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8665997" y="219456"/>
            <a:ext cx="833704" cy="292608"/>
          </a:xfrm>
          <a:prstGeom prst="roundRect">
            <a:avLst>
              <a:gd name="adj" fmla="val 50000"/>
            </a:avLst>
          </a:prstGeom>
          <a:solidFill>
            <a:srgbClr val="F0F1F2"/>
          </a:solidFill>
          <a:ln/>
        </p:spPr>
      </p:sp>
      <p:sp>
        <p:nvSpPr>
          <p:cNvPr id="5" name="Text 3"/>
          <p:cNvSpPr/>
          <p:nvPr/>
        </p:nvSpPr>
        <p:spPr>
          <a:xfrm>
            <a:off x="8665997" y="219456"/>
            <a:ext cx="833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9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서비스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9572854" y="219456"/>
            <a:ext cx="1046531" cy="292608"/>
          </a:xfrm>
          <a:prstGeom prst="roundRect">
            <a:avLst>
              <a:gd name="adj" fmla="val 50000"/>
            </a:avLst>
          </a:prstGeom>
          <a:solidFill>
            <a:srgbClr val="2A2E35"/>
          </a:solidFill>
          <a:ln/>
        </p:spPr>
      </p:sp>
      <p:sp>
        <p:nvSpPr>
          <p:cNvPr id="7" name="Text 5"/>
          <p:cNvSpPr/>
          <p:nvPr/>
        </p:nvSpPr>
        <p:spPr>
          <a:xfrm>
            <a:off x="9572854" y="219456"/>
            <a:ext cx="104653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검증·근거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0692536" y="219456"/>
            <a:ext cx="1011784" cy="292608"/>
          </a:xfrm>
          <a:prstGeom prst="roundRect">
            <a:avLst>
              <a:gd name="adj" fmla="val 50000"/>
            </a:avLst>
          </a:prstGeom>
          <a:solidFill>
            <a:srgbClr val="F0F1F2"/>
          </a:solidFill>
          <a:ln/>
        </p:spPr>
      </p:sp>
      <p:sp>
        <p:nvSpPr>
          <p:cNvPr id="9" name="Text 7"/>
          <p:cNvSpPr/>
          <p:nvPr/>
        </p:nvSpPr>
        <p:spPr>
          <a:xfrm>
            <a:off x="10692536" y="219456"/>
            <a:ext cx="1011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9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도입 계획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66928" y="402336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7A82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EVIDENCE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713232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34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등급을 가르는 </a:t>
            </a:r>
            <a:r>
              <a:rPr lang="en-US" sz="3400" b="1" dirty="0" err="1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수면·스트레스·활동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EB6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</a:t>
            </a:r>
            <a:endParaRPr lang="en-US" sz="1000" dirty="0"/>
          </a:p>
        </p:txBody>
      </p:sp>
      <p:pic>
        <p:nvPicPr>
          <p:cNvPr id="13" name="Image 0" descr="C:/Users/1/AppData/Local/Temp/claude/C--Users-1--claude/45391a5d-3788-4f7f-b795-a49f83cafb61/scratchpad/teammate/kaggle-student-health-risk-master/assets/effect_siz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092" y="1843228"/>
            <a:ext cx="6280597" cy="4063796"/>
          </a:xfrm>
          <a:prstGeom prst="rect">
            <a:avLst/>
          </a:prstGeom>
          <a:effectLst>
            <a:outerShdw blurRad="114300" dist="38100" dir="5400000" algn="bl" rotWithShape="0">
              <a:srgbClr val="9BA6B0">
                <a:alpha val="30000"/>
              </a:srgbClr>
            </a:outerShdw>
          </a:effectLst>
        </p:spPr>
      </p:pic>
      <p:sp>
        <p:nvSpPr>
          <p:cNvPr id="14" name="Text 11"/>
          <p:cNvSpPr/>
          <p:nvPr/>
        </p:nvSpPr>
        <p:spPr>
          <a:xfrm>
            <a:off x="6659417" y="150876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삼각검증 — 세 가지 방법이 같은 결론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6659417" y="1920240"/>
            <a:ext cx="5230368" cy="932688"/>
          </a:xfrm>
          <a:prstGeom prst="roundRect">
            <a:avLst>
              <a:gd name="adj" fmla="val 8824"/>
            </a:avLst>
          </a:prstGeom>
          <a:solidFill>
            <a:srgbClr val="F3F5F7"/>
          </a:solidFill>
          <a:ln w="12700">
            <a:solidFill>
              <a:srgbClr val="DCE1E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878873" y="2039112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09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통계 검정 (effect size)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6878873" y="2377440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stress V=0.412 · activity V=0.241 · sleep η²=0.195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6659417" y="2962656"/>
            <a:ext cx="5230368" cy="932688"/>
          </a:xfrm>
          <a:prstGeom prst="roundRect">
            <a:avLst>
              <a:gd name="adj" fmla="val 8824"/>
            </a:avLst>
          </a:prstGeom>
          <a:solidFill>
            <a:srgbClr val="F3F5F7"/>
          </a:solidFill>
          <a:ln w="12700">
            <a:solidFill>
              <a:srgbClr val="DCE1E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878873" y="3081528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09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모델 feature importance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6878873" y="3419856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동일한 상위 3개 변수를 지목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6659417" y="4005072"/>
            <a:ext cx="5230368" cy="932688"/>
          </a:xfrm>
          <a:prstGeom prst="roundRect">
            <a:avLst>
              <a:gd name="adj" fmla="val 8824"/>
            </a:avLst>
          </a:prstGeom>
          <a:solidFill>
            <a:srgbClr val="F3F5F7"/>
          </a:solidFill>
          <a:ln w="12700">
            <a:solidFill>
              <a:srgbClr val="DCE1E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878873" y="4123944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09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원본데이터 역공학</a:t>
            </a:r>
            <a:endParaRPr lang="en-US" sz="1350" dirty="0"/>
          </a:p>
        </p:txBody>
      </p:sp>
      <p:sp>
        <p:nvSpPr>
          <p:cNvPr id="23" name="Text 20"/>
          <p:cNvSpPr/>
          <p:nvPr/>
        </p:nvSpPr>
        <p:spPr>
          <a:xfrm>
            <a:off x="6878873" y="4462272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깊이 4 결정트리에 이 3개만 등장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6659417" y="5065776"/>
            <a:ext cx="5230368" cy="960120"/>
          </a:xfrm>
          <a:prstGeom prst="roundRect">
            <a:avLst>
              <a:gd name="adj" fmla="val 8571"/>
            </a:avLst>
          </a:prstGeom>
          <a:solidFill>
            <a:srgbClr val="FBE9DD"/>
          </a:solidFill>
          <a:ln/>
        </p:spPr>
      </p:sp>
      <p:sp>
        <p:nvSpPr>
          <p:cNvPr id="25" name="Text 22"/>
          <p:cNvSpPr/>
          <p:nvPr/>
        </p:nvSpPr>
        <p:spPr>
          <a:xfrm>
            <a:off x="6878873" y="5193792"/>
            <a:ext cx="48280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4000"/>
              </a:lnSpc>
              <a:buNone/>
            </a:pPr>
            <a:r>
              <a:rPr lang="en-US" sz="1250" b="1" dirty="0">
                <a:solidFill>
                  <a:srgbClr val="D55E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heart_rate · water_intake 는 effect size ≈ 0.  </a:t>
            </a:r>
          </a:p>
          <a:p>
            <a:pPr marL="0" indent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n=690k라 p값은 무의미하게 유의 — effect </a:t>
            </a:r>
            <a:r>
              <a:rPr lang="en-US" sz="1250" dirty="0" err="1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size로</a:t>
            </a:r>
            <a:r>
              <a:rPr lang="en-US" sz="125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250" dirty="0" err="1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판단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1062" y="219456"/>
            <a:ext cx="1011784" cy="292608"/>
          </a:xfrm>
          <a:prstGeom prst="roundRect">
            <a:avLst>
              <a:gd name="adj" fmla="val 50000"/>
            </a:avLst>
          </a:prstGeom>
          <a:solidFill>
            <a:srgbClr val="F0F1F2"/>
          </a:solidFill>
          <a:ln/>
        </p:spPr>
      </p:sp>
      <p:sp>
        <p:nvSpPr>
          <p:cNvPr id="3" name="Text 1"/>
          <p:cNvSpPr/>
          <p:nvPr/>
        </p:nvSpPr>
        <p:spPr>
          <a:xfrm>
            <a:off x="7581062" y="219456"/>
            <a:ext cx="1011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9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제안 배경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8665997" y="219456"/>
            <a:ext cx="833704" cy="292608"/>
          </a:xfrm>
          <a:prstGeom prst="roundRect">
            <a:avLst>
              <a:gd name="adj" fmla="val 50000"/>
            </a:avLst>
          </a:prstGeom>
          <a:solidFill>
            <a:srgbClr val="F0F1F2"/>
          </a:solidFill>
          <a:ln/>
        </p:spPr>
      </p:sp>
      <p:sp>
        <p:nvSpPr>
          <p:cNvPr id="5" name="Text 3"/>
          <p:cNvSpPr/>
          <p:nvPr/>
        </p:nvSpPr>
        <p:spPr>
          <a:xfrm>
            <a:off x="8665997" y="219456"/>
            <a:ext cx="833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9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서비스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9572854" y="219456"/>
            <a:ext cx="1046531" cy="292608"/>
          </a:xfrm>
          <a:prstGeom prst="roundRect">
            <a:avLst>
              <a:gd name="adj" fmla="val 50000"/>
            </a:avLst>
          </a:prstGeom>
          <a:solidFill>
            <a:srgbClr val="2A2E35"/>
          </a:solidFill>
          <a:ln/>
        </p:spPr>
      </p:sp>
      <p:sp>
        <p:nvSpPr>
          <p:cNvPr id="7" name="Text 5"/>
          <p:cNvSpPr/>
          <p:nvPr/>
        </p:nvSpPr>
        <p:spPr>
          <a:xfrm>
            <a:off x="9572854" y="219456"/>
            <a:ext cx="104653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검증·근거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0692536" y="219456"/>
            <a:ext cx="1011784" cy="292608"/>
          </a:xfrm>
          <a:prstGeom prst="roundRect">
            <a:avLst>
              <a:gd name="adj" fmla="val 50000"/>
            </a:avLst>
          </a:prstGeom>
          <a:solidFill>
            <a:srgbClr val="F0F1F2"/>
          </a:solidFill>
          <a:ln/>
        </p:spPr>
      </p:sp>
      <p:sp>
        <p:nvSpPr>
          <p:cNvPr id="9" name="Text 7"/>
          <p:cNvSpPr/>
          <p:nvPr/>
        </p:nvSpPr>
        <p:spPr>
          <a:xfrm>
            <a:off x="10692536" y="219456"/>
            <a:ext cx="1011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9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도입 계획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66928" y="402336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7A82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EVIDENCE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713232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결측을 </a:t>
            </a:r>
            <a:r>
              <a:rPr lang="en-US" sz="3400" b="1" dirty="0" err="1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허용하도록</a:t>
            </a:r>
            <a:r>
              <a:rPr lang="en-US" sz="34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3400" b="1" dirty="0" err="1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EB6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</a:t>
            </a:r>
            <a:endParaRPr lang="en-US" sz="1000" dirty="0"/>
          </a:p>
        </p:txBody>
      </p:sp>
      <p:pic>
        <p:nvPicPr>
          <p:cNvPr id="13" name="Image 0" descr="C:/Users/1/AppData/Local/Temp/claude/C--Users-1--claude/45391a5d-3788-4f7f-b795-a49f83cafb61/scratchpad/teammate/kaggle-student-health-risk-master/assets/missingne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883701"/>
            <a:ext cx="6126480" cy="3675814"/>
          </a:xfrm>
          <a:prstGeom prst="rect">
            <a:avLst/>
          </a:prstGeom>
          <a:effectLst>
            <a:outerShdw blurRad="114300" dist="38100" dir="5400000" algn="bl" rotWithShape="0">
              <a:srgbClr val="9BA6B0">
                <a:alpha val="30000"/>
              </a:srgbClr>
            </a:outerShdw>
          </a:effectLst>
        </p:spPr>
      </p:pic>
      <p:sp>
        <p:nvSpPr>
          <p:cNvPr id="14" name="Text 11"/>
          <p:cNvSpPr/>
          <p:nvPr/>
        </p:nvSpPr>
        <p:spPr>
          <a:xfrm>
            <a:off x="6903720" y="1600200"/>
            <a:ext cx="4709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D55E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50.7%</a:t>
            </a:r>
            <a:endParaRPr lang="en-US" sz="5200" dirty="0"/>
          </a:p>
        </p:txBody>
      </p:sp>
      <p:sp>
        <p:nvSpPr>
          <p:cNvPr id="15" name="Text 12"/>
          <p:cNvSpPr/>
          <p:nvPr/>
        </p:nvSpPr>
        <p:spPr>
          <a:xfrm>
            <a:off x="6931152" y="2432304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 완전한 행 → dropna 불가, 대치(imputation)를 전제로 설계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903720" y="3063240"/>
            <a:ext cx="4736592" cy="1600200"/>
          </a:xfrm>
          <a:prstGeom prst="roundRect">
            <a:avLst>
              <a:gd name="adj" fmla="val 5143"/>
            </a:avLst>
          </a:prstGeom>
          <a:solidFill>
            <a:srgbClr val="F3F5F7"/>
          </a:solidFill>
          <a:ln w="12700">
            <a:solidFill>
              <a:srgbClr val="DCE1E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132320" y="3218688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09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‘결측 = 정보’ 가설은 기각</a:t>
            </a:r>
            <a:endParaRPr lang="en-US" sz="1450" dirty="0"/>
          </a:p>
        </p:txBody>
      </p:sp>
      <p:sp>
        <p:nvSpPr>
          <p:cNvPr id="18" name="Text 15"/>
          <p:cNvSpPr/>
          <p:nvPr/>
        </p:nvSpPr>
        <p:spPr>
          <a:xfrm>
            <a:off x="7132320" y="3566160"/>
            <a:ext cx="4297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클래스별 결측량이 거의 동일 — 결측 자체가 위험 신호라는 가설은 통계 검정에서 기각되었다.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6903720" y="4846320"/>
            <a:ext cx="47365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7A82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유일한 예외 — bmi 결측만 타겟과 약한 연관(Cramér's V 0.031). 결측 지시자는 bmi 에만 부여.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1062" y="219456"/>
            <a:ext cx="1011784" cy="292608"/>
          </a:xfrm>
          <a:prstGeom prst="roundRect">
            <a:avLst>
              <a:gd name="adj" fmla="val 50000"/>
            </a:avLst>
          </a:prstGeom>
          <a:solidFill>
            <a:srgbClr val="F0F1F2"/>
          </a:solidFill>
          <a:ln/>
        </p:spPr>
      </p:sp>
      <p:sp>
        <p:nvSpPr>
          <p:cNvPr id="3" name="Text 1"/>
          <p:cNvSpPr/>
          <p:nvPr/>
        </p:nvSpPr>
        <p:spPr>
          <a:xfrm>
            <a:off x="7581062" y="219456"/>
            <a:ext cx="1011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9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제안 배경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8665997" y="219456"/>
            <a:ext cx="833704" cy="292608"/>
          </a:xfrm>
          <a:prstGeom prst="roundRect">
            <a:avLst>
              <a:gd name="adj" fmla="val 50000"/>
            </a:avLst>
          </a:prstGeom>
          <a:solidFill>
            <a:srgbClr val="F0F1F2"/>
          </a:solidFill>
          <a:ln/>
        </p:spPr>
      </p:sp>
      <p:sp>
        <p:nvSpPr>
          <p:cNvPr id="5" name="Text 3"/>
          <p:cNvSpPr/>
          <p:nvPr/>
        </p:nvSpPr>
        <p:spPr>
          <a:xfrm>
            <a:off x="8665997" y="219456"/>
            <a:ext cx="833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9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서비스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9572854" y="219456"/>
            <a:ext cx="1046531" cy="292608"/>
          </a:xfrm>
          <a:prstGeom prst="roundRect">
            <a:avLst>
              <a:gd name="adj" fmla="val 50000"/>
            </a:avLst>
          </a:prstGeom>
          <a:solidFill>
            <a:srgbClr val="2A2E35"/>
          </a:solidFill>
          <a:ln/>
        </p:spPr>
      </p:sp>
      <p:sp>
        <p:nvSpPr>
          <p:cNvPr id="7" name="Text 5"/>
          <p:cNvSpPr/>
          <p:nvPr/>
        </p:nvSpPr>
        <p:spPr>
          <a:xfrm>
            <a:off x="9572854" y="219456"/>
            <a:ext cx="104653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검증·근거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0692536" y="219456"/>
            <a:ext cx="1011784" cy="292608"/>
          </a:xfrm>
          <a:prstGeom prst="roundRect">
            <a:avLst>
              <a:gd name="adj" fmla="val 50000"/>
            </a:avLst>
          </a:prstGeom>
          <a:solidFill>
            <a:srgbClr val="F0F1F2"/>
          </a:solidFill>
          <a:ln/>
        </p:spPr>
      </p:sp>
      <p:sp>
        <p:nvSpPr>
          <p:cNvPr id="9" name="Text 7"/>
          <p:cNvSpPr/>
          <p:nvPr/>
        </p:nvSpPr>
        <p:spPr>
          <a:xfrm>
            <a:off x="10692536" y="219456"/>
            <a:ext cx="1011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9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도입 계획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66928" y="402336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7A82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EVIDENCE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713232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 err="1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정확하고</a:t>
            </a:r>
            <a:r>
              <a:rPr lang="en-US" sz="34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3400" b="1" dirty="0" err="1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빠른</a:t>
            </a:r>
            <a:r>
              <a:rPr lang="en-US" sz="34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3400" b="1" dirty="0" err="1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엔진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EB6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1417320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7A82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층화 10만 행 · sample_weight = balanced · 학습 시간 측정으로 11개 모델을 동일 조건 비교</a:t>
            </a:r>
            <a:endParaRPr lang="en-US" sz="125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7360920" cy="4114800"/>
        </p:xfrm>
        <a:graphic>
          <a:graphicData uri="http://schemas.openxmlformats.org/drawingml/2006/table">
            <a:tbl>
              <a:tblPr/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97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#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E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모델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E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Balanced Acc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E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Fit (s)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E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비고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E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7A828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3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A2E3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HistGradientBoosting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3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9E7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0.95183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3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E434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4.2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3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3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7A828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A2E3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CatBoost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E434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0.94934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E434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38.9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7A828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A2E3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RandomForest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E434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0.92500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E434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5.2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7A828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A2E3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LightGBM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E434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0.92082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E434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17.6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7A828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A2E3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LogisticRegression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E434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0.91995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E434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0.8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7A828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A2E3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XGBoost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E434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0.91804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E434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33.2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7A828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A2E3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GaussianNB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E434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0.87741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E434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0.2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7A828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A2E3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MLP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E434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0.87026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E434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27.2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i="1" dirty="0">
                          <a:solidFill>
                            <a:srgbClr val="7A828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가중 미지원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7A828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A2E3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DecisionTree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E434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0.87019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E434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1.4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7A828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A2E3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ExtraTrees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E434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0.83340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E434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6.7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7A828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A2E3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KNN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E434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0.67031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E434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0.01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i="1" dirty="0">
                          <a:solidFill>
                            <a:srgbClr val="7A828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예측 2.9s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15" name="Shape 12"/>
          <p:cNvSpPr/>
          <p:nvPr/>
        </p:nvSpPr>
        <p:spPr>
          <a:xfrm>
            <a:off x="8092440" y="1783080"/>
            <a:ext cx="3547872" cy="4160520"/>
          </a:xfrm>
          <a:prstGeom prst="roundRect">
            <a:avLst>
              <a:gd name="adj" fmla="val 2320"/>
            </a:avLst>
          </a:prstGeom>
          <a:solidFill>
            <a:srgbClr val="F3F5F7"/>
          </a:solidFill>
          <a:ln w="12700">
            <a:solidFill>
              <a:srgbClr val="DCE1E7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366760" y="2029968"/>
            <a:ext cx="137160" cy="137160"/>
          </a:xfrm>
          <a:prstGeom prst="ellipse">
            <a:avLst/>
          </a:prstGeom>
          <a:solidFill>
            <a:srgbClr val="D55E00"/>
          </a:solidFill>
          <a:ln/>
        </p:spPr>
      </p:sp>
      <p:sp>
        <p:nvSpPr>
          <p:cNvPr id="14" name="Shape 14"/>
          <p:cNvSpPr/>
          <p:nvPr/>
        </p:nvSpPr>
        <p:spPr>
          <a:xfrm>
            <a:off x="8595360" y="2029968"/>
            <a:ext cx="137160" cy="137160"/>
          </a:xfrm>
          <a:prstGeom prst="ellipse">
            <a:avLst/>
          </a:prstGeom>
          <a:solidFill>
            <a:srgbClr val="E69F00"/>
          </a:solidFill>
          <a:ln/>
        </p:spPr>
      </p:sp>
      <p:sp>
        <p:nvSpPr>
          <p:cNvPr id="18" name="Shape 15"/>
          <p:cNvSpPr/>
          <p:nvPr/>
        </p:nvSpPr>
        <p:spPr>
          <a:xfrm>
            <a:off x="8823960" y="2029968"/>
            <a:ext cx="137160" cy="137160"/>
          </a:xfrm>
          <a:prstGeom prst="ellipse">
            <a:avLst/>
          </a:prstGeom>
          <a:solidFill>
            <a:srgbClr val="009E73"/>
          </a:solidFill>
          <a:ln/>
        </p:spPr>
      </p:sp>
      <p:sp>
        <p:nvSpPr>
          <p:cNvPr id="19" name="Text 16"/>
          <p:cNvSpPr/>
          <p:nvPr/>
        </p:nvSpPr>
        <p:spPr>
          <a:xfrm>
            <a:off x="9144000" y="1975104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해석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8321040" y="2423160"/>
            <a:ext cx="32004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 algn="l">
              <a:lnSpc>
                <a:spcPct val="107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HistGB = 최고점(0.952) + 최속(4.2s)</a:t>
            </a:r>
            <a:endParaRPr lang="en-US" sz="1300" dirty="0"/>
          </a:p>
          <a:p>
            <a:pPr marL="203200" indent="-203200" algn="l">
              <a:lnSpc>
                <a:spcPct val="107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LogReg도 0.920 → 라벨이 단순 규칙에 가깝다는 방증</a:t>
            </a:r>
            <a:endParaRPr lang="en-US" sz="1300" dirty="0"/>
          </a:p>
          <a:p>
            <a:pPr marL="203200" indent="-203200" algn="l">
              <a:lnSpc>
                <a:spcPct val="107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부스팅·트리 계열 상위, 거리 기반(KNN) 최하</a:t>
            </a:r>
            <a:endParaRPr lang="en-US" sz="1300" dirty="0"/>
          </a:p>
          <a:p>
            <a:pPr marL="203200" indent="-203200" algn="l">
              <a:lnSpc>
                <a:spcPct val="107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동일 10만 행·동일 가중으로 공정 비교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1062" y="219456"/>
            <a:ext cx="1011784" cy="292608"/>
          </a:xfrm>
          <a:prstGeom prst="roundRect">
            <a:avLst>
              <a:gd name="adj" fmla="val 50000"/>
            </a:avLst>
          </a:prstGeom>
          <a:solidFill>
            <a:srgbClr val="F0F1F2"/>
          </a:solidFill>
          <a:ln/>
        </p:spPr>
      </p:sp>
      <p:sp>
        <p:nvSpPr>
          <p:cNvPr id="3" name="Text 1"/>
          <p:cNvSpPr/>
          <p:nvPr/>
        </p:nvSpPr>
        <p:spPr>
          <a:xfrm>
            <a:off x="7581062" y="219456"/>
            <a:ext cx="1011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9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제안 배경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8665997" y="219456"/>
            <a:ext cx="833704" cy="292608"/>
          </a:xfrm>
          <a:prstGeom prst="roundRect">
            <a:avLst>
              <a:gd name="adj" fmla="val 50000"/>
            </a:avLst>
          </a:prstGeom>
          <a:solidFill>
            <a:srgbClr val="F0F1F2"/>
          </a:solidFill>
          <a:ln/>
        </p:spPr>
      </p:sp>
      <p:sp>
        <p:nvSpPr>
          <p:cNvPr id="5" name="Text 3"/>
          <p:cNvSpPr/>
          <p:nvPr/>
        </p:nvSpPr>
        <p:spPr>
          <a:xfrm>
            <a:off x="8665997" y="219456"/>
            <a:ext cx="833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9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서비스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9572854" y="219456"/>
            <a:ext cx="1046531" cy="292608"/>
          </a:xfrm>
          <a:prstGeom prst="roundRect">
            <a:avLst>
              <a:gd name="adj" fmla="val 50000"/>
            </a:avLst>
          </a:prstGeom>
          <a:solidFill>
            <a:srgbClr val="2A2E35"/>
          </a:solidFill>
          <a:ln/>
        </p:spPr>
      </p:sp>
      <p:sp>
        <p:nvSpPr>
          <p:cNvPr id="7" name="Text 5"/>
          <p:cNvSpPr/>
          <p:nvPr/>
        </p:nvSpPr>
        <p:spPr>
          <a:xfrm>
            <a:off x="9572854" y="219456"/>
            <a:ext cx="104653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검증·근거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0692536" y="219456"/>
            <a:ext cx="1011784" cy="292608"/>
          </a:xfrm>
          <a:prstGeom prst="roundRect">
            <a:avLst>
              <a:gd name="adj" fmla="val 50000"/>
            </a:avLst>
          </a:prstGeom>
          <a:solidFill>
            <a:srgbClr val="F0F1F2"/>
          </a:solidFill>
          <a:ln/>
        </p:spPr>
      </p:sp>
      <p:sp>
        <p:nvSpPr>
          <p:cNvPr id="9" name="Text 7"/>
          <p:cNvSpPr/>
          <p:nvPr/>
        </p:nvSpPr>
        <p:spPr>
          <a:xfrm>
            <a:off x="10692536" y="219456"/>
            <a:ext cx="1011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9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도입 계획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66928" y="402336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7A82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EVIDENCE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713232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 err="1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속도</a:t>
            </a:r>
            <a:r>
              <a:rPr lang="ko-KR" altLang="en-US" sz="34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까지 확인하여</a:t>
            </a:r>
            <a:r>
              <a:rPr lang="en-US" sz="34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3400" b="1" dirty="0" err="1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엔진을</a:t>
            </a:r>
            <a:r>
              <a:rPr lang="en-US" sz="34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3400" b="1" dirty="0" err="1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EB6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</a:t>
            </a:r>
            <a:endParaRPr lang="en-US" sz="1000" dirty="0"/>
          </a:p>
        </p:txBody>
      </p:sp>
      <p:pic>
        <p:nvPicPr>
          <p:cNvPr id="13" name="Image 0" descr="C:/Users/1/AppData/Local/Temp/claude/C--Users-1--claude/45391a5d-3788-4f7f-b795-a49f83cafb61/scratchpad/teammate/kaggle-student-health-risk-master/assets/model_zoo_time_vs_sco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430" y="1554480"/>
            <a:ext cx="7481621" cy="4572000"/>
          </a:xfrm>
          <a:prstGeom prst="rect">
            <a:avLst/>
          </a:prstGeom>
          <a:effectLst>
            <a:outerShdw blurRad="114300" dist="38100" dir="5400000" algn="bl" rotWithShape="0">
              <a:srgbClr val="9BA6B0">
                <a:alpha val="30000"/>
              </a:srgbClr>
            </a:outerShdw>
          </a:effectLst>
        </p:spPr>
      </p:pic>
      <p:sp>
        <p:nvSpPr>
          <p:cNvPr id="14" name="Text 11"/>
          <p:cNvSpPr/>
          <p:nvPr/>
        </p:nvSpPr>
        <p:spPr>
          <a:xfrm>
            <a:off x="8229600" y="16459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선정 등식</a:t>
            </a:r>
            <a:endParaRPr lang="en-US" sz="1700" dirty="0"/>
          </a:p>
        </p:txBody>
      </p:sp>
      <p:sp>
        <p:nvSpPr>
          <p:cNvPr id="15" name="Shape 12"/>
          <p:cNvSpPr/>
          <p:nvPr/>
        </p:nvSpPr>
        <p:spPr>
          <a:xfrm>
            <a:off x="8229600" y="2194560"/>
            <a:ext cx="3401568" cy="658368"/>
          </a:xfrm>
          <a:prstGeom prst="roundRect">
            <a:avLst>
              <a:gd name="adj" fmla="val 12500"/>
            </a:avLst>
          </a:prstGeom>
          <a:solidFill>
            <a:srgbClr val="F3F5F7"/>
          </a:solidFill>
          <a:ln w="12700">
            <a:solidFill>
              <a:srgbClr val="DCE1E7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430768" y="2414016"/>
            <a:ext cx="219456" cy="219456"/>
          </a:xfrm>
          <a:prstGeom prst="ellipse">
            <a:avLst/>
          </a:prstGeom>
          <a:solidFill>
            <a:srgbClr val="009E73"/>
          </a:solidFill>
          <a:ln/>
        </p:spPr>
      </p:sp>
      <p:sp>
        <p:nvSpPr>
          <p:cNvPr id="17" name="Text 14"/>
          <p:cNvSpPr/>
          <p:nvPr/>
        </p:nvSpPr>
        <p:spPr>
          <a:xfrm>
            <a:off x="8778240" y="2194560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최고 Balanced Acc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8229600" y="2816352"/>
            <a:ext cx="3401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AEB6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8229600" y="3108960"/>
            <a:ext cx="3401568" cy="658368"/>
          </a:xfrm>
          <a:prstGeom prst="roundRect">
            <a:avLst>
              <a:gd name="adj" fmla="val 12500"/>
            </a:avLst>
          </a:prstGeom>
          <a:solidFill>
            <a:srgbClr val="F3F5F7"/>
          </a:solidFill>
          <a:ln w="12700">
            <a:solidFill>
              <a:srgbClr val="DCE1E7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8430768" y="3328416"/>
            <a:ext cx="219456" cy="219456"/>
          </a:xfrm>
          <a:prstGeom prst="ellipse">
            <a:avLst/>
          </a:prstGeom>
          <a:solidFill>
            <a:srgbClr val="E69F00"/>
          </a:solidFill>
          <a:ln/>
        </p:spPr>
      </p:sp>
      <p:sp>
        <p:nvSpPr>
          <p:cNvPr id="21" name="Text 18"/>
          <p:cNvSpPr/>
          <p:nvPr/>
        </p:nvSpPr>
        <p:spPr>
          <a:xfrm>
            <a:off x="8778240" y="3108960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최단 학습 시간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8229600" y="3730752"/>
            <a:ext cx="3401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AEB6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8229600" y="4023360"/>
            <a:ext cx="3401568" cy="658368"/>
          </a:xfrm>
          <a:prstGeom prst="roundRect">
            <a:avLst>
              <a:gd name="adj" fmla="val 12500"/>
            </a:avLst>
          </a:prstGeom>
          <a:solidFill>
            <a:srgbClr val="F3F5F7"/>
          </a:solidFill>
          <a:ln w="12700">
            <a:solidFill>
              <a:srgbClr val="DCE1E7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8430768" y="4242816"/>
            <a:ext cx="219456" cy="219456"/>
          </a:xfrm>
          <a:prstGeom prst="ellipse">
            <a:avLst/>
          </a:prstGeom>
          <a:solidFill>
            <a:srgbClr val="D55E00"/>
          </a:solidFill>
          <a:ln/>
        </p:spPr>
      </p:sp>
      <p:sp>
        <p:nvSpPr>
          <p:cNvPr id="25" name="Text 22"/>
          <p:cNvSpPr/>
          <p:nvPr/>
        </p:nvSpPr>
        <p:spPr>
          <a:xfrm>
            <a:off x="8778240" y="4023360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결측 강건성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8229600" y="4956048"/>
            <a:ext cx="3401568" cy="731520"/>
          </a:xfrm>
          <a:prstGeom prst="roundRect">
            <a:avLst>
              <a:gd name="adj" fmla="val 11250"/>
            </a:avLst>
          </a:prstGeom>
          <a:solidFill>
            <a:srgbClr val="1F2430"/>
          </a:solidFill>
          <a:ln/>
          <a:effectLst>
            <a:outerShdw blurRad="114300" dist="38100" dir="5400000" algn="bl" rotWithShape="0">
              <a:srgbClr val="9BA6B0">
                <a:alpha val="30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8229600" y="4956048"/>
            <a:ext cx="3401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9AA3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=  </a:t>
            </a: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HistGradientBoosting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1062" y="219456"/>
            <a:ext cx="1011784" cy="292608"/>
          </a:xfrm>
          <a:prstGeom prst="roundRect">
            <a:avLst>
              <a:gd name="adj" fmla="val 50000"/>
            </a:avLst>
          </a:prstGeom>
          <a:solidFill>
            <a:srgbClr val="F0F1F2"/>
          </a:solidFill>
          <a:ln/>
        </p:spPr>
      </p:sp>
      <p:sp>
        <p:nvSpPr>
          <p:cNvPr id="3" name="Text 1"/>
          <p:cNvSpPr/>
          <p:nvPr/>
        </p:nvSpPr>
        <p:spPr>
          <a:xfrm>
            <a:off x="7581062" y="219456"/>
            <a:ext cx="1011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9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제안 배경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8665997" y="219456"/>
            <a:ext cx="833704" cy="292608"/>
          </a:xfrm>
          <a:prstGeom prst="roundRect">
            <a:avLst>
              <a:gd name="adj" fmla="val 50000"/>
            </a:avLst>
          </a:prstGeom>
          <a:solidFill>
            <a:srgbClr val="F0F1F2"/>
          </a:solidFill>
          <a:ln/>
        </p:spPr>
      </p:sp>
      <p:sp>
        <p:nvSpPr>
          <p:cNvPr id="5" name="Text 3"/>
          <p:cNvSpPr/>
          <p:nvPr/>
        </p:nvSpPr>
        <p:spPr>
          <a:xfrm>
            <a:off x="8665997" y="219456"/>
            <a:ext cx="833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9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서비스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9572854" y="219456"/>
            <a:ext cx="1046531" cy="292608"/>
          </a:xfrm>
          <a:prstGeom prst="roundRect">
            <a:avLst>
              <a:gd name="adj" fmla="val 50000"/>
            </a:avLst>
          </a:prstGeom>
          <a:solidFill>
            <a:srgbClr val="2A2E35"/>
          </a:solidFill>
          <a:ln/>
        </p:spPr>
      </p:sp>
      <p:sp>
        <p:nvSpPr>
          <p:cNvPr id="7" name="Text 5"/>
          <p:cNvSpPr/>
          <p:nvPr/>
        </p:nvSpPr>
        <p:spPr>
          <a:xfrm>
            <a:off x="9572854" y="219456"/>
            <a:ext cx="104653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검증·근거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0692536" y="219456"/>
            <a:ext cx="1011784" cy="292608"/>
          </a:xfrm>
          <a:prstGeom prst="roundRect">
            <a:avLst>
              <a:gd name="adj" fmla="val 50000"/>
            </a:avLst>
          </a:prstGeom>
          <a:solidFill>
            <a:srgbClr val="F0F1F2"/>
          </a:solidFill>
          <a:ln/>
        </p:spPr>
      </p:sp>
      <p:sp>
        <p:nvSpPr>
          <p:cNvPr id="9" name="Text 7"/>
          <p:cNvSpPr/>
          <p:nvPr/>
        </p:nvSpPr>
        <p:spPr>
          <a:xfrm>
            <a:off x="10692536" y="219456"/>
            <a:ext cx="1011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9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도입 계획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66928" y="402336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7A82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EVIDENCE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713232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3400" b="1" dirty="0" err="1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신뢰된</a:t>
            </a:r>
            <a:r>
              <a:rPr lang="ko-KR" altLang="en-US" sz="34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3400" b="1" dirty="0" err="1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EB6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1874520"/>
            <a:ext cx="2468880" cy="914400"/>
          </a:xfrm>
          <a:prstGeom prst="roundRect">
            <a:avLst>
              <a:gd name="adj" fmla="val 8000"/>
            </a:avLst>
          </a:prstGeom>
          <a:solidFill>
            <a:srgbClr val="F3F5F7"/>
          </a:solidFill>
          <a:ln w="15875">
            <a:solidFill>
              <a:srgbClr val="DCE1E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1874520"/>
            <a:ext cx="246888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11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수치 7</a:t>
            </a:r>
            <a:endParaRPr lang="en-US" sz="1100" dirty="0"/>
          </a:p>
          <a:p>
            <a:pPr marL="0" indent="0" algn="ctr">
              <a:lnSpc>
                <a:spcPct val="98000"/>
              </a:lnSpc>
              <a:buNone/>
            </a:pPr>
            <a:r>
              <a:rPr lang="en-US" sz="11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median 대치 + 지시자</a:t>
            </a:r>
            <a:endParaRPr lang="en-US" sz="1100" dirty="0"/>
          </a:p>
          <a:p>
            <a:pPr marL="0" indent="0" algn="ctr">
              <a:lnSpc>
                <a:spcPct val="98000"/>
              </a:lnSpc>
              <a:buNone/>
            </a:pPr>
            <a:r>
              <a:rPr lang="en-US" sz="11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StandardScaler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3246120"/>
            <a:ext cx="2468880" cy="914400"/>
          </a:xfrm>
          <a:prstGeom prst="roundRect">
            <a:avLst>
              <a:gd name="adj" fmla="val 8000"/>
            </a:avLst>
          </a:prstGeom>
          <a:solidFill>
            <a:srgbClr val="F3F5F7"/>
          </a:solidFill>
          <a:ln w="15875">
            <a:solidFill>
              <a:srgbClr val="DCE1E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246120"/>
            <a:ext cx="246888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11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범주 6</a:t>
            </a:r>
            <a:endParaRPr lang="en-US" sz="1100" dirty="0"/>
          </a:p>
          <a:p>
            <a:pPr marL="0" indent="0" algn="ctr">
              <a:lnSpc>
                <a:spcPct val="98000"/>
              </a:lnSpc>
              <a:buNone/>
            </a:pPr>
            <a:r>
              <a:rPr lang="en-US" sz="11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‘missing’ 대치</a:t>
            </a:r>
            <a:endParaRPr lang="en-US" sz="1100" dirty="0"/>
          </a:p>
          <a:p>
            <a:pPr marL="0" indent="0" algn="ctr">
              <a:lnSpc>
                <a:spcPct val="98000"/>
              </a:lnSpc>
              <a:buNone/>
            </a:pPr>
            <a:r>
              <a:rPr lang="en-US" sz="11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One-Hot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0" y="2331720"/>
            <a:ext cx="20116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009E7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0" y="2331720"/>
            <a:ext cx="2011680" cy="1828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Column</a:t>
            </a:r>
            <a:endParaRPr lang="en-US" sz="1250" dirty="0"/>
          </a:p>
          <a:p>
            <a:pPr marL="0" indent="0" algn="ctr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Transformer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09360" y="2606040"/>
            <a:ext cx="246888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5875">
            <a:solidFill>
              <a:srgbClr val="009E7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09360" y="2606040"/>
            <a:ext cx="2468880" cy="12801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115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HistGradientBoosting</a:t>
            </a:r>
            <a:endParaRPr lang="en-US" sz="1150" dirty="0"/>
          </a:p>
          <a:p>
            <a:pPr marL="0" indent="0" algn="ctr">
              <a:lnSpc>
                <a:spcPct val="98000"/>
              </a:lnSpc>
              <a:buNone/>
            </a:pPr>
            <a:r>
              <a:rPr lang="en-US" sz="115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weight=balanced</a:t>
            </a:r>
            <a:endParaRPr lang="en-US" sz="1150" dirty="0"/>
          </a:p>
          <a:p>
            <a:pPr marL="0" indent="0" algn="ctr">
              <a:lnSpc>
                <a:spcPct val="98000"/>
              </a:lnSpc>
              <a:buNone/>
            </a:pPr>
            <a:r>
              <a:rPr lang="en-US" sz="115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early stopping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9418320" y="2606040"/>
            <a:ext cx="2240280" cy="1280160"/>
          </a:xfrm>
          <a:prstGeom prst="roundRect">
            <a:avLst>
              <a:gd name="adj" fmla="val 5714"/>
            </a:avLst>
          </a:prstGeom>
          <a:solidFill>
            <a:srgbClr val="F3F5F7"/>
          </a:solidFill>
          <a:ln w="15875">
            <a:solidFill>
              <a:srgbClr val="DCE1E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418320" y="2606040"/>
            <a:ext cx="2240280" cy="12801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12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StratifiedKFold (5)</a:t>
            </a:r>
            <a:endParaRPr lang="en-US" sz="1200" dirty="0"/>
          </a:p>
          <a:p>
            <a:pPr marL="0" indent="0" algn="ctr">
              <a:lnSpc>
                <a:spcPct val="98000"/>
              </a:lnSpc>
              <a:buNone/>
            </a:pPr>
            <a:r>
              <a:rPr lang="en-US" sz="12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OOF 확률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017520" y="2331720"/>
            <a:ext cx="640080" cy="0"/>
          </a:xfrm>
          <a:prstGeom prst="line">
            <a:avLst/>
          </a:prstGeom>
          <a:noFill/>
          <a:ln w="28575">
            <a:solidFill>
              <a:srgbClr val="7A828C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3017520" y="3520440"/>
            <a:ext cx="640080" cy="0"/>
          </a:xfrm>
          <a:prstGeom prst="line">
            <a:avLst/>
          </a:prstGeom>
          <a:noFill/>
          <a:ln w="28575">
            <a:solidFill>
              <a:srgbClr val="7A828C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5669280" y="3246120"/>
            <a:ext cx="640080" cy="0"/>
          </a:xfrm>
          <a:prstGeom prst="line">
            <a:avLst/>
          </a:prstGeom>
          <a:noFill/>
          <a:ln w="28575">
            <a:solidFill>
              <a:srgbClr val="7A828C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8778240" y="3246120"/>
            <a:ext cx="640080" cy="0"/>
          </a:xfrm>
          <a:prstGeom prst="line">
            <a:avLst/>
          </a:prstGeom>
          <a:noFill/>
          <a:ln w="28575">
            <a:solidFill>
              <a:srgbClr val="7A828C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548640" y="4343400"/>
            <a:ext cx="11091672" cy="1737360"/>
          </a:xfrm>
          <a:prstGeom prst="roundRect">
            <a:avLst>
              <a:gd name="adj" fmla="val 4737"/>
            </a:avLst>
          </a:prstGeom>
          <a:solidFill>
            <a:srgbClr val="1F2430"/>
          </a:solidFill>
          <a:ln/>
          <a:effectLst>
            <a:outerShdw blurRad="114300" dist="38100" dir="5400000" algn="bl" rotWithShape="0">
              <a:srgbClr val="9BA6B0">
                <a:alpha val="3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868680" y="461772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09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갭 0.0001</a:t>
            </a:r>
            <a:endParaRPr lang="en-US" sz="4000" dirty="0"/>
          </a:p>
        </p:txBody>
      </p:sp>
      <p:sp>
        <p:nvSpPr>
          <p:cNvPr id="29" name="Text 27"/>
          <p:cNvSpPr/>
          <p:nvPr/>
        </p:nvSpPr>
        <p:spPr>
          <a:xfrm>
            <a:off x="896112" y="53949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9AA3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검증을 신뢰할 수 있게 만든 뒤 실험했다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754880" y="4617720"/>
            <a:ext cx="0" cy="1188720"/>
          </a:xfrm>
          <a:prstGeom prst="line">
            <a:avLst/>
          </a:prstGeom>
          <a:noFill/>
          <a:ln w="12700">
            <a:solidFill>
              <a:srgbClr val="3B435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120640" y="4709160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AA3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V1 로컬 CV  </a:t>
            </a: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0.94962</a:t>
            </a:r>
            <a:r>
              <a:rPr lang="en-US" sz="1400" dirty="0">
                <a:solidFill>
                  <a:srgbClr val="9AA3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≈   Public LB  </a:t>
            </a: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0.94952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120640" y="5230368"/>
            <a:ext cx="6309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8EB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로컬 검증과 리더보드가 0.0001 차이로 일치 → 검증 체계를 먼저 신뢰 가능하게 만든 뒤 개선 실험을 진행. (sklearn API · 층화 CV 등 과제 제약 준수)</a:t>
            </a:r>
            <a:endParaRPr lang="en-US" sz="1250" dirty="0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FC7C23F8-8B9A-495C-BD32-D7A61607BE54}"/>
              </a:ext>
            </a:extLst>
          </p:cNvPr>
          <p:cNvSpPr/>
          <p:nvPr/>
        </p:nvSpPr>
        <p:spPr>
          <a:xfrm>
            <a:off x="566928" y="6222769"/>
            <a:ext cx="2387192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en-US" altLang="ko-KR" sz="1050" i="1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</a:t>
            </a:r>
            <a:r>
              <a:rPr lang="en-US" altLang="ko-KR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050" i="1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실험</a:t>
            </a:r>
            <a:r>
              <a:rPr lang="en-US" altLang="ko-KR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050" i="1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매트릭스는</a:t>
            </a:r>
            <a:r>
              <a:rPr lang="en-US" altLang="ko-KR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050" i="1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부록</a:t>
            </a:r>
            <a:r>
              <a:rPr lang="en-US" altLang="ko-KR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A4 </a:t>
            </a:r>
            <a:r>
              <a:rPr lang="en-US" altLang="ko-KR" sz="1050" i="1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참고</a:t>
            </a:r>
            <a:endParaRPr lang="en-US" altLang="ko-KR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1062" y="219456"/>
            <a:ext cx="1011784" cy="292608"/>
          </a:xfrm>
          <a:prstGeom prst="roundRect">
            <a:avLst>
              <a:gd name="adj" fmla="val 50000"/>
            </a:avLst>
          </a:prstGeom>
          <a:solidFill>
            <a:srgbClr val="F0F1F2"/>
          </a:solidFill>
          <a:ln/>
        </p:spPr>
      </p:sp>
      <p:sp>
        <p:nvSpPr>
          <p:cNvPr id="3" name="Text 1"/>
          <p:cNvSpPr/>
          <p:nvPr/>
        </p:nvSpPr>
        <p:spPr>
          <a:xfrm>
            <a:off x="7581062" y="219456"/>
            <a:ext cx="1011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9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제안 배경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8665997" y="219456"/>
            <a:ext cx="833704" cy="292608"/>
          </a:xfrm>
          <a:prstGeom prst="roundRect">
            <a:avLst>
              <a:gd name="adj" fmla="val 50000"/>
            </a:avLst>
          </a:prstGeom>
          <a:solidFill>
            <a:srgbClr val="F0F1F2"/>
          </a:solidFill>
          <a:ln/>
        </p:spPr>
      </p:sp>
      <p:sp>
        <p:nvSpPr>
          <p:cNvPr id="5" name="Text 3"/>
          <p:cNvSpPr/>
          <p:nvPr/>
        </p:nvSpPr>
        <p:spPr>
          <a:xfrm>
            <a:off x="8665997" y="219456"/>
            <a:ext cx="833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9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서비스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9572854" y="219456"/>
            <a:ext cx="1046531" cy="292608"/>
          </a:xfrm>
          <a:prstGeom prst="roundRect">
            <a:avLst>
              <a:gd name="adj" fmla="val 50000"/>
            </a:avLst>
          </a:prstGeom>
          <a:solidFill>
            <a:srgbClr val="2A2E35"/>
          </a:solidFill>
          <a:ln/>
        </p:spPr>
      </p:sp>
      <p:sp>
        <p:nvSpPr>
          <p:cNvPr id="7" name="Text 5"/>
          <p:cNvSpPr/>
          <p:nvPr/>
        </p:nvSpPr>
        <p:spPr>
          <a:xfrm>
            <a:off x="9572854" y="219456"/>
            <a:ext cx="104653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검증·근거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0692536" y="219456"/>
            <a:ext cx="1011784" cy="292608"/>
          </a:xfrm>
          <a:prstGeom prst="roundRect">
            <a:avLst>
              <a:gd name="adj" fmla="val 50000"/>
            </a:avLst>
          </a:prstGeom>
          <a:solidFill>
            <a:srgbClr val="F0F1F2"/>
          </a:solidFill>
          <a:ln/>
        </p:spPr>
      </p:sp>
      <p:sp>
        <p:nvSpPr>
          <p:cNvPr id="9" name="Text 7"/>
          <p:cNvSpPr/>
          <p:nvPr/>
        </p:nvSpPr>
        <p:spPr>
          <a:xfrm>
            <a:off x="10692536" y="219456"/>
            <a:ext cx="1011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9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도입 계획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66928" y="402336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7A82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EVIDENCE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713232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34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지속적 </a:t>
            </a:r>
            <a:r>
              <a:rPr lang="en-US" sz="3400" b="1" dirty="0" err="1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실험으로</a:t>
            </a:r>
            <a:r>
              <a:rPr lang="en-US" sz="34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34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효과 검증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EB6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1554480"/>
            <a:ext cx="5440680" cy="3794760"/>
          </a:xfrm>
          <a:prstGeom prst="roundRect">
            <a:avLst>
              <a:gd name="adj" fmla="val 2169"/>
            </a:avLst>
          </a:prstGeom>
          <a:solidFill>
            <a:srgbClr val="E1F3ED"/>
          </a:solidFill>
          <a:ln/>
        </p:spPr>
      </p:sp>
      <p:sp>
        <p:nvSpPr>
          <p:cNvPr id="14" name="Shape 12"/>
          <p:cNvSpPr/>
          <p:nvPr/>
        </p:nvSpPr>
        <p:spPr>
          <a:xfrm>
            <a:off x="777240" y="1755648"/>
            <a:ext cx="1234440" cy="365760"/>
          </a:xfrm>
          <a:prstGeom prst="roundRect">
            <a:avLst>
              <a:gd name="adj" fmla="val 50000"/>
            </a:avLst>
          </a:prstGeom>
          <a:solidFill>
            <a:srgbClr val="009E73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1755648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채택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148840" y="17556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9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점수를 실제로 올린 것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22960" y="2395728"/>
            <a:ext cx="146304" cy="146304"/>
          </a:xfrm>
          <a:prstGeom prst="ellipse">
            <a:avLst/>
          </a:prstGeom>
          <a:solidFill>
            <a:srgbClr val="009E73"/>
          </a:solidFill>
          <a:ln/>
        </p:spPr>
      </p:sp>
      <p:sp>
        <p:nvSpPr>
          <p:cNvPr id="18" name="Text 16"/>
          <p:cNvSpPr/>
          <p:nvPr/>
        </p:nvSpPr>
        <p:spPr>
          <a:xfrm>
            <a:off x="1133856" y="2331720"/>
            <a:ext cx="46268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exact-value Target Encoding  +0.0008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822960" y="3264408"/>
            <a:ext cx="146304" cy="146304"/>
          </a:xfrm>
          <a:prstGeom prst="ellipse">
            <a:avLst/>
          </a:prstGeom>
          <a:solidFill>
            <a:srgbClr val="009E73"/>
          </a:solidFill>
          <a:ln/>
        </p:spPr>
      </p:sp>
      <p:sp>
        <p:nvSpPr>
          <p:cNvPr id="20" name="Text 18"/>
          <p:cNvSpPr/>
          <p:nvPr/>
        </p:nvSpPr>
        <p:spPr>
          <a:xfrm>
            <a:off x="1133856" y="3200400"/>
            <a:ext cx="46268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10-fold × 7-seed 분산 축소  +0.00025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822960" y="4133088"/>
            <a:ext cx="146304" cy="146304"/>
          </a:xfrm>
          <a:prstGeom prst="ellipse">
            <a:avLst/>
          </a:prstGeom>
          <a:solidFill>
            <a:srgbClr val="E69F00"/>
          </a:solidFill>
          <a:ln/>
        </p:spPr>
      </p:sp>
      <p:sp>
        <p:nvSpPr>
          <p:cNvPr id="22" name="Text 20"/>
          <p:cNvSpPr/>
          <p:nvPr/>
        </p:nvSpPr>
        <p:spPr>
          <a:xfrm>
            <a:off x="1133856" y="4069080"/>
            <a:ext cx="46268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RealMLP 확률 블렌드 (honest OOF 0.95088)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6172200" y="1554480"/>
            <a:ext cx="5468112" cy="3794760"/>
          </a:xfrm>
          <a:prstGeom prst="roundRect">
            <a:avLst>
              <a:gd name="adj" fmla="val 2169"/>
            </a:avLst>
          </a:prstGeom>
          <a:solidFill>
            <a:srgbClr val="FBE9DD"/>
          </a:solidFill>
          <a:ln/>
        </p:spPr>
      </p:sp>
      <p:sp>
        <p:nvSpPr>
          <p:cNvPr id="24" name="Shape 22"/>
          <p:cNvSpPr/>
          <p:nvPr/>
        </p:nvSpPr>
        <p:spPr>
          <a:xfrm>
            <a:off x="6400800" y="1755648"/>
            <a:ext cx="1234440" cy="365760"/>
          </a:xfrm>
          <a:prstGeom prst="roundRect">
            <a:avLst>
              <a:gd name="adj" fmla="val 50000"/>
            </a:avLst>
          </a:prstGeom>
          <a:solidFill>
            <a:srgbClr val="D55E00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0" y="1755648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기각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772400" y="17556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55E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실험으로 걸러낸 것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446520" y="2395728"/>
            <a:ext cx="146304" cy="146304"/>
          </a:xfrm>
          <a:prstGeom prst="ellipse">
            <a:avLst/>
          </a:prstGeom>
          <a:solidFill>
            <a:srgbClr val="D55E00"/>
          </a:solidFill>
          <a:ln/>
        </p:spPr>
      </p:sp>
      <p:sp>
        <p:nvSpPr>
          <p:cNvPr id="28" name="Text 26"/>
          <p:cNvSpPr/>
          <p:nvPr/>
        </p:nvSpPr>
        <p:spPr>
          <a:xfrm>
            <a:off x="6757416" y="2331720"/>
            <a:ext cx="471830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원본데이터 증강  −0.0006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446520" y="3108960"/>
            <a:ext cx="146304" cy="146304"/>
          </a:xfrm>
          <a:prstGeom prst="ellipse">
            <a:avLst/>
          </a:prstGeom>
          <a:solidFill>
            <a:srgbClr val="D55E00"/>
          </a:solidFill>
          <a:ln/>
        </p:spPr>
      </p:sp>
      <p:sp>
        <p:nvSpPr>
          <p:cNvPr id="30" name="Text 28"/>
          <p:cNvSpPr/>
          <p:nvPr/>
        </p:nvSpPr>
        <p:spPr>
          <a:xfrm>
            <a:off x="6757416" y="3044952"/>
            <a:ext cx="471830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Optuna 튜닝: 서브샘플 +0.0017이 풀데이터 +0.0000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446520" y="3822192"/>
            <a:ext cx="146304" cy="146304"/>
          </a:xfrm>
          <a:prstGeom prst="ellipse">
            <a:avLst/>
          </a:prstGeom>
          <a:solidFill>
            <a:srgbClr val="D55E00"/>
          </a:solidFill>
          <a:ln/>
        </p:spPr>
      </p:sp>
      <p:sp>
        <p:nvSpPr>
          <p:cNvPr id="32" name="Text 30"/>
          <p:cNvSpPr/>
          <p:nvPr/>
        </p:nvSpPr>
        <p:spPr>
          <a:xfrm>
            <a:off x="6757416" y="3758184"/>
            <a:ext cx="471830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유사 트리 보팅: 예측일치 97.9%, 가중 100% 집중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446520" y="4535424"/>
            <a:ext cx="146304" cy="146304"/>
          </a:xfrm>
          <a:prstGeom prst="ellipse">
            <a:avLst/>
          </a:prstGeom>
          <a:solidFill>
            <a:srgbClr val="D55E00"/>
          </a:solidFill>
          <a:ln/>
        </p:spPr>
      </p:sp>
      <p:sp>
        <p:nvSpPr>
          <p:cNvPr id="34" name="Text 32"/>
          <p:cNvSpPr/>
          <p:nvPr/>
        </p:nvSpPr>
        <p:spPr>
          <a:xfrm>
            <a:off x="6757416" y="4471416"/>
            <a:ext cx="471830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 피처 · 소프트 임퓨테이션 · 세그먼트 TE 등 6종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548640" y="5532120"/>
            <a:ext cx="11091672" cy="841248"/>
          </a:xfrm>
          <a:prstGeom prst="roundRect">
            <a:avLst>
              <a:gd name="adj" fmla="val 9783"/>
            </a:avLst>
          </a:prstGeom>
          <a:solidFill>
            <a:srgbClr val="1F2430"/>
          </a:solidFill>
          <a:ln/>
          <a:effectLst>
            <a:outerShdw blurRad="114300" dist="38100" dir="5400000" algn="bl" rotWithShape="0">
              <a:srgbClr val="9BA6B0">
                <a:alpha val="3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548640" y="5532120"/>
            <a:ext cx="1109167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명이 독립 실험로로 같은 기각 결론에 도달  </a:t>
            </a:r>
            <a:r>
              <a:rPr lang="en-US" sz="1300" dirty="0">
                <a:solidFill>
                  <a:srgbClr val="9AA3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우연이 아니라 데이터 구조(라벨 = 규칙 + 노이즈, 천장 ~0.952)</a:t>
            </a:r>
          </a:p>
          <a:p>
            <a:pPr algn="ctr"/>
            <a:r>
              <a:rPr lang="en-US" altLang="ko-KR" sz="140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</a:rPr>
              <a:t>효과</a:t>
            </a:r>
            <a:r>
              <a:rPr lang="en-US" altLang="ko-KR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</a:rPr>
              <a:t> </a:t>
            </a:r>
            <a:r>
              <a:rPr lang="en-US" altLang="ko-KR" sz="140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</a:rPr>
              <a:t>없는</a:t>
            </a:r>
            <a:r>
              <a:rPr lang="en-US" altLang="ko-KR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</a:rPr>
              <a:t> </a:t>
            </a:r>
            <a:r>
              <a:rPr lang="en-US" altLang="ko-KR" sz="140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</a:rPr>
              <a:t>것은</a:t>
            </a:r>
            <a:r>
              <a:rPr lang="en-US" altLang="ko-KR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</a:rPr>
              <a:t> </a:t>
            </a:r>
            <a:r>
              <a:rPr lang="en-US" altLang="ko-KR" sz="140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</a:rPr>
              <a:t>실험으로</a:t>
            </a:r>
            <a:r>
              <a:rPr lang="en-US" altLang="ko-KR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</a:rPr>
              <a:t> </a:t>
            </a:r>
            <a:r>
              <a:rPr lang="en-US" altLang="ko-KR" sz="140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</a:rPr>
              <a:t>걸러</a:t>
            </a:r>
            <a:r>
              <a:rPr lang="ko-KR" alt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</a:rPr>
              <a:t>내기</a:t>
            </a:r>
            <a:endParaRPr lang="en-US" altLang="ko-KR" sz="1400" b="1" dirty="0">
              <a:solidFill>
                <a:srgbClr val="FFFFFF"/>
              </a:solidFill>
              <a:latin typeface="Malgun Gothic" pitchFamily="34" charset="0"/>
              <a:ea typeface="Malgun Gothic" pitchFamily="34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1062" y="219456"/>
            <a:ext cx="1011784" cy="292608"/>
          </a:xfrm>
          <a:prstGeom prst="roundRect">
            <a:avLst>
              <a:gd name="adj" fmla="val 50000"/>
            </a:avLst>
          </a:prstGeom>
          <a:solidFill>
            <a:srgbClr val="F0F1F2"/>
          </a:solidFill>
          <a:ln/>
        </p:spPr>
      </p:sp>
      <p:sp>
        <p:nvSpPr>
          <p:cNvPr id="3" name="Text 1"/>
          <p:cNvSpPr/>
          <p:nvPr/>
        </p:nvSpPr>
        <p:spPr>
          <a:xfrm>
            <a:off x="7581062" y="219456"/>
            <a:ext cx="1011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9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제안 배경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8665997" y="219456"/>
            <a:ext cx="833704" cy="292608"/>
          </a:xfrm>
          <a:prstGeom prst="roundRect">
            <a:avLst>
              <a:gd name="adj" fmla="val 50000"/>
            </a:avLst>
          </a:prstGeom>
          <a:solidFill>
            <a:srgbClr val="F0F1F2"/>
          </a:solidFill>
          <a:ln/>
        </p:spPr>
      </p:sp>
      <p:sp>
        <p:nvSpPr>
          <p:cNvPr id="5" name="Text 3"/>
          <p:cNvSpPr/>
          <p:nvPr/>
        </p:nvSpPr>
        <p:spPr>
          <a:xfrm>
            <a:off x="8665997" y="219456"/>
            <a:ext cx="833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9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서비스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9572854" y="219456"/>
            <a:ext cx="1046531" cy="292608"/>
          </a:xfrm>
          <a:prstGeom prst="roundRect">
            <a:avLst>
              <a:gd name="adj" fmla="val 50000"/>
            </a:avLst>
          </a:prstGeom>
          <a:solidFill>
            <a:srgbClr val="2A2E35"/>
          </a:solidFill>
          <a:ln/>
        </p:spPr>
      </p:sp>
      <p:sp>
        <p:nvSpPr>
          <p:cNvPr id="7" name="Text 5"/>
          <p:cNvSpPr/>
          <p:nvPr/>
        </p:nvSpPr>
        <p:spPr>
          <a:xfrm>
            <a:off x="9572854" y="219456"/>
            <a:ext cx="104653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검증·근거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0692536" y="219456"/>
            <a:ext cx="1011784" cy="292608"/>
          </a:xfrm>
          <a:prstGeom prst="roundRect">
            <a:avLst>
              <a:gd name="adj" fmla="val 50000"/>
            </a:avLst>
          </a:prstGeom>
          <a:solidFill>
            <a:srgbClr val="F0F1F2"/>
          </a:solidFill>
          <a:ln/>
        </p:spPr>
      </p:sp>
      <p:sp>
        <p:nvSpPr>
          <p:cNvPr id="9" name="Text 7"/>
          <p:cNvSpPr/>
          <p:nvPr/>
        </p:nvSpPr>
        <p:spPr>
          <a:xfrm>
            <a:off x="10692536" y="219456"/>
            <a:ext cx="1011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9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도입 계획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66928" y="402336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7A82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EVIDENCE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713232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34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검증된 개선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EB6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</a:t>
            </a:r>
            <a:endParaRPr lang="en-US" sz="1000" dirty="0"/>
          </a:p>
        </p:txBody>
      </p:sp>
      <p:pic>
        <p:nvPicPr>
          <p:cNvPr id="13" name="Image 0" descr="C:/Users/1/AppData/Local/Temp/claude/C--Users-1--claude/45391a5d-3788-4f7f-b795-a49f83cafb61/scratchpad/pptxbuild/chart_score_journe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435" y="1536192"/>
            <a:ext cx="7134771" cy="4434840"/>
          </a:xfrm>
          <a:prstGeom prst="rect">
            <a:avLst/>
          </a:prstGeom>
          <a:effectLst>
            <a:outerShdw blurRad="114300" dist="38100" dir="5400000" algn="bl" rotWithShape="0">
              <a:srgbClr val="9BA6B0">
                <a:alpha val="30000"/>
              </a:srgbClr>
            </a:outerShdw>
          </a:effectLst>
        </p:spPr>
      </p:pic>
      <p:sp>
        <p:nvSpPr>
          <p:cNvPr id="14" name="Text 11"/>
          <p:cNvSpPr/>
          <p:nvPr/>
        </p:nvSpPr>
        <p:spPr>
          <a:xfrm>
            <a:off x="8275320" y="1572768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개선 기여 분해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8275320" y="1975104"/>
            <a:ext cx="3364992" cy="1170432"/>
          </a:xfrm>
          <a:prstGeom prst="roundRect">
            <a:avLst>
              <a:gd name="adj" fmla="val 7031"/>
            </a:avLst>
          </a:prstGeom>
          <a:solidFill>
            <a:srgbClr val="E1F3ED"/>
          </a:solidFill>
          <a:ln/>
        </p:spPr>
      </p:sp>
      <p:sp>
        <p:nvSpPr>
          <p:cNvPr id="16" name="Text 13"/>
          <p:cNvSpPr/>
          <p:nvPr/>
        </p:nvSpPr>
        <p:spPr>
          <a:xfrm>
            <a:off x="8485632" y="2066544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9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+0.136</a:t>
            </a:r>
            <a:endParaRPr lang="en-US" sz="3200" dirty="0"/>
          </a:p>
        </p:txBody>
      </p:sp>
      <p:sp>
        <p:nvSpPr>
          <p:cNvPr id="17" name="Text 14"/>
          <p:cNvSpPr/>
          <p:nvPr/>
        </p:nvSpPr>
        <p:spPr>
          <a:xfrm>
            <a:off x="8485632" y="2615184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· 파생 · 불균형 대응 (로지스틱 → 부스팅+가중)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8275320" y="3273552"/>
            <a:ext cx="3364992" cy="1170432"/>
          </a:xfrm>
          <a:prstGeom prst="roundRect">
            <a:avLst>
              <a:gd name="adj" fmla="val 7031"/>
            </a:avLst>
          </a:prstGeom>
          <a:solidFill>
            <a:srgbClr val="FBEFD9"/>
          </a:solidFill>
          <a:ln/>
        </p:spPr>
      </p:sp>
      <p:sp>
        <p:nvSpPr>
          <p:cNvPr id="19" name="Text 16"/>
          <p:cNvSpPr/>
          <p:nvPr/>
        </p:nvSpPr>
        <p:spPr>
          <a:xfrm>
            <a:off x="8485632" y="3364992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A874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+0.0006</a:t>
            </a:r>
            <a:endParaRPr lang="en-US" sz="3200" dirty="0"/>
          </a:p>
        </p:txBody>
      </p:sp>
      <p:sp>
        <p:nvSpPr>
          <p:cNvPr id="20" name="Text 17"/>
          <p:cNvSpPr/>
          <p:nvPr/>
        </p:nvSpPr>
        <p:spPr>
          <a:xfrm>
            <a:off x="8485632" y="391363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Target Encoding + 10fold×7seed 정교화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8275320" y="4572000"/>
            <a:ext cx="3364992" cy="1371600"/>
          </a:xfrm>
          <a:prstGeom prst="roundRect">
            <a:avLst>
              <a:gd name="adj" fmla="val 6000"/>
            </a:avLst>
          </a:prstGeom>
          <a:solidFill>
            <a:srgbClr val="1F2430"/>
          </a:solidFill>
          <a:ln/>
          <a:effectLst>
            <a:outerShdw blurRad="114300" dist="38100" dir="5400000" algn="bl" rotWithShape="0">
              <a:srgbClr val="9BA6B0">
                <a:alpha val="30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8485632" y="468172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9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0.95015 </a:t>
            </a: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</a:t>
            </a:r>
            <a:endParaRPr lang="en-US" sz="2200" dirty="0"/>
          </a:p>
        </p:txBody>
      </p:sp>
      <p:sp>
        <p:nvSpPr>
          <p:cNvPr id="23" name="Text 20"/>
          <p:cNvSpPr/>
          <p:nvPr/>
        </p:nvSpPr>
        <p:spPr>
          <a:xfrm>
            <a:off x="8485632" y="5065776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AA3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제출 대기 카드 ~0.9511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8485632" y="5376672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AA3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리더보드 1위 기준선 0.95198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457200" y="6035040"/>
            <a:ext cx="7635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A82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0.81084 → 0.81367 → 0.94952 → 0.94982 → 0.95007 → 0.95015 — 각 단계가 통제 실험으로 검증된 </a:t>
            </a:r>
            <a:r>
              <a:rPr lang="en-US" sz="1100" i="1" dirty="0" err="1">
                <a:solidFill>
                  <a:srgbClr val="7A82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개선입니다</a:t>
            </a:r>
            <a:r>
              <a:rPr lang="en-US" sz="1100" i="1" dirty="0">
                <a:solidFill>
                  <a:srgbClr val="7A82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</a:p>
          <a:p>
            <a:r>
              <a:rPr lang="en-US" altLang="ko-KR" sz="1100" i="1" dirty="0" err="1">
                <a:solidFill>
                  <a:srgbClr val="7A828C"/>
                </a:solidFill>
                <a:latin typeface="Malgun Gothic" pitchFamily="34" charset="0"/>
                <a:ea typeface="Malgun Gothic" pitchFamily="34" charset="-122"/>
              </a:rPr>
              <a:t>근거</a:t>
            </a:r>
            <a:r>
              <a:rPr lang="en-US" altLang="ko-KR" sz="1100" i="1" dirty="0">
                <a:solidFill>
                  <a:srgbClr val="7A828C"/>
                </a:solidFill>
                <a:latin typeface="Malgun Gothic" pitchFamily="34" charset="0"/>
                <a:ea typeface="Malgun Gothic" pitchFamily="34" charset="-122"/>
              </a:rPr>
              <a:t> </a:t>
            </a:r>
            <a:r>
              <a:rPr lang="en-US" altLang="ko-KR" sz="1100" i="1" dirty="0" err="1">
                <a:solidFill>
                  <a:srgbClr val="7A828C"/>
                </a:solidFill>
                <a:latin typeface="Malgun Gothic" pitchFamily="34" charset="0"/>
                <a:ea typeface="Malgun Gothic" pitchFamily="34" charset="-122"/>
              </a:rPr>
              <a:t>있는</a:t>
            </a:r>
            <a:r>
              <a:rPr lang="en-US" altLang="ko-KR" sz="1100" i="1" dirty="0">
                <a:solidFill>
                  <a:srgbClr val="7A828C"/>
                </a:solidFill>
                <a:latin typeface="Malgun Gothic" pitchFamily="34" charset="0"/>
                <a:ea typeface="Malgun Gothic" pitchFamily="34" charset="-122"/>
              </a:rPr>
              <a:t> </a:t>
            </a:r>
            <a:r>
              <a:rPr lang="en-US" altLang="ko-KR" sz="1100" i="1" dirty="0" err="1">
                <a:solidFill>
                  <a:srgbClr val="7A828C"/>
                </a:solidFill>
                <a:latin typeface="Malgun Gothic" pitchFamily="34" charset="0"/>
                <a:ea typeface="Malgun Gothic" pitchFamily="34" charset="-122"/>
              </a:rPr>
              <a:t>개선만</a:t>
            </a:r>
            <a:r>
              <a:rPr lang="en-US" altLang="ko-KR" sz="1100" i="1" dirty="0">
                <a:solidFill>
                  <a:srgbClr val="7A828C"/>
                </a:solidFill>
                <a:latin typeface="Malgun Gothic" pitchFamily="34" charset="0"/>
                <a:ea typeface="Malgun Gothic" pitchFamily="34" charset="-122"/>
              </a:rPr>
              <a:t> </a:t>
            </a:r>
            <a:r>
              <a:rPr lang="en-US" altLang="ko-KR" sz="1100" i="1" dirty="0" err="1">
                <a:solidFill>
                  <a:srgbClr val="7A828C"/>
                </a:solidFill>
                <a:latin typeface="Malgun Gothic" pitchFamily="34" charset="0"/>
                <a:ea typeface="Malgun Gothic" pitchFamily="34" charset="-122"/>
              </a:rPr>
              <a:t>남겼습니다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1062" y="219456"/>
            <a:ext cx="1011784" cy="292608"/>
          </a:xfrm>
          <a:prstGeom prst="roundRect">
            <a:avLst>
              <a:gd name="adj" fmla="val 50000"/>
            </a:avLst>
          </a:prstGeom>
          <a:solidFill>
            <a:srgbClr val="F0F1F2"/>
          </a:solidFill>
          <a:ln/>
        </p:spPr>
      </p:sp>
      <p:sp>
        <p:nvSpPr>
          <p:cNvPr id="3" name="Text 1"/>
          <p:cNvSpPr/>
          <p:nvPr/>
        </p:nvSpPr>
        <p:spPr>
          <a:xfrm>
            <a:off x="7581062" y="219456"/>
            <a:ext cx="1011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9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제안 배경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8665997" y="219456"/>
            <a:ext cx="833704" cy="292608"/>
          </a:xfrm>
          <a:prstGeom prst="roundRect">
            <a:avLst>
              <a:gd name="adj" fmla="val 50000"/>
            </a:avLst>
          </a:prstGeom>
          <a:solidFill>
            <a:srgbClr val="F0F1F2"/>
          </a:solidFill>
          <a:ln/>
        </p:spPr>
      </p:sp>
      <p:sp>
        <p:nvSpPr>
          <p:cNvPr id="5" name="Text 3"/>
          <p:cNvSpPr/>
          <p:nvPr/>
        </p:nvSpPr>
        <p:spPr>
          <a:xfrm>
            <a:off x="8665997" y="219456"/>
            <a:ext cx="833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9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서비스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9572854" y="219456"/>
            <a:ext cx="1046531" cy="292608"/>
          </a:xfrm>
          <a:prstGeom prst="roundRect">
            <a:avLst>
              <a:gd name="adj" fmla="val 50000"/>
            </a:avLst>
          </a:prstGeom>
          <a:solidFill>
            <a:srgbClr val="2A2E35"/>
          </a:solidFill>
          <a:ln/>
        </p:spPr>
      </p:sp>
      <p:sp>
        <p:nvSpPr>
          <p:cNvPr id="7" name="Text 5"/>
          <p:cNvSpPr/>
          <p:nvPr/>
        </p:nvSpPr>
        <p:spPr>
          <a:xfrm>
            <a:off x="9572854" y="219456"/>
            <a:ext cx="104653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검증·근거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0692536" y="219456"/>
            <a:ext cx="1011784" cy="292608"/>
          </a:xfrm>
          <a:prstGeom prst="roundRect">
            <a:avLst>
              <a:gd name="adj" fmla="val 50000"/>
            </a:avLst>
          </a:prstGeom>
          <a:solidFill>
            <a:srgbClr val="F0F1F2"/>
          </a:solidFill>
          <a:ln/>
        </p:spPr>
      </p:sp>
      <p:sp>
        <p:nvSpPr>
          <p:cNvPr id="9" name="Text 7"/>
          <p:cNvSpPr/>
          <p:nvPr/>
        </p:nvSpPr>
        <p:spPr>
          <a:xfrm>
            <a:off x="10692536" y="219456"/>
            <a:ext cx="1011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9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도입 계획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66928" y="402336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7A82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EVIDENCE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713232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</a:t>
            </a:r>
            <a:r>
              <a:rPr lang="en-US" sz="3400" b="1" dirty="0" err="1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위험한지</a:t>
            </a:r>
            <a:r>
              <a:rPr lang="en-US" sz="34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3400" b="1" dirty="0" err="1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상담사</a:t>
            </a:r>
            <a:r>
              <a:rPr lang="ko-KR" altLang="en-US" sz="34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와 만남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EB6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21</a:t>
            </a:r>
            <a:endParaRPr lang="en-US" sz="1000" dirty="0"/>
          </a:p>
        </p:txBody>
      </p:sp>
      <p:pic>
        <p:nvPicPr>
          <p:cNvPr id="13" name="Image 0" descr="C:/Users/1/AppData/Local/Temp/claude/C--Users-1--claude/45391a5d-3788-4f7f-b795-a49f83cafb61/scratchpad/teammate/kaggle-student-health-risk-master/assets/shap_waterfall_stud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734892"/>
            <a:ext cx="3977640" cy="3159616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457200" y="502920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수면 3.95h + 고스트레스  →  P(unhealthy) = 1.00</a:t>
            </a:r>
            <a:endParaRPr lang="en-US" sz="1200" dirty="0"/>
          </a:p>
        </p:txBody>
      </p:sp>
      <p:pic>
        <p:nvPicPr>
          <p:cNvPr id="15" name="Image 1" descr="C:/Users/1/Desktop/Somi Work/ppt_assets/shap_dependence_sleep_unhealth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9160" y="1766816"/>
            <a:ext cx="3977640" cy="2638567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709160" y="457200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수면 6시간 절벽 — 6h 미만에서 P(unhealthy) 급증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8915400" y="1691640"/>
            <a:ext cx="2724912" cy="3337560"/>
          </a:xfrm>
          <a:prstGeom prst="roundRect">
            <a:avLst>
              <a:gd name="adj" fmla="val 3020"/>
            </a:avLst>
          </a:prstGeom>
          <a:solidFill>
            <a:srgbClr val="F3F5F7"/>
          </a:solidFill>
          <a:ln w="12700">
            <a:solidFill>
              <a:srgbClr val="DCE1E7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9125712" y="1847088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 근거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9125712" y="2286000"/>
            <a:ext cx="23774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 algn="l">
              <a:lnSpc>
                <a:spcPct val="107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학생 : 수면 3.95h · 고스트레스</a:t>
            </a:r>
            <a:endParaRPr lang="en-US" sz="1200" dirty="0"/>
          </a:p>
          <a:p>
            <a:pPr marL="203200" indent="-203200" algn="l">
              <a:lnSpc>
                <a:spcPct val="107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P(unhealthy) = 1.00</a:t>
            </a:r>
            <a:endParaRPr lang="en-US" sz="1200" dirty="0"/>
          </a:p>
          <a:p>
            <a:pPr marL="203200" indent="-203200" algn="l">
              <a:lnSpc>
                <a:spcPct val="107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수면 6h 미만에서 위험 급증</a:t>
            </a:r>
            <a:endParaRPr lang="en-US" sz="1200" dirty="0"/>
          </a:p>
          <a:p>
            <a:pPr marL="203200" indent="-203200" algn="l">
              <a:lnSpc>
                <a:spcPct val="107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임계선 6h = 역공학 규칙과 일치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548640" y="5440680"/>
            <a:ext cx="11091672" cy="868680"/>
          </a:xfrm>
          <a:prstGeom prst="roundRect">
            <a:avLst>
              <a:gd name="adj" fmla="val 9474"/>
            </a:avLst>
          </a:prstGeom>
          <a:solidFill>
            <a:srgbClr val="E1F3ED"/>
          </a:solidFill>
          <a:ln/>
        </p:spPr>
      </p:sp>
      <p:sp>
        <p:nvSpPr>
          <p:cNvPr id="21" name="Text 17"/>
          <p:cNvSpPr/>
          <p:nvPr/>
        </p:nvSpPr>
        <p:spPr>
          <a:xfrm>
            <a:off x="548640" y="544068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09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모델이 학습한 임계선 6h = 역공학 규칙(수면&lt;6h + 고스트레스 → unhealthy)과 일치  </a:t>
            </a:r>
            <a:r>
              <a:rPr lang="en-US" sz="130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이 설명이 곧 상담사에게 제공할 개입 근거가 된다.</a:t>
            </a:r>
            <a:endParaRPr lang="en-US" sz="13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8"/>
          <p:cNvSpPr/>
          <p:nvPr/>
        </p:nvSpPr>
        <p:spPr>
          <a:xfrm>
            <a:off x="9459468" y="1527048"/>
            <a:ext cx="1472184" cy="4306824"/>
          </a:xfrm>
          <a:prstGeom prst="roundRect">
            <a:avLst>
              <a:gd name="adj" fmla="val 11180"/>
            </a:avLst>
          </a:prstGeom>
          <a:solidFill>
            <a:srgbClr val="2B313E"/>
          </a:solidFill>
          <a:ln w="15875">
            <a:solidFill>
              <a:srgbClr val="3B435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715500" y="1783080"/>
            <a:ext cx="960120" cy="960120"/>
          </a:xfrm>
          <a:prstGeom prst="ellipse">
            <a:avLst/>
          </a:prstGeom>
          <a:solidFill>
            <a:srgbClr val="D55E00"/>
          </a:solidFill>
          <a:ln/>
        </p:spPr>
      </p:sp>
      <p:sp>
        <p:nvSpPr>
          <p:cNvPr id="12" name="Shape 10"/>
          <p:cNvSpPr/>
          <p:nvPr/>
        </p:nvSpPr>
        <p:spPr>
          <a:xfrm>
            <a:off x="9715500" y="3200400"/>
            <a:ext cx="960120" cy="960120"/>
          </a:xfrm>
          <a:prstGeom prst="ellipse">
            <a:avLst/>
          </a:prstGeom>
          <a:solidFill>
            <a:srgbClr val="E69F00"/>
          </a:solidFill>
          <a:ln/>
        </p:spPr>
      </p:sp>
      <p:sp>
        <p:nvSpPr>
          <p:cNvPr id="13" name="Shape 11"/>
          <p:cNvSpPr/>
          <p:nvPr/>
        </p:nvSpPr>
        <p:spPr>
          <a:xfrm>
            <a:off x="9715500" y="4617720"/>
            <a:ext cx="960120" cy="960120"/>
          </a:xfrm>
          <a:prstGeom prst="ellipse">
            <a:avLst/>
          </a:prstGeom>
          <a:solidFill>
            <a:srgbClr val="009E73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23317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kern="0" spc="300" dirty="0">
                <a:solidFill>
                  <a:srgbClr val="E69F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NEXT STEP</a:t>
            </a:r>
            <a:endParaRPr lang="en-US" altLang="ko-KR" sz="1600" dirty="0"/>
          </a:p>
        </p:txBody>
      </p:sp>
      <p:sp>
        <p:nvSpPr>
          <p:cNvPr id="15" name="Text 13"/>
          <p:cNvSpPr/>
          <p:nvPr/>
        </p:nvSpPr>
        <p:spPr>
          <a:xfrm>
            <a:off x="795528" y="274320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3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함께하는 건강신호등</a:t>
            </a:r>
            <a:endParaRPr lang="en-US" sz="3800" dirty="0"/>
          </a:p>
        </p:txBody>
      </p:sp>
      <p:sp>
        <p:nvSpPr>
          <p:cNvPr id="16" name="Text 14"/>
          <p:cNvSpPr/>
          <p:nvPr/>
        </p:nvSpPr>
        <p:spPr>
          <a:xfrm>
            <a:off x="832104" y="3822192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ko-KR" altLang="en-US" sz="1650" dirty="0">
                <a:solidFill>
                  <a:srgbClr val="9AA3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더 정확한 더 확실한 개발을 위해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B43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22</a:t>
            </a:r>
            <a:endParaRPr lang="en-US" sz="1000" dirty="0"/>
          </a:p>
        </p:txBody>
      </p:sp>
      <p:sp>
        <p:nvSpPr>
          <p:cNvPr id="18" name="Shape 0">
            <a:extLst>
              <a:ext uri="{FF2B5EF4-FFF2-40B4-BE49-F238E27FC236}">
                <a16:creationId xmlns:a16="http://schemas.microsoft.com/office/drawing/2014/main" id="{66CAF892-3252-491F-8B03-B5A72EA7F0AD}"/>
              </a:ext>
            </a:extLst>
          </p:cNvPr>
          <p:cNvSpPr/>
          <p:nvPr/>
        </p:nvSpPr>
        <p:spPr>
          <a:xfrm>
            <a:off x="7581062" y="219456"/>
            <a:ext cx="1011784" cy="292608"/>
          </a:xfrm>
          <a:prstGeom prst="roundRect">
            <a:avLst>
              <a:gd name="adj" fmla="val 50000"/>
            </a:avLst>
          </a:prstGeom>
          <a:solidFill>
            <a:srgbClr val="3B4354"/>
          </a:solidFill>
          <a:ln/>
        </p:spPr>
      </p:sp>
      <p:sp>
        <p:nvSpPr>
          <p:cNvPr id="19" name="Text 1">
            <a:extLst>
              <a:ext uri="{FF2B5EF4-FFF2-40B4-BE49-F238E27FC236}">
                <a16:creationId xmlns:a16="http://schemas.microsoft.com/office/drawing/2014/main" id="{22436DC3-4680-427F-8FFB-8DC0448F5D78}"/>
              </a:ext>
            </a:extLst>
          </p:cNvPr>
          <p:cNvSpPr/>
          <p:nvPr/>
        </p:nvSpPr>
        <p:spPr>
          <a:xfrm>
            <a:off x="7581062" y="219456"/>
            <a:ext cx="1011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AA3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제안 배경</a:t>
            </a:r>
            <a:endParaRPr lang="en-US" sz="950" dirty="0"/>
          </a:p>
        </p:txBody>
      </p:sp>
      <p:sp>
        <p:nvSpPr>
          <p:cNvPr id="20" name="Shape 2">
            <a:extLst>
              <a:ext uri="{FF2B5EF4-FFF2-40B4-BE49-F238E27FC236}">
                <a16:creationId xmlns:a16="http://schemas.microsoft.com/office/drawing/2014/main" id="{8F3D78EC-59BD-4232-B0C9-92E052072D9E}"/>
              </a:ext>
            </a:extLst>
          </p:cNvPr>
          <p:cNvSpPr/>
          <p:nvPr/>
        </p:nvSpPr>
        <p:spPr>
          <a:xfrm>
            <a:off x="8665997" y="219456"/>
            <a:ext cx="833704" cy="292608"/>
          </a:xfrm>
          <a:prstGeom prst="roundRect">
            <a:avLst>
              <a:gd name="adj" fmla="val 50000"/>
            </a:avLst>
          </a:prstGeom>
          <a:solidFill>
            <a:srgbClr val="3B4354"/>
          </a:solidFill>
          <a:ln/>
        </p:spPr>
      </p:sp>
      <p:sp>
        <p:nvSpPr>
          <p:cNvPr id="21" name="Text 3">
            <a:extLst>
              <a:ext uri="{FF2B5EF4-FFF2-40B4-BE49-F238E27FC236}">
                <a16:creationId xmlns:a16="http://schemas.microsoft.com/office/drawing/2014/main" id="{C3099AF5-35DB-4488-A9AA-561C48C71946}"/>
              </a:ext>
            </a:extLst>
          </p:cNvPr>
          <p:cNvSpPr/>
          <p:nvPr/>
        </p:nvSpPr>
        <p:spPr>
          <a:xfrm>
            <a:off x="8665997" y="219456"/>
            <a:ext cx="833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AA3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서비스</a:t>
            </a:r>
            <a:endParaRPr lang="en-US" sz="950" dirty="0"/>
          </a:p>
        </p:txBody>
      </p:sp>
      <p:sp>
        <p:nvSpPr>
          <p:cNvPr id="22" name="Shape 4">
            <a:extLst>
              <a:ext uri="{FF2B5EF4-FFF2-40B4-BE49-F238E27FC236}">
                <a16:creationId xmlns:a16="http://schemas.microsoft.com/office/drawing/2014/main" id="{D725A473-8FDB-4D40-823B-05A23744BDBC}"/>
              </a:ext>
            </a:extLst>
          </p:cNvPr>
          <p:cNvSpPr/>
          <p:nvPr/>
        </p:nvSpPr>
        <p:spPr>
          <a:xfrm>
            <a:off x="9572854" y="219456"/>
            <a:ext cx="1046531" cy="292608"/>
          </a:xfrm>
          <a:prstGeom prst="roundRect">
            <a:avLst>
              <a:gd name="adj" fmla="val 50000"/>
            </a:avLst>
          </a:prstGeom>
          <a:solidFill>
            <a:srgbClr val="3B4354"/>
          </a:solidFill>
          <a:ln/>
        </p:spPr>
      </p:sp>
      <p:sp>
        <p:nvSpPr>
          <p:cNvPr id="23" name="Text 5">
            <a:extLst>
              <a:ext uri="{FF2B5EF4-FFF2-40B4-BE49-F238E27FC236}">
                <a16:creationId xmlns:a16="http://schemas.microsoft.com/office/drawing/2014/main" id="{8B74C47E-52D7-4994-91A3-80FC71162A0C}"/>
              </a:ext>
            </a:extLst>
          </p:cNvPr>
          <p:cNvSpPr/>
          <p:nvPr/>
        </p:nvSpPr>
        <p:spPr>
          <a:xfrm>
            <a:off x="9572854" y="219456"/>
            <a:ext cx="104653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AA3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검증·근거</a:t>
            </a:r>
            <a:endParaRPr lang="en-US" sz="950" dirty="0"/>
          </a:p>
        </p:txBody>
      </p:sp>
      <p:sp>
        <p:nvSpPr>
          <p:cNvPr id="24" name="Shape 6">
            <a:extLst>
              <a:ext uri="{FF2B5EF4-FFF2-40B4-BE49-F238E27FC236}">
                <a16:creationId xmlns:a16="http://schemas.microsoft.com/office/drawing/2014/main" id="{47AF1696-2B9A-4283-9155-CD488DB0812B}"/>
              </a:ext>
            </a:extLst>
          </p:cNvPr>
          <p:cNvSpPr/>
          <p:nvPr/>
        </p:nvSpPr>
        <p:spPr>
          <a:xfrm>
            <a:off x="10692536" y="219456"/>
            <a:ext cx="1011784" cy="292608"/>
          </a:xfrm>
          <a:prstGeom prst="roundRect">
            <a:avLst>
              <a:gd name="adj" fmla="val 50000"/>
            </a:avLst>
          </a:prstGeom>
          <a:solidFill>
            <a:srgbClr val="E8EBF0"/>
          </a:solidFill>
          <a:ln/>
        </p:spPr>
      </p:sp>
      <p:sp>
        <p:nvSpPr>
          <p:cNvPr id="25" name="Text 7">
            <a:extLst>
              <a:ext uri="{FF2B5EF4-FFF2-40B4-BE49-F238E27FC236}">
                <a16:creationId xmlns:a16="http://schemas.microsoft.com/office/drawing/2014/main" id="{73E4E646-391B-4C61-BAE9-4770377C8FD9}"/>
              </a:ext>
            </a:extLst>
          </p:cNvPr>
          <p:cNvSpPr/>
          <p:nvPr/>
        </p:nvSpPr>
        <p:spPr>
          <a:xfrm>
            <a:off x="10692536" y="219456"/>
            <a:ext cx="1011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도입 계획</a:t>
            </a:r>
            <a:endParaRPr lang="en-US" sz="950" dirty="0"/>
          </a:p>
        </p:txBody>
      </p:sp>
    </p:spTree>
    <p:extLst>
      <p:ext uri="{BB962C8B-B14F-4D97-AF65-F5344CB8AC3E}">
        <p14:creationId xmlns:p14="http://schemas.microsoft.com/office/powerpoint/2010/main" val="50985777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1062" y="219456"/>
            <a:ext cx="1011784" cy="292608"/>
          </a:xfrm>
          <a:prstGeom prst="roundRect">
            <a:avLst>
              <a:gd name="adj" fmla="val 50000"/>
            </a:avLst>
          </a:prstGeom>
          <a:solidFill>
            <a:srgbClr val="F0F1F2"/>
          </a:solidFill>
          <a:ln/>
        </p:spPr>
      </p:sp>
      <p:sp>
        <p:nvSpPr>
          <p:cNvPr id="3" name="Text 1"/>
          <p:cNvSpPr/>
          <p:nvPr/>
        </p:nvSpPr>
        <p:spPr>
          <a:xfrm>
            <a:off x="7581062" y="219456"/>
            <a:ext cx="1011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9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제안 배경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8665997" y="219456"/>
            <a:ext cx="833704" cy="292608"/>
          </a:xfrm>
          <a:prstGeom prst="roundRect">
            <a:avLst>
              <a:gd name="adj" fmla="val 50000"/>
            </a:avLst>
          </a:prstGeom>
          <a:solidFill>
            <a:srgbClr val="F0F1F2"/>
          </a:solidFill>
          <a:ln/>
        </p:spPr>
      </p:sp>
      <p:sp>
        <p:nvSpPr>
          <p:cNvPr id="5" name="Text 3"/>
          <p:cNvSpPr/>
          <p:nvPr/>
        </p:nvSpPr>
        <p:spPr>
          <a:xfrm>
            <a:off x="8665997" y="219456"/>
            <a:ext cx="833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9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서비스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9572854" y="219456"/>
            <a:ext cx="1046531" cy="292608"/>
          </a:xfrm>
          <a:prstGeom prst="roundRect">
            <a:avLst>
              <a:gd name="adj" fmla="val 50000"/>
            </a:avLst>
          </a:prstGeom>
          <a:solidFill>
            <a:srgbClr val="F0F1F2"/>
          </a:solidFill>
          <a:ln/>
        </p:spPr>
      </p:sp>
      <p:sp>
        <p:nvSpPr>
          <p:cNvPr id="7" name="Text 5"/>
          <p:cNvSpPr/>
          <p:nvPr/>
        </p:nvSpPr>
        <p:spPr>
          <a:xfrm>
            <a:off x="9572854" y="219456"/>
            <a:ext cx="104653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9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검증·근거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0692536" y="219456"/>
            <a:ext cx="1011784" cy="292608"/>
          </a:xfrm>
          <a:prstGeom prst="roundRect">
            <a:avLst>
              <a:gd name="adj" fmla="val 50000"/>
            </a:avLst>
          </a:prstGeom>
          <a:solidFill>
            <a:srgbClr val="2A2E35"/>
          </a:solidFill>
          <a:ln/>
        </p:spPr>
      </p:sp>
      <p:sp>
        <p:nvSpPr>
          <p:cNvPr id="9" name="Text 7"/>
          <p:cNvSpPr/>
          <p:nvPr/>
        </p:nvSpPr>
        <p:spPr>
          <a:xfrm>
            <a:off x="10692536" y="219456"/>
            <a:ext cx="1011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도입 계획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66928" y="402336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7A82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GOVERNANCE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713232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민감한 정보인 만큼 신뢰 </a:t>
            </a:r>
            <a:r>
              <a:rPr lang="en-US" sz="3400" b="1" dirty="0" err="1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설계가</a:t>
            </a:r>
            <a:r>
              <a:rPr lang="en-US" sz="34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3400" b="1" dirty="0" err="1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먼저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EB6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23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1737360"/>
            <a:ext cx="3511296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DCE1E7"/>
            </a:solidFill>
            <a:prstDash val="solid"/>
          </a:ln>
          <a:effectLst>
            <a:outerShdw blurRad="114300" dist="38100" dir="5400000" algn="bl" rotWithShape="0">
              <a:srgbClr val="9BA6B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22960" y="2029968"/>
            <a:ext cx="457200" cy="457200"/>
          </a:xfrm>
          <a:prstGeom prst="ellipse">
            <a:avLst/>
          </a:prstGeom>
          <a:solidFill>
            <a:srgbClr val="009E73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2029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417320" y="2066544"/>
            <a:ext cx="2414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동의 기반 수집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822960" y="2651760"/>
            <a:ext cx="29626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목적·항목을 사전 고지하고 동의받습니다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334256" y="1737360"/>
            <a:ext cx="3511296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DCE1E7"/>
            </a:solidFill>
            <a:prstDash val="solid"/>
          </a:ln>
          <a:effectLst>
            <a:outerShdw blurRad="114300" dist="38100" dir="5400000" algn="bl" rotWithShape="0">
              <a:srgbClr val="9BA6B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08576" y="2029968"/>
            <a:ext cx="457200" cy="457200"/>
          </a:xfrm>
          <a:prstGeom prst="ellipse">
            <a:avLst/>
          </a:prstGeom>
          <a:solidFill>
            <a:srgbClr val="009E73"/>
          </a:solidFill>
          <a:ln/>
        </p:spPr>
      </p:sp>
      <p:sp>
        <p:nvSpPr>
          <p:cNvPr id="20" name="Text 18"/>
          <p:cNvSpPr/>
          <p:nvPr/>
        </p:nvSpPr>
        <p:spPr>
          <a:xfrm>
            <a:off x="4608576" y="2029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5202936" y="2066544"/>
            <a:ext cx="2414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최소 수집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4608576" y="2651760"/>
            <a:ext cx="29626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필요한 신호만 — 과잉 수집하지 않음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8119872" y="1737360"/>
            <a:ext cx="3511296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DCE1E7"/>
            </a:solidFill>
            <a:prstDash val="solid"/>
          </a:ln>
          <a:effectLst>
            <a:outerShdw blurRad="114300" dist="38100" dir="5400000" algn="bl" rotWithShape="0">
              <a:srgbClr val="9BA6B0">
                <a:alpha val="3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394192" y="2029968"/>
            <a:ext cx="457200" cy="457200"/>
          </a:xfrm>
          <a:prstGeom prst="ellipse">
            <a:avLst/>
          </a:prstGeom>
          <a:solidFill>
            <a:srgbClr val="009E73"/>
          </a:solidFill>
          <a:ln/>
        </p:spPr>
      </p:sp>
      <p:sp>
        <p:nvSpPr>
          <p:cNvPr id="25" name="Text 23"/>
          <p:cNvSpPr/>
          <p:nvPr/>
        </p:nvSpPr>
        <p:spPr>
          <a:xfrm>
            <a:off x="8394192" y="2029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8988552" y="2066544"/>
            <a:ext cx="2414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접근 통제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8394192" y="2651760"/>
            <a:ext cx="29626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본인과 담당 상담사만 열람합니다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48640" y="3703320"/>
            <a:ext cx="3511296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DCE1E7"/>
            </a:solidFill>
            <a:prstDash val="solid"/>
          </a:ln>
          <a:effectLst>
            <a:outerShdw blurRad="114300" dist="38100" dir="5400000" algn="bl" rotWithShape="0">
              <a:srgbClr val="9BA6B0">
                <a:alpha val="3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22960" y="3995928"/>
            <a:ext cx="457200" cy="457200"/>
          </a:xfrm>
          <a:prstGeom prst="ellipse">
            <a:avLst/>
          </a:prstGeom>
          <a:solidFill>
            <a:srgbClr val="009E73"/>
          </a:solidFill>
          <a:ln/>
        </p:spPr>
      </p:sp>
      <p:sp>
        <p:nvSpPr>
          <p:cNvPr id="30" name="Text 28"/>
          <p:cNvSpPr/>
          <p:nvPr/>
        </p:nvSpPr>
        <p:spPr>
          <a:xfrm>
            <a:off x="822960" y="3995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1417320" y="4032504"/>
            <a:ext cx="2414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설명 제공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822960" y="4617720"/>
            <a:ext cx="29626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등급마다 SHAP 근거를 함께 제시합니다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4334256" y="3703320"/>
            <a:ext cx="3511296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DCE1E7"/>
            </a:solidFill>
            <a:prstDash val="solid"/>
          </a:ln>
          <a:effectLst>
            <a:outerShdw blurRad="114300" dist="38100" dir="5400000" algn="bl" rotWithShape="0">
              <a:srgbClr val="9BA6B0">
                <a:alpha val="3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608576" y="3995928"/>
            <a:ext cx="457200" cy="457200"/>
          </a:xfrm>
          <a:prstGeom prst="ellipse">
            <a:avLst/>
          </a:prstGeom>
          <a:solidFill>
            <a:srgbClr val="009E73"/>
          </a:solidFill>
          <a:ln/>
        </p:spPr>
      </p:sp>
      <p:sp>
        <p:nvSpPr>
          <p:cNvPr id="35" name="Text 33"/>
          <p:cNvSpPr/>
          <p:nvPr/>
        </p:nvSpPr>
        <p:spPr>
          <a:xfrm>
            <a:off x="4608576" y="3995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700" dirty="0"/>
          </a:p>
        </p:txBody>
      </p:sp>
      <p:sp>
        <p:nvSpPr>
          <p:cNvPr id="36" name="Text 34"/>
          <p:cNvSpPr/>
          <p:nvPr/>
        </p:nvSpPr>
        <p:spPr>
          <a:xfrm>
            <a:off x="5202936" y="4032504"/>
            <a:ext cx="2414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판단은 사람</a:t>
            </a:r>
            <a:endParaRPr lang="en-US" sz="1450" dirty="0"/>
          </a:p>
        </p:txBody>
      </p:sp>
      <p:sp>
        <p:nvSpPr>
          <p:cNvPr id="37" name="Text 35"/>
          <p:cNvSpPr/>
          <p:nvPr/>
        </p:nvSpPr>
        <p:spPr>
          <a:xfrm>
            <a:off x="4608576" y="4617720"/>
            <a:ext cx="29626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모델은 우선순위 제안, 결정은 상담사가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8119872" y="3703320"/>
            <a:ext cx="3511296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DCE1E7"/>
            </a:solidFill>
            <a:prstDash val="solid"/>
          </a:ln>
          <a:effectLst>
            <a:outerShdw blurRad="114300" dist="38100" dir="5400000" algn="bl" rotWithShape="0">
              <a:srgbClr val="9BA6B0">
                <a:alpha val="3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8394192" y="3995928"/>
            <a:ext cx="457200" cy="457200"/>
          </a:xfrm>
          <a:prstGeom prst="ellipse">
            <a:avLst/>
          </a:prstGeom>
          <a:solidFill>
            <a:srgbClr val="009E73"/>
          </a:solidFill>
          <a:ln/>
        </p:spPr>
      </p:sp>
      <p:sp>
        <p:nvSpPr>
          <p:cNvPr id="40" name="Text 38"/>
          <p:cNvSpPr/>
          <p:nvPr/>
        </p:nvSpPr>
        <p:spPr>
          <a:xfrm>
            <a:off x="8394192" y="3995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700" dirty="0"/>
          </a:p>
        </p:txBody>
      </p:sp>
      <p:sp>
        <p:nvSpPr>
          <p:cNvPr id="41" name="Text 39"/>
          <p:cNvSpPr/>
          <p:nvPr/>
        </p:nvSpPr>
        <p:spPr>
          <a:xfrm>
            <a:off x="8988552" y="4032504"/>
            <a:ext cx="2414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지속 모니터링</a:t>
            </a:r>
            <a:endParaRPr lang="en-US" sz="1450" dirty="0"/>
          </a:p>
        </p:txBody>
      </p:sp>
      <p:sp>
        <p:nvSpPr>
          <p:cNvPr id="42" name="Text 40"/>
          <p:cNvSpPr/>
          <p:nvPr/>
        </p:nvSpPr>
        <p:spPr>
          <a:xfrm>
            <a:off x="8394192" y="4617720"/>
            <a:ext cx="29626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성능·형평성을 정기 점검합니다</a:t>
            </a:r>
            <a:endParaRPr lang="en-US" sz="1250" dirty="0"/>
          </a:p>
        </p:txBody>
      </p:sp>
      <p:sp>
        <p:nvSpPr>
          <p:cNvPr id="43" name="Shape 41"/>
          <p:cNvSpPr/>
          <p:nvPr/>
        </p:nvSpPr>
        <p:spPr>
          <a:xfrm>
            <a:off x="548640" y="5623560"/>
            <a:ext cx="11091672" cy="713232"/>
          </a:xfrm>
          <a:prstGeom prst="roundRect">
            <a:avLst>
              <a:gd name="adj" fmla="val 11538"/>
            </a:avLst>
          </a:prstGeom>
          <a:solidFill>
            <a:srgbClr val="1F2430"/>
          </a:solidFill>
          <a:ln/>
          <a:effectLst>
            <a:outerShdw blurRad="114300" dist="38100" dir="5400000" algn="bl" rotWithShape="0">
              <a:srgbClr val="9BA6B0">
                <a:alpha val="30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548640" y="5623560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AI는 서비스의 엔진이지, 주인공이 아닙니다  </a:t>
            </a:r>
            <a:r>
              <a:rPr lang="en-US" sz="1400" dirty="0">
                <a:solidFill>
                  <a:srgbClr val="9AA3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신뢰가 먼저입니다.</a:t>
            </a:r>
            <a:endParaRPr lang="en-US" sz="15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1062" y="219456"/>
            <a:ext cx="1011784" cy="292608"/>
          </a:xfrm>
          <a:prstGeom prst="roundRect">
            <a:avLst>
              <a:gd name="adj" fmla="val 50000"/>
            </a:avLst>
          </a:prstGeom>
          <a:solidFill>
            <a:srgbClr val="F0F1F2"/>
          </a:solidFill>
          <a:ln/>
        </p:spPr>
      </p:sp>
      <p:sp>
        <p:nvSpPr>
          <p:cNvPr id="3" name="Text 1"/>
          <p:cNvSpPr/>
          <p:nvPr/>
        </p:nvSpPr>
        <p:spPr>
          <a:xfrm>
            <a:off x="7581062" y="219456"/>
            <a:ext cx="1011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9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제안 배경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8665997" y="219456"/>
            <a:ext cx="833704" cy="292608"/>
          </a:xfrm>
          <a:prstGeom prst="roundRect">
            <a:avLst>
              <a:gd name="adj" fmla="val 50000"/>
            </a:avLst>
          </a:prstGeom>
          <a:solidFill>
            <a:srgbClr val="F0F1F2"/>
          </a:solidFill>
          <a:ln/>
        </p:spPr>
      </p:sp>
      <p:sp>
        <p:nvSpPr>
          <p:cNvPr id="5" name="Text 3"/>
          <p:cNvSpPr/>
          <p:nvPr/>
        </p:nvSpPr>
        <p:spPr>
          <a:xfrm>
            <a:off x="8665997" y="219456"/>
            <a:ext cx="833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9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서비스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9572854" y="219456"/>
            <a:ext cx="1046531" cy="292608"/>
          </a:xfrm>
          <a:prstGeom prst="roundRect">
            <a:avLst>
              <a:gd name="adj" fmla="val 50000"/>
            </a:avLst>
          </a:prstGeom>
          <a:solidFill>
            <a:srgbClr val="F0F1F2"/>
          </a:solidFill>
          <a:ln/>
        </p:spPr>
      </p:sp>
      <p:sp>
        <p:nvSpPr>
          <p:cNvPr id="7" name="Text 5"/>
          <p:cNvSpPr/>
          <p:nvPr/>
        </p:nvSpPr>
        <p:spPr>
          <a:xfrm>
            <a:off x="9572854" y="219456"/>
            <a:ext cx="104653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9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검증·근거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0692536" y="219456"/>
            <a:ext cx="1011784" cy="292608"/>
          </a:xfrm>
          <a:prstGeom prst="roundRect">
            <a:avLst>
              <a:gd name="adj" fmla="val 50000"/>
            </a:avLst>
          </a:prstGeom>
          <a:solidFill>
            <a:srgbClr val="2A2E35"/>
          </a:solidFill>
          <a:ln/>
        </p:spPr>
      </p:sp>
      <p:sp>
        <p:nvSpPr>
          <p:cNvPr id="9" name="Text 7"/>
          <p:cNvSpPr/>
          <p:nvPr/>
        </p:nvSpPr>
        <p:spPr>
          <a:xfrm>
            <a:off x="10692536" y="219456"/>
            <a:ext cx="1011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도입 계획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66928" y="402336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7A82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PRINCIPLES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713232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</a:t>
            </a:r>
            <a:r>
              <a:rPr lang="ko-KR" altLang="en-US" sz="34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</a:t>
            </a:r>
            <a:r>
              <a:rPr lang="en-US" sz="3400" b="1" dirty="0" err="1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예측·설명·재평가만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EB6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24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1737360"/>
            <a:ext cx="3566160" cy="288036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CE1E7"/>
            </a:solidFill>
            <a:prstDash val="solid"/>
          </a:ln>
          <a:effectLst>
            <a:outerShdw blurRad="114300" dist="38100" dir="5400000" algn="bl" rotWithShape="0">
              <a:srgbClr val="9BA6B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002536" y="2011680"/>
            <a:ext cx="658368" cy="658368"/>
          </a:xfrm>
          <a:prstGeom prst="ellipse">
            <a:avLst/>
          </a:prstGeom>
          <a:solidFill>
            <a:srgbClr val="2A2E35"/>
          </a:solidFill>
          <a:ln/>
        </p:spPr>
      </p:sp>
      <p:sp>
        <p:nvSpPr>
          <p:cNvPr id="15" name="Text 13"/>
          <p:cNvSpPr/>
          <p:nvPr/>
        </p:nvSpPr>
        <p:spPr>
          <a:xfrm>
            <a:off x="2002536" y="201168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731520" y="281635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예측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731520" y="3255264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A874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 확률을 계산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59536" y="3657600"/>
            <a:ext cx="29443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125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predict_proba 로 3등급 확률을 산출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 rot="5400000">
            <a:off x="4137660" y="2990088"/>
            <a:ext cx="237744" cy="237744"/>
          </a:xfrm>
          <a:prstGeom prst="triangle">
            <a:avLst/>
          </a:prstGeom>
          <a:solidFill>
            <a:srgbClr val="AEB6BF"/>
          </a:solidFill>
          <a:ln/>
        </p:spPr>
      </p:sp>
      <p:sp>
        <p:nvSpPr>
          <p:cNvPr id="20" name="Shape 18"/>
          <p:cNvSpPr/>
          <p:nvPr/>
        </p:nvSpPr>
        <p:spPr>
          <a:xfrm>
            <a:off x="4398264" y="1737360"/>
            <a:ext cx="3566160" cy="288036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CE1E7"/>
            </a:solidFill>
            <a:prstDash val="solid"/>
          </a:ln>
          <a:effectLst>
            <a:outerShdw blurRad="114300" dist="38100" dir="5400000" algn="bl" rotWithShape="0">
              <a:srgbClr val="9BA6B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852160" y="2011680"/>
            <a:ext cx="658368" cy="658368"/>
          </a:xfrm>
          <a:prstGeom prst="ellipse">
            <a:avLst/>
          </a:prstGeom>
          <a:solidFill>
            <a:srgbClr val="2A2E35"/>
          </a:solidFill>
          <a:ln/>
        </p:spPr>
      </p:sp>
      <p:sp>
        <p:nvSpPr>
          <p:cNvPr id="22" name="Text 20"/>
          <p:cNvSpPr/>
          <p:nvPr/>
        </p:nvSpPr>
        <p:spPr>
          <a:xfrm>
            <a:off x="5852160" y="201168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4581144" y="281635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설명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4581144" y="3255264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09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근거를 분해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4709160" y="3657600"/>
            <a:ext cx="29443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125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SHAP로 학생마다 어떤 신호가 위험을 높였는지 제시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 rot="5400000">
            <a:off x="7987284" y="2990088"/>
            <a:ext cx="237744" cy="237744"/>
          </a:xfrm>
          <a:prstGeom prst="triangle">
            <a:avLst/>
          </a:prstGeom>
          <a:solidFill>
            <a:srgbClr val="AEB6BF"/>
          </a:solidFill>
          <a:ln/>
        </p:spPr>
      </p:sp>
      <p:sp>
        <p:nvSpPr>
          <p:cNvPr id="27" name="Shape 25"/>
          <p:cNvSpPr/>
          <p:nvPr/>
        </p:nvSpPr>
        <p:spPr>
          <a:xfrm>
            <a:off x="8247888" y="1737360"/>
            <a:ext cx="3566160" cy="288036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CE1E7"/>
            </a:solidFill>
            <a:prstDash val="solid"/>
          </a:ln>
          <a:effectLst>
            <a:outerShdw blurRad="114300" dist="38100" dir="5400000" algn="bl" rotWithShape="0">
              <a:srgbClr val="9BA6B0">
                <a:alpha val="3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9701784" y="2011680"/>
            <a:ext cx="658368" cy="658368"/>
          </a:xfrm>
          <a:prstGeom prst="ellipse">
            <a:avLst/>
          </a:prstGeom>
          <a:solidFill>
            <a:srgbClr val="2A2E35"/>
          </a:solidFill>
          <a:ln/>
        </p:spPr>
      </p:sp>
      <p:sp>
        <p:nvSpPr>
          <p:cNvPr id="29" name="Text 27"/>
          <p:cNvSpPr/>
          <p:nvPr/>
        </p:nvSpPr>
        <p:spPr>
          <a:xfrm>
            <a:off x="9701784" y="201168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8430768" y="281635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재평가</a:t>
            </a:r>
            <a:endParaRPr lang="en-US" sz="1900" dirty="0"/>
          </a:p>
        </p:txBody>
      </p:sp>
      <p:sp>
        <p:nvSpPr>
          <p:cNvPr id="31" name="Text 29"/>
          <p:cNvSpPr/>
          <p:nvPr/>
        </p:nvSpPr>
        <p:spPr>
          <a:xfrm>
            <a:off x="8430768" y="3255264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D55E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변화를 추적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8558784" y="3657600"/>
            <a:ext cx="29443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125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개입 후 다시 측정해 등급이 나아졌는지 확인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548640" y="4846320"/>
            <a:ext cx="11091672" cy="1417320"/>
          </a:xfrm>
          <a:prstGeom prst="roundRect">
            <a:avLst>
              <a:gd name="adj" fmla="val 5806"/>
            </a:avLst>
          </a:prstGeom>
          <a:solidFill>
            <a:srgbClr val="F3F5F7"/>
          </a:solidFill>
          <a:ln w="12700">
            <a:solidFill>
              <a:srgbClr val="DCE1E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77240" y="49834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A82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 원칙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777240" y="5321808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낙인효과 방지  </a:t>
            </a:r>
            <a:r>
              <a:rPr lang="en-US" sz="130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등급은 ‘꼬리표’가 아니라 개입을 여는 트리거일 뿐입니다.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777240" y="5724144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CVD-safe 설계  </a:t>
            </a:r>
            <a:r>
              <a:rPr lang="en-US" sz="130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Okabe-Ito 팔레트 + 색·라벨·위치 삼중 인코딩으로 색만으로 판단하지 않게 했습니다.</a:t>
            </a:r>
            <a:endParaRPr lang="en-US" sz="13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1062" y="219456"/>
            <a:ext cx="1011784" cy="292608"/>
          </a:xfrm>
          <a:prstGeom prst="roundRect">
            <a:avLst>
              <a:gd name="adj" fmla="val 50000"/>
            </a:avLst>
          </a:prstGeom>
          <a:solidFill>
            <a:srgbClr val="F0F1F2"/>
          </a:solidFill>
          <a:ln/>
        </p:spPr>
      </p:sp>
      <p:sp>
        <p:nvSpPr>
          <p:cNvPr id="3" name="Text 1"/>
          <p:cNvSpPr/>
          <p:nvPr/>
        </p:nvSpPr>
        <p:spPr>
          <a:xfrm>
            <a:off x="7581062" y="219456"/>
            <a:ext cx="1011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9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제안 배경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8665997" y="219456"/>
            <a:ext cx="833704" cy="292608"/>
          </a:xfrm>
          <a:prstGeom prst="roundRect">
            <a:avLst>
              <a:gd name="adj" fmla="val 50000"/>
            </a:avLst>
          </a:prstGeom>
          <a:solidFill>
            <a:srgbClr val="F0F1F2"/>
          </a:solidFill>
          <a:ln/>
        </p:spPr>
      </p:sp>
      <p:sp>
        <p:nvSpPr>
          <p:cNvPr id="5" name="Text 3"/>
          <p:cNvSpPr/>
          <p:nvPr/>
        </p:nvSpPr>
        <p:spPr>
          <a:xfrm>
            <a:off x="8665997" y="219456"/>
            <a:ext cx="833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9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서비스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9572854" y="219456"/>
            <a:ext cx="1046531" cy="292608"/>
          </a:xfrm>
          <a:prstGeom prst="roundRect">
            <a:avLst>
              <a:gd name="adj" fmla="val 50000"/>
            </a:avLst>
          </a:prstGeom>
          <a:solidFill>
            <a:srgbClr val="F0F1F2"/>
          </a:solidFill>
          <a:ln/>
        </p:spPr>
      </p:sp>
      <p:sp>
        <p:nvSpPr>
          <p:cNvPr id="7" name="Text 5"/>
          <p:cNvSpPr/>
          <p:nvPr/>
        </p:nvSpPr>
        <p:spPr>
          <a:xfrm>
            <a:off x="9572854" y="219456"/>
            <a:ext cx="104653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9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검증·근거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0692536" y="219456"/>
            <a:ext cx="1011784" cy="292608"/>
          </a:xfrm>
          <a:prstGeom prst="roundRect">
            <a:avLst>
              <a:gd name="adj" fmla="val 50000"/>
            </a:avLst>
          </a:prstGeom>
          <a:solidFill>
            <a:srgbClr val="2A2E35"/>
          </a:solidFill>
          <a:ln/>
        </p:spPr>
      </p:sp>
      <p:sp>
        <p:nvSpPr>
          <p:cNvPr id="9" name="Text 7"/>
          <p:cNvSpPr/>
          <p:nvPr/>
        </p:nvSpPr>
        <p:spPr>
          <a:xfrm>
            <a:off x="10692536" y="219456"/>
            <a:ext cx="1011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도입 계획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66928" y="402336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7A82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PILOT PLAN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713232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학과·한 학기 </a:t>
            </a:r>
            <a:r>
              <a:rPr lang="en-US" sz="3400" b="1" dirty="0" err="1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PoC로</a:t>
            </a:r>
            <a:r>
              <a:rPr lang="en-US" sz="34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3400" b="1" dirty="0" err="1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시작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EB6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1783080"/>
            <a:ext cx="3108960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CE1E7"/>
            </a:solidFill>
            <a:prstDash val="solid"/>
          </a:ln>
          <a:effectLst>
            <a:outerShdw blurRad="114300" dist="38100" dir="5400000" algn="bl" rotWithShape="0">
              <a:srgbClr val="9BA6B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04672" y="1920240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874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1–2주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04672" y="2212848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체크인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04672" y="2542032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 학생 3분 체크인 · 기준선 신호 수집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 rot="5400000">
            <a:off x="3918204" y="2203704"/>
            <a:ext cx="256032" cy="256032"/>
          </a:xfrm>
          <a:prstGeom prst="triangle">
            <a:avLst/>
          </a:prstGeom>
          <a:solidFill>
            <a:srgbClr val="AEB6BF"/>
          </a:solidFill>
          <a:ln/>
        </p:spPr>
      </p:sp>
      <p:sp>
        <p:nvSpPr>
          <p:cNvPr id="18" name="Shape 16"/>
          <p:cNvSpPr/>
          <p:nvPr/>
        </p:nvSpPr>
        <p:spPr>
          <a:xfrm>
            <a:off x="4434840" y="1783080"/>
            <a:ext cx="3108960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CE1E7"/>
            </a:solidFill>
            <a:prstDash val="solid"/>
          </a:ln>
          <a:effectLst>
            <a:outerShdw blurRad="114300" dist="38100" dir="5400000" algn="bl" rotWithShape="0">
              <a:srgbClr val="9BA6B0">
                <a:alpha val="3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690872" y="1920240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874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3–6주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690872" y="2212848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개입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690872" y="2542032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등급별 콘텐츠·코칭·상담 자동 연결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 rot="5400000">
            <a:off x="7804404" y="2203704"/>
            <a:ext cx="256032" cy="256032"/>
          </a:xfrm>
          <a:prstGeom prst="triangle">
            <a:avLst/>
          </a:prstGeom>
          <a:solidFill>
            <a:srgbClr val="AEB6BF"/>
          </a:solidFill>
          <a:ln/>
        </p:spPr>
      </p:sp>
      <p:sp>
        <p:nvSpPr>
          <p:cNvPr id="23" name="Shape 21"/>
          <p:cNvSpPr/>
          <p:nvPr/>
        </p:nvSpPr>
        <p:spPr>
          <a:xfrm>
            <a:off x="8321040" y="1783080"/>
            <a:ext cx="3108960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CE1E7"/>
            </a:solidFill>
            <a:prstDash val="solid"/>
          </a:ln>
          <a:effectLst>
            <a:outerShdw blurRad="114300" dist="38100" dir="5400000" algn="bl" rotWithShape="0">
              <a:srgbClr val="9BA6B0">
                <a:alpha val="3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8577072" y="1920240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874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7–8주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577072" y="2212848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리체크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577072" y="2542032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재측정 · 등급 변화·참여 확인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48640" y="3108960"/>
            <a:ext cx="11091672" cy="777240"/>
          </a:xfrm>
          <a:prstGeom prst="roundRect">
            <a:avLst>
              <a:gd name="adj" fmla="val 10588"/>
            </a:avLst>
          </a:prstGeom>
          <a:solidFill>
            <a:srgbClr val="F3F5F7"/>
          </a:solidFill>
          <a:ln w="12700">
            <a:solidFill>
              <a:srgbClr val="DCE1E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310896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09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자원과 연결  </a:t>
            </a:r>
            <a:r>
              <a:rPr lang="en-US" sz="130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상담센터·건강검진 프로그램에 얹어, 새 인프라 없이 시작합니다.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548640" y="4114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PoC로 답할 질문 세 가지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548640" y="4480560"/>
            <a:ext cx="3566160" cy="1463040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 w="12700">
            <a:solidFill>
              <a:srgbClr val="DCE1E7"/>
            </a:solidFill>
            <a:prstDash val="solid"/>
          </a:ln>
          <a:effectLst>
            <a:outerShdw blurRad="114300" dist="38100" dir="5400000" algn="bl" rotWithShape="0">
              <a:srgbClr val="9BA6B0">
                <a:alpha val="3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22960" y="4681728"/>
            <a:ext cx="548640" cy="548640"/>
          </a:xfrm>
          <a:prstGeom prst="ellipse">
            <a:avLst/>
          </a:prstGeom>
          <a:solidFill>
            <a:srgbClr val="E69F00"/>
          </a:solidFill>
          <a:ln/>
        </p:spPr>
      </p:sp>
      <p:sp>
        <p:nvSpPr>
          <p:cNvPr id="32" name="Text 30"/>
          <p:cNvSpPr/>
          <p:nvPr/>
        </p:nvSpPr>
        <p:spPr>
          <a:xfrm>
            <a:off x="822960" y="46817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1508760" y="4700016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체크인 참여율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841248" y="5285232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학생이 실제로 시작하는가?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4398264" y="4480560"/>
            <a:ext cx="3566160" cy="1463040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 w="12700">
            <a:solidFill>
              <a:srgbClr val="DCE1E7"/>
            </a:solidFill>
            <a:prstDash val="solid"/>
          </a:ln>
          <a:effectLst>
            <a:outerShdw blurRad="114300" dist="38100" dir="5400000" algn="bl" rotWithShape="0">
              <a:srgbClr val="9BA6B0">
                <a:alpha val="3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672584" y="4681728"/>
            <a:ext cx="548640" cy="548640"/>
          </a:xfrm>
          <a:prstGeom prst="ellipse">
            <a:avLst/>
          </a:prstGeom>
          <a:solidFill>
            <a:srgbClr val="E69F00"/>
          </a:solidFill>
          <a:ln/>
        </p:spPr>
      </p:sp>
      <p:sp>
        <p:nvSpPr>
          <p:cNvPr id="37" name="Text 35"/>
          <p:cNvSpPr/>
          <p:nvPr/>
        </p:nvSpPr>
        <p:spPr>
          <a:xfrm>
            <a:off x="4672584" y="46817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5358384" y="4700016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신호 신뢰도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4690872" y="5285232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상담사가 등급에 동의하는가?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8247888" y="4480560"/>
            <a:ext cx="3566160" cy="1463040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 w="12700">
            <a:solidFill>
              <a:srgbClr val="DCE1E7"/>
            </a:solidFill>
            <a:prstDash val="solid"/>
          </a:ln>
          <a:effectLst>
            <a:outerShdw blurRad="114300" dist="38100" dir="5400000" algn="bl" rotWithShape="0">
              <a:srgbClr val="9BA6B0">
                <a:alpha val="3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8522208" y="4681728"/>
            <a:ext cx="548640" cy="548640"/>
          </a:xfrm>
          <a:prstGeom prst="ellipse">
            <a:avLst/>
          </a:prstGeom>
          <a:solidFill>
            <a:srgbClr val="E69F00"/>
          </a:solidFill>
          <a:ln/>
        </p:spPr>
      </p:sp>
      <p:sp>
        <p:nvSpPr>
          <p:cNvPr id="42" name="Text 40"/>
          <p:cNvSpPr/>
          <p:nvPr/>
        </p:nvSpPr>
        <p:spPr>
          <a:xfrm>
            <a:off x="8522208" y="46817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Q3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9208008" y="4700016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우선순위 정확도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8540496" y="5285232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개입한 학생이 실제로 개선되는가?</a:t>
            </a:r>
            <a:endParaRPr lang="en-US" sz="12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1062" y="219456"/>
            <a:ext cx="1011784" cy="292608"/>
          </a:xfrm>
          <a:prstGeom prst="roundRect">
            <a:avLst>
              <a:gd name="adj" fmla="val 50000"/>
            </a:avLst>
          </a:prstGeom>
          <a:solidFill>
            <a:srgbClr val="F0F1F2"/>
          </a:solidFill>
          <a:ln/>
        </p:spPr>
      </p:sp>
      <p:sp>
        <p:nvSpPr>
          <p:cNvPr id="3" name="Text 1"/>
          <p:cNvSpPr/>
          <p:nvPr/>
        </p:nvSpPr>
        <p:spPr>
          <a:xfrm>
            <a:off x="7581062" y="219456"/>
            <a:ext cx="1011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9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제안 배경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8665997" y="219456"/>
            <a:ext cx="833704" cy="292608"/>
          </a:xfrm>
          <a:prstGeom prst="roundRect">
            <a:avLst>
              <a:gd name="adj" fmla="val 50000"/>
            </a:avLst>
          </a:prstGeom>
          <a:solidFill>
            <a:srgbClr val="F0F1F2"/>
          </a:solidFill>
          <a:ln/>
        </p:spPr>
      </p:sp>
      <p:sp>
        <p:nvSpPr>
          <p:cNvPr id="5" name="Text 3"/>
          <p:cNvSpPr/>
          <p:nvPr/>
        </p:nvSpPr>
        <p:spPr>
          <a:xfrm>
            <a:off x="8665997" y="219456"/>
            <a:ext cx="833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9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서비스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9572854" y="219456"/>
            <a:ext cx="1046531" cy="292608"/>
          </a:xfrm>
          <a:prstGeom prst="roundRect">
            <a:avLst>
              <a:gd name="adj" fmla="val 50000"/>
            </a:avLst>
          </a:prstGeom>
          <a:solidFill>
            <a:srgbClr val="F0F1F2"/>
          </a:solidFill>
          <a:ln/>
        </p:spPr>
      </p:sp>
      <p:sp>
        <p:nvSpPr>
          <p:cNvPr id="7" name="Text 5"/>
          <p:cNvSpPr/>
          <p:nvPr/>
        </p:nvSpPr>
        <p:spPr>
          <a:xfrm>
            <a:off x="9572854" y="219456"/>
            <a:ext cx="104653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9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검증·근거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0692536" y="219456"/>
            <a:ext cx="1011784" cy="292608"/>
          </a:xfrm>
          <a:prstGeom prst="roundRect">
            <a:avLst>
              <a:gd name="adj" fmla="val 50000"/>
            </a:avLst>
          </a:prstGeom>
          <a:solidFill>
            <a:srgbClr val="2A2E35"/>
          </a:solidFill>
          <a:ln/>
        </p:spPr>
      </p:sp>
      <p:sp>
        <p:nvSpPr>
          <p:cNvPr id="9" name="Text 7"/>
          <p:cNvSpPr/>
          <p:nvPr/>
        </p:nvSpPr>
        <p:spPr>
          <a:xfrm>
            <a:off x="10692536" y="219456"/>
            <a:ext cx="1011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도입 계획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66928" y="402336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7A82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SUCCESS METRICS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713232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성공은 점수가 아니라 </a:t>
            </a:r>
            <a:r>
              <a:rPr lang="en-US" sz="3400" b="1" dirty="0" err="1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</a:t>
            </a:r>
            <a:r>
              <a:rPr lang="en-US" sz="34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KPI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EB6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26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22960" y="15727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7A82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지표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749040" y="157276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7A82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측정 항목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046720" y="157276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7A82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질문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1938528"/>
            <a:ext cx="11091672" cy="731520"/>
          </a:xfrm>
          <a:prstGeom prst="roundRect">
            <a:avLst>
              <a:gd name="adj" fmla="val 11250"/>
            </a:avLst>
          </a:prstGeom>
          <a:solidFill>
            <a:srgbClr val="F3F5F7"/>
          </a:solidFill>
          <a:ln w="12700">
            <a:solidFill>
              <a:srgbClr val="DCE1E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" y="2231136"/>
            <a:ext cx="146304" cy="146304"/>
          </a:xfrm>
          <a:prstGeom prst="ellipse">
            <a:avLst/>
          </a:prstGeom>
          <a:solidFill>
            <a:srgbClr val="2A2E35"/>
          </a:solidFill>
          <a:ln/>
        </p:spPr>
      </p:sp>
      <p:sp>
        <p:nvSpPr>
          <p:cNvPr id="18" name="Text 16"/>
          <p:cNvSpPr/>
          <p:nvPr/>
        </p:nvSpPr>
        <p:spPr>
          <a:xfrm>
            <a:off x="1143000" y="1938528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kern="0" spc="50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ACTIVATION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3749040" y="1938528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체크인 완료율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046720" y="1938528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7A82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학생이 시작하는가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48640" y="2761488"/>
            <a:ext cx="11091672" cy="731520"/>
          </a:xfrm>
          <a:prstGeom prst="roundRect">
            <a:avLst>
              <a:gd name="adj" fmla="val 11250"/>
            </a:avLst>
          </a:prstGeom>
          <a:solidFill>
            <a:srgbClr val="F3F5F7"/>
          </a:solidFill>
          <a:ln w="12700">
            <a:solidFill>
              <a:srgbClr val="DCE1E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22960" y="3054096"/>
            <a:ext cx="146304" cy="146304"/>
          </a:xfrm>
          <a:prstGeom prst="ellipse">
            <a:avLst/>
          </a:prstGeom>
          <a:solidFill>
            <a:srgbClr val="2A2E35"/>
          </a:solidFill>
          <a:ln/>
        </p:spPr>
      </p:sp>
      <p:sp>
        <p:nvSpPr>
          <p:cNvPr id="23" name="Text 21"/>
          <p:cNvSpPr/>
          <p:nvPr/>
        </p:nvSpPr>
        <p:spPr>
          <a:xfrm>
            <a:off x="1143000" y="2761488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kern="0" spc="50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REACH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3749040" y="2761488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위험군 상담 연결률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046720" y="2761488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7A82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 학생에게 닿는가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548640" y="3584448"/>
            <a:ext cx="11091672" cy="731520"/>
          </a:xfrm>
          <a:prstGeom prst="roundRect">
            <a:avLst>
              <a:gd name="adj" fmla="val 11250"/>
            </a:avLst>
          </a:prstGeom>
          <a:solidFill>
            <a:srgbClr val="F3F5F7"/>
          </a:solidFill>
          <a:ln w="12700">
            <a:solidFill>
              <a:srgbClr val="DCE1E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22960" y="3877056"/>
            <a:ext cx="146304" cy="146304"/>
          </a:xfrm>
          <a:prstGeom prst="ellipse">
            <a:avLst/>
          </a:prstGeom>
          <a:solidFill>
            <a:srgbClr val="2A2E35"/>
          </a:solidFill>
          <a:ln/>
        </p:spPr>
      </p:sp>
      <p:sp>
        <p:nvSpPr>
          <p:cNvPr id="28" name="Text 26"/>
          <p:cNvSpPr/>
          <p:nvPr/>
        </p:nvSpPr>
        <p:spPr>
          <a:xfrm>
            <a:off x="1143000" y="3584448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kern="0" spc="50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ENGAGEMENT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3749040" y="3584448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프로그램 참여·완료율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046720" y="3584448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7A82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행동으로 이어지는가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548640" y="4407408"/>
            <a:ext cx="11091672" cy="731520"/>
          </a:xfrm>
          <a:prstGeom prst="roundRect">
            <a:avLst>
              <a:gd name="adj" fmla="val 11250"/>
            </a:avLst>
          </a:prstGeom>
          <a:solidFill>
            <a:srgbClr val="E1F3ED"/>
          </a:solidFill>
          <a:ln/>
        </p:spPr>
      </p:sp>
      <p:sp>
        <p:nvSpPr>
          <p:cNvPr id="32" name="Shape 30"/>
          <p:cNvSpPr/>
          <p:nvPr/>
        </p:nvSpPr>
        <p:spPr>
          <a:xfrm>
            <a:off x="822960" y="4700016"/>
            <a:ext cx="146304" cy="146304"/>
          </a:xfrm>
          <a:prstGeom prst="ellipse">
            <a:avLst/>
          </a:prstGeom>
          <a:solidFill>
            <a:srgbClr val="009E73"/>
          </a:solidFill>
          <a:ln/>
        </p:spPr>
      </p:sp>
      <p:sp>
        <p:nvSpPr>
          <p:cNvPr id="33" name="Text 31"/>
          <p:cNvSpPr/>
          <p:nvPr/>
        </p:nvSpPr>
        <p:spPr>
          <a:xfrm>
            <a:off x="1143000" y="4407408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kern="0" spc="50" dirty="0">
                <a:solidFill>
                  <a:srgbClr val="009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OUTCOME</a:t>
            </a:r>
            <a:endParaRPr lang="en-US" sz="1450" dirty="0"/>
          </a:p>
        </p:txBody>
      </p:sp>
      <p:sp>
        <p:nvSpPr>
          <p:cNvPr id="34" name="Text 32"/>
          <p:cNvSpPr/>
          <p:nvPr/>
        </p:nvSpPr>
        <p:spPr>
          <a:xfrm>
            <a:off x="3749040" y="4407408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리체크 등급 개선율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8046720" y="4407408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7A82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실제로 나아지는가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548640" y="5230368"/>
            <a:ext cx="11091672" cy="731520"/>
          </a:xfrm>
          <a:prstGeom prst="roundRect">
            <a:avLst>
              <a:gd name="adj" fmla="val 11250"/>
            </a:avLst>
          </a:prstGeom>
          <a:solidFill>
            <a:srgbClr val="F3F5F7"/>
          </a:solidFill>
          <a:ln w="12700">
            <a:solidFill>
              <a:srgbClr val="DCE1E7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22960" y="5522976"/>
            <a:ext cx="146304" cy="146304"/>
          </a:xfrm>
          <a:prstGeom prst="ellipse">
            <a:avLst/>
          </a:prstGeom>
          <a:solidFill>
            <a:srgbClr val="2A2E35"/>
          </a:solidFill>
          <a:ln/>
        </p:spPr>
      </p:sp>
      <p:sp>
        <p:nvSpPr>
          <p:cNvPr id="38" name="Text 36"/>
          <p:cNvSpPr/>
          <p:nvPr/>
        </p:nvSpPr>
        <p:spPr>
          <a:xfrm>
            <a:off x="1143000" y="5230368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kern="0" spc="50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EFFICIENCY</a:t>
            </a:r>
            <a:endParaRPr lang="en-US" sz="1450" dirty="0"/>
          </a:p>
        </p:txBody>
      </p:sp>
      <p:sp>
        <p:nvSpPr>
          <p:cNvPr id="39" name="Text 37"/>
          <p:cNvSpPr/>
          <p:nvPr/>
        </p:nvSpPr>
        <p:spPr>
          <a:xfrm>
            <a:off x="3749040" y="5230368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상담 배정 리드타임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8046720" y="5230368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7A82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운영이 빨라지는가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548640" y="614476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A82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점수(0.950)는 시작점일 뿐 — 성공은 학생의 등급이 실제로 나아지는지(OUTCOME)로 판단합니다.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1062" y="219456"/>
            <a:ext cx="1011784" cy="292608"/>
          </a:xfrm>
          <a:prstGeom prst="roundRect">
            <a:avLst>
              <a:gd name="adj" fmla="val 50000"/>
            </a:avLst>
          </a:prstGeom>
          <a:solidFill>
            <a:srgbClr val="F0F1F2"/>
          </a:solidFill>
          <a:ln/>
        </p:spPr>
      </p:sp>
      <p:sp>
        <p:nvSpPr>
          <p:cNvPr id="3" name="Text 1"/>
          <p:cNvSpPr/>
          <p:nvPr/>
        </p:nvSpPr>
        <p:spPr>
          <a:xfrm>
            <a:off x="7581062" y="219456"/>
            <a:ext cx="1011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9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제안 배경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8665997" y="219456"/>
            <a:ext cx="833704" cy="292608"/>
          </a:xfrm>
          <a:prstGeom prst="roundRect">
            <a:avLst>
              <a:gd name="adj" fmla="val 50000"/>
            </a:avLst>
          </a:prstGeom>
          <a:solidFill>
            <a:srgbClr val="F0F1F2"/>
          </a:solidFill>
          <a:ln/>
        </p:spPr>
      </p:sp>
      <p:sp>
        <p:nvSpPr>
          <p:cNvPr id="5" name="Text 3"/>
          <p:cNvSpPr/>
          <p:nvPr/>
        </p:nvSpPr>
        <p:spPr>
          <a:xfrm>
            <a:off x="8665997" y="219456"/>
            <a:ext cx="833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9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서비스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9572854" y="219456"/>
            <a:ext cx="1046531" cy="292608"/>
          </a:xfrm>
          <a:prstGeom prst="roundRect">
            <a:avLst>
              <a:gd name="adj" fmla="val 50000"/>
            </a:avLst>
          </a:prstGeom>
          <a:solidFill>
            <a:srgbClr val="F0F1F2"/>
          </a:solidFill>
          <a:ln/>
        </p:spPr>
      </p:sp>
      <p:sp>
        <p:nvSpPr>
          <p:cNvPr id="7" name="Text 5"/>
          <p:cNvSpPr/>
          <p:nvPr/>
        </p:nvSpPr>
        <p:spPr>
          <a:xfrm>
            <a:off x="9572854" y="219456"/>
            <a:ext cx="104653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9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검증·근거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0692536" y="219456"/>
            <a:ext cx="1011784" cy="292608"/>
          </a:xfrm>
          <a:prstGeom prst="roundRect">
            <a:avLst>
              <a:gd name="adj" fmla="val 50000"/>
            </a:avLst>
          </a:prstGeom>
          <a:solidFill>
            <a:srgbClr val="2A2E35"/>
          </a:solidFill>
          <a:ln/>
        </p:spPr>
      </p:sp>
      <p:sp>
        <p:nvSpPr>
          <p:cNvPr id="9" name="Text 7"/>
          <p:cNvSpPr/>
          <p:nvPr/>
        </p:nvSpPr>
        <p:spPr>
          <a:xfrm>
            <a:off x="10692536" y="219456"/>
            <a:ext cx="1011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도입 계획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66928" y="402336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7A82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EXPECTED VALUE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713232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더 많이가 </a:t>
            </a:r>
            <a:r>
              <a:rPr lang="en-US" sz="3400" b="1" dirty="0" err="1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아니라</a:t>
            </a:r>
            <a:r>
              <a:rPr lang="en-US" sz="34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더 </a:t>
            </a:r>
            <a:r>
              <a:rPr lang="ko-KR" altLang="en-US" sz="34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정확한 연결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EB6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27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1691640"/>
            <a:ext cx="3566160" cy="3063240"/>
          </a:xfrm>
          <a:prstGeom prst="roundRect">
            <a:avLst>
              <a:gd name="adj" fmla="val 2687"/>
            </a:avLst>
          </a:prstGeom>
          <a:solidFill>
            <a:srgbClr val="FFFFFF"/>
          </a:solidFill>
          <a:ln w="12700">
            <a:solidFill>
              <a:srgbClr val="DCE1E7"/>
            </a:solidFill>
            <a:prstDash val="solid"/>
          </a:ln>
          <a:effectLst>
            <a:outerShdw blurRad="114300" dist="38100" dir="5400000" algn="bl" rotWithShape="0">
              <a:srgbClr val="9BA6B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874520" y="1938528"/>
            <a:ext cx="914400" cy="914400"/>
          </a:xfrm>
          <a:prstGeom prst="ellipse">
            <a:avLst/>
          </a:prstGeom>
          <a:solidFill>
            <a:srgbClr val="009E73"/>
          </a:solidFill>
          <a:ln/>
        </p:spPr>
      </p:sp>
      <p:sp>
        <p:nvSpPr>
          <p:cNvPr id="15" name="Shape 13"/>
          <p:cNvSpPr/>
          <p:nvPr/>
        </p:nvSpPr>
        <p:spPr>
          <a:xfrm>
            <a:off x="2084832" y="2615184"/>
            <a:ext cx="91440" cy="16459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2286000" y="2523744"/>
            <a:ext cx="91440" cy="25603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2487168" y="2432304"/>
            <a:ext cx="91440" cy="34747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03580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효율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859536" y="3566160"/>
            <a:ext cx="29443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5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상담 우선순위 자동화로 제한된 보건 인력의 업무 효율을 높인다.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4398264" y="1691640"/>
            <a:ext cx="3566160" cy="3063240"/>
          </a:xfrm>
          <a:prstGeom prst="roundRect">
            <a:avLst>
              <a:gd name="adj" fmla="val 2687"/>
            </a:avLst>
          </a:prstGeom>
          <a:solidFill>
            <a:srgbClr val="FFFFFF"/>
          </a:solidFill>
          <a:ln w="12700">
            <a:solidFill>
              <a:srgbClr val="DCE1E7"/>
            </a:solidFill>
            <a:prstDash val="solid"/>
          </a:ln>
          <a:effectLst>
            <a:outerShdw blurRad="114300" dist="38100" dir="5400000" algn="bl" rotWithShape="0">
              <a:srgbClr val="9BA6B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724144" y="1938528"/>
            <a:ext cx="914400" cy="914400"/>
          </a:xfrm>
          <a:prstGeom prst="ellipse">
            <a:avLst/>
          </a:prstGeom>
          <a:solidFill>
            <a:srgbClr val="009E73"/>
          </a:solidFill>
          <a:ln/>
        </p:spPr>
      </p:sp>
      <p:sp>
        <p:nvSpPr>
          <p:cNvPr id="22" name="Shape 20"/>
          <p:cNvSpPr/>
          <p:nvPr/>
        </p:nvSpPr>
        <p:spPr>
          <a:xfrm>
            <a:off x="6126480" y="2121408"/>
            <a:ext cx="109728" cy="512064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/>
        </p:spPr>
      </p:sp>
      <p:sp>
        <p:nvSpPr>
          <p:cNvPr id="23" name="Shape 21"/>
          <p:cNvSpPr/>
          <p:nvPr/>
        </p:nvSpPr>
        <p:spPr>
          <a:xfrm>
            <a:off x="5925312" y="2322576"/>
            <a:ext cx="512064" cy="10972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4581144" y="303580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학생 복지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4709160" y="3566160"/>
            <a:ext cx="29443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5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위험을 조기에 발견해 학생별 맞춤 관리를 제공한다.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8247888" y="1691640"/>
            <a:ext cx="3566160" cy="3063240"/>
          </a:xfrm>
          <a:prstGeom prst="roundRect">
            <a:avLst>
              <a:gd name="adj" fmla="val 2687"/>
            </a:avLst>
          </a:prstGeom>
          <a:solidFill>
            <a:srgbClr val="FFFFFF"/>
          </a:solidFill>
          <a:ln w="12700">
            <a:solidFill>
              <a:srgbClr val="DCE1E7"/>
            </a:solidFill>
            <a:prstDash val="solid"/>
          </a:ln>
          <a:effectLst>
            <a:outerShdw blurRad="114300" dist="38100" dir="5400000" algn="bl" rotWithShape="0">
              <a:srgbClr val="9BA6B0">
                <a:alpha val="3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9573768" y="1938528"/>
            <a:ext cx="914400" cy="914400"/>
          </a:xfrm>
          <a:prstGeom prst="ellipse">
            <a:avLst/>
          </a:prstGeom>
          <a:solidFill>
            <a:srgbClr val="009E73"/>
          </a:solidFill>
          <a:ln/>
        </p:spPr>
      </p:sp>
      <p:sp>
        <p:nvSpPr>
          <p:cNvPr id="28" name="Text 26"/>
          <p:cNvSpPr/>
          <p:nvPr/>
        </p:nvSpPr>
        <p:spPr>
          <a:xfrm>
            <a:off x="9573768" y="1938528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3400" dirty="0"/>
          </a:p>
        </p:txBody>
      </p:sp>
      <p:sp>
        <p:nvSpPr>
          <p:cNvPr id="29" name="Text 27"/>
          <p:cNvSpPr/>
          <p:nvPr/>
        </p:nvSpPr>
        <p:spPr>
          <a:xfrm>
            <a:off x="8430768" y="303580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예방 효과</a:t>
            </a:r>
            <a:endParaRPr lang="en-US" sz="1900" dirty="0"/>
          </a:p>
        </p:txBody>
      </p:sp>
      <p:sp>
        <p:nvSpPr>
          <p:cNvPr id="30" name="Text 28"/>
          <p:cNvSpPr/>
          <p:nvPr/>
        </p:nvSpPr>
        <p:spPr>
          <a:xfrm>
            <a:off x="8558784" y="3566160"/>
            <a:ext cx="29443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5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악화를 예방하고 지속 모니터링으로 재발을 막는다.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548640" y="4983480"/>
            <a:ext cx="11091672" cy="960120"/>
          </a:xfrm>
          <a:prstGeom prst="roundRect">
            <a:avLst>
              <a:gd name="adj" fmla="val 8571"/>
            </a:avLst>
          </a:prstGeom>
          <a:solidFill>
            <a:srgbClr val="1F2430"/>
          </a:solidFill>
          <a:ln/>
          <a:effectLst>
            <a:outerShdw blurRad="114300" dist="38100" dir="5400000" algn="bl" rotWithShape="0">
              <a:srgbClr val="9BA6B0">
                <a:alpha val="3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548640" y="498348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69F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축이 만나는 결론  </a:t>
            </a: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= 위험 학생을 먼저 찾아 ‘필요한 지원에 정확히 연결’하는 플랫폼</a:t>
            </a:r>
            <a:endParaRPr lang="en-US" sz="15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1062" y="219456"/>
            <a:ext cx="1011784" cy="292608"/>
          </a:xfrm>
          <a:prstGeom prst="roundRect">
            <a:avLst>
              <a:gd name="adj" fmla="val 50000"/>
            </a:avLst>
          </a:prstGeom>
          <a:solidFill>
            <a:srgbClr val="F0F1F2"/>
          </a:solidFill>
          <a:ln/>
        </p:spPr>
      </p:sp>
      <p:sp>
        <p:nvSpPr>
          <p:cNvPr id="3" name="Text 1"/>
          <p:cNvSpPr/>
          <p:nvPr/>
        </p:nvSpPr>
        <p:spPr>
          <a:xfrm>
            <a:off x="7581062" y="219456"/>
            <a:ext cx="1011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9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제안 배경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8665997" y="219456"/>
            <a:ext cx="833704" cy="292608"/>
          </a:xfrm>
          <a:prstGeom prst="roundRect">
            <a:avLst>
              <a:gd name="adj" fmla="val 50000"/>
            </a:avLst>
          </a:prstGeom>
          <a:solidFill>
            <a:srgbClr val="F0F1F2"/>
          </a:solidFill>
          <a:ln/>
        </p:spPr>
      </p:sp>
      <p:sp>
        <p:nvSpPr>
          <p:cNvPr id="5" name="Text 3"/>
          <p:cNvSpPr/>
          <p:nvPr/>
        </p:nvSpPr>
        <p:spPr>
          <a:xfrm>
            <a:off x="8665997" y="219456"/>
            <a:ext cx="833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9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서비스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9572854" y="219456"/>
            <a:ext cx="1046531" cy="292608"/>
          </a:xfrm>
          <a:prstGeom prst="roundRect">
            <a:avLst>
              <a:gd name="adj" fmla="val 50000"/>
            </a:avLst>
          </a:prstGeom>
          <a:solidFill>
            <a:srgbClr val="F0F1F2"/>
          </a:solidFill>
          <a:ln/>
        </p:spPr>
      </p:sp>
      <p:sp>
        <p:nvSpPr>
          <p:cNvPr id="7" name="Text 5"/>
          <p:cNvSpPr/>
          <p:nvPr/>
        </p:nvSpPr>
        <p:spPr>
          <a:xfrm>
            <a:off x="9572854" y="219456"/>
            <a:ext cx="104653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9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검증·근거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0692536" y="219456"/>
            <a:ext cx="1011784" cy="292608"/>
          </a:xfrm>
          <a:prstGeom prst="roundRect">
            <a:avLst>
              <a:gd name="adj" fmla="val 50000"/>
            </a:avLst>
          </a:prstGeom>
          <a:solidFill>
            <a:srgbClr val="2A2E35"/>
          </a:solidFill>
          <a:ln/>
        </p:spPr>
      </p:sp>
      <p:sp>
        <p:nvSpPr>
          <p:cNvPr id="9" name="Text 7"/>
          <p:cNvSpPr/>
          <p:nvPr/>
        </p:nvSpPr>
        <p:spPr>
          <a:xfrm>
            <a:off x="10692536" y="219456"/>
            <a:ext cx="1011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도입 계획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66928" y="402336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7A82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ROADMAP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713232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경험을 검증한 뒤 </a:t>
            </a:r>
            <a:r>
              <a:rPr lang="en-US" sz="3400" b="1" dirty="0" err="1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연동을</a:t>
            </a:r>
            <a:r>
              <a:rPr lang="en-US" sz="34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3400" b="1" dirty="0" err="1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확장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EB6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28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1920240"/>
            <a:ext cx="2606040" cy="329184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DCE1E7"/>
            </a:solidFill>
            <a:prstDash val="solid"/>
          </a:ln>
          <a:effectLst>
            <a:outerShdw blurRad="114300" dist="38100" dir="5400000" algn="bl" rotWithShape="0">
              <a:srgbClr val="9BA6B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540764" y="2212848"/>
            <a:ext cx="621792" cy="621792"/>
          </a:xfrm>
          <a:prstGeom prst="ellipse">
            <a:avLst/>
          </a:prstGeom>
          <a:solidFill>
            <a:srgbClr val="2A2E35"/>
          </a:solidFill>
          <a:ln/>
        </p:spPr>
      </p:sp>
      <p:sp>
        <p:nvSpPr>
          <p:cNvPr id="15" name="Text 13"/>
          <p:cNvSpPr/>
          <p:nvPr/>
        </p:nvSpPr>
        <p:spPr>
          <a:xfrm>
            <a:off x="1540764" y="2212848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85800" y="299923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kern="0" spc="50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DISCOVER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685800" y="3401568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7A82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발견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04672" y="3950208"/>
            <a:ext cx="146304" cy="146304"/>
          </a:xfrm>
          <a:prstGeom prst="ellipse">
            <a:avLst/>
          </a:prstGeom>
          <a:solidFill>
            <a:srgbClr val="2A2E35"/>
          </a:solidFill>
          <a:ln/>
        </p:spPr>
      </p:sp>
      <p:sp>
        <p:nvSpPr>
          <p:cNvPr id="19" name="Text 17"/>
          <p:cNvSpPr/>
          <p:nvPr/>
        </p:nvSpPr>
        <p:spPr>
          <a:xfrm>
            <a:off x="1115568" y="3886200"/>
            <a:ext cx="18379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 인터뷰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04672" y="4517136"/>
            <a:ext cx="146304" cy="146304"/>
          </a:xfrm>
          <a:prstGeom prst="ellipse">
            <a:avLst/>
          </a:prstGeom>
          <a:solidFill>
            <a:srgbClr val="2A2E35"/>
          </a:solidFill>
          <a:ln/>
        </p:spPr>
      </p:sp>
      <p:sp>
        <p:nvSpPr>
          <p:cNvPr id="21" name="Text 19"/>
          <p:cNvSpPr/>
          <p:nvPr/>
        </p:nvSpPr>
        <p:spPr>
          <a:xfrm>
            <a:off x="1115568" y="4453128"/>
            <a:ext cx="18379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보건·상담·학생 니즈 파악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 rot="5400000">
            <a:off x="3154680" y="3456432"/>
            <a:ext cx="219456" cy="219456"/>
          </a:xfrm>
          <a:prstGeom prst="triangle">
            <a:avLst/>
          </a:prstGeom>
          <a:solidFill>
            <a:srgbClr val="AEB6BF"/>
          </a:solidFill>
          <a:ln/>
        </p:spPr>
      </p:sp>
      <p:sp>
        <p:nvSpPr>
          <p:cNvPr id="23" name="Shape 21"/>
          <p:cNvSpPr/>
          <p:nvPr/>
        </p:nvSpPr>
        <p:spPr>
          <a:xfrm>
            <a:off x="3374136" y="1920240"/>
            <a:ext cx="2606040" cy="329184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DCE1E7"/>
            </a:solidFill>
            <a:prstDash val="solid"/>
          </a:ln>
          <a:effectLst>
            <a:outerShdw blurRad="114300" dist="38100" dir="5400000" algn="bl" rotWithShape="0">
              <a:srgbClr val="9BA6B0">
                <a:alpha val="3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366260" y="2212848"/>
            <a:ext cx="621792" cy="621792"/>
          </a:xfrm>
          <a:prstGeom prst="ellipse">
            <a:avLst/>
          </a:prstGeom>
          <a:solidFill>
            <a:srgbClr val="2A2E35"/>
          </a:solidFill>
          <a:ln/>
        </p:spPr>
      </p:sp>
      <p:sp>
        <p:nvSpPr>
          <p:cNvPr id="25" name="Text 23"/>
          <p:cNvSpPr/>
          <p:nvPr/>
        </p:nvSpPr>
        <p:spPr>
          <a:xfrm>
            <a:off x="4366260" y="2212848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3511296" y="299923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kern="0" spc="50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PILOT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3511296" y="3401568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7A82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시작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3630168" y="3950208"/>
            <a:ext cx="146304" cy="146304"/>
          </a:xfrm>
          <a:prstGeom prst="ellipse">
            <a:avLst/>
          </a:prstGeom>
          <a:solidFill>
            <a:srgbClr val="2A2E35"/>
          </a:solidFill>
          <a:ln/>
        </p:spPr>
      </p:sp>
      <p:sp>
        <p:nvSpPr>
          <p:cNvPr id="29" name="Text 27"/>
          <p:cNvSpPr/>
          <p:nvPr/>
        </p:nvSpPr>
        <p:spPr>
          <a:xfrm>
            <a:off x="3941064" y="3886200"/>
            <a:ext cx="18379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학과 PoC (8주)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630168" y="4517136"/>
            <a:ext cx="146304" cy="146304"/>
          </a:xfrm>
          <a:prstGeom prst="ellipse">
            <a:avLst/>
          </a:prstGeom>
          <a:solidFill>
            <a:srgbClr val="2A2E35"/>
          </a:solidFill>
          <a:ln/>
        </p:spPr>
      </p:sp>
      <p:sp>
        <p:nvSpPr>
          <p:cNvPr id="31" name="Text 29"/>
          <p:cNvSpPr/>
          <p:nvPr/>
        </p:nvSpPr>
        <p:spPr>
          <a:xfrm>
            <a:off x="3941064" y="4453128"/>
            <a:ext cx="18379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체크인 → 개입 → 리체크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 rot="5400000">
            <a:off x="5980176" y="3456432"/>
            <a:ext cx="219456" cy="219456"/>
          </a:xfrm>
          <a:prstGeom prst="triangle">
            <a:avLst/>
          </a:prstGeom>
          <a:solidFill>
            <a:srgbClr val="AEB6BF"/>
          </a:solidFill>
          <a:ln/>
        </p:spPr>
      </p:sp>
      <p:sp>
        <p:nvSpPr>
          <p:cNvPr id="33" name="Shape 31"/>
          <p:cNvSpPr/>
          <p:nvPr/>
        </p:nvSpPr>
        <p:spPr>
          <a:xfrm>
            <a:off x="6199632" y="1920240"/>
            <a:ext cx="2606040" cy="329184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DCE1E7"/>
            </a:solidFill>
            <a:prstDash val="solid"/>
          </a:ln>
          <a:effectLst>
            <a:outerShdw blurRad="114300" dist="38100" dir="5400000" algn="bl" rotWithShape="0">
              <a:srgbClr val="9BA6B0">
                <a:alpha val="3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7191756" y="2212848"/>
            <a:ext cx="621792" cy="621792"/>
          </a:xfrm>
          <a:prstGeom prst="ellipse">
            <a:avLst/>
          </a:prstGeom>
          <a:solidFill>
            <a:srgbClr val="2A2E35"/>
          </a:solidFill>
          <a:ln/>
        </p:spPr>
      </p:sp>
      <p:sp>
        <p:nvSpPr>
          <p:cNvPr id="35" name="Text 33"/>
          <p:cNvSpPr/>
          <p:nvPr/>
        </p:nvSpPr>
        <p:spPr>
          <a:xfrm>
            <a:off x="7191756" y="2212848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6336792" y="299923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kern="0" spc="50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VALIDATE</a:t>
            </a:r>
            <a:endParaRPr lang="en-US" sz="1550" dirty="0"/>
          </a:p>
        </p:txBody>
      </p:sp>
      <p:sp>
        <p:nvSpPr>
          <p:cNvPr id="37" name="Text 35"/>
          <p:cNvSpPr/>
          <p:nvPr/>
        </p:nvSpPr>
        <p:spPr>
          <a:xfrm>
            <a:off x="6336792" y="3401568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7A82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효과 확인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6455664" y="3950208"/>
            <a:ext cx="146304" cy="146304"/>
          </a:xfrm>
          <a:prstGeom prst="ellipse">
            <a:avLst/>
          </a:prstGeom>
          <a:solidFill>
            <a:srgbClr val="2A2E35"/>
          </a:solidFill>
          <a:ln/>
        </p:spPr>
      </p:sp>
      <p:sp>
        <p:nvSpPr>
          <p:cNvPr id="39" name="Text 37"/>
          <p:cNvSpPr/>
          <p:nvPr/>
        </p:nvSpPr>
        <p:spPr>
          <a:xfrm>
            <a:off x="6766560" y="3886200"/>
            <a:ext cx="18379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KPI 검증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455664" y="4517136"/>
            <a:ext cx="146304" cy="146304"/>
          </a:xfrm>
          <a:prstGeom prst="ellipse">
            <a:avLst/>
          </a:prstGeom>
          <a:solidFill>
            <a:srgbClr val="2A2E35"/>
          </a:solidFill>
          <a:ln/>
        </p:spPr>
      </p:sp>
      <p:sp>
        <p:nvSpPr>
          <p:cNvPr id="41" name="Text 39"/>
          <p:cNvSpPr/>
          <p:nvPr/>
        </p:nvSpPr>
        <p:spPr>
          <a:xfrm>
            <a:off x="6766560" y="4453128"/>
            <a:ext cx="18379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참여·연결·개선율 측정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 rot="5400000">
            <a:off x="8805672" y="3456432"/>
            <a:ext cx="219456" cy="219456"/>
          </a:xfrm>
          <a:prstGeom prst="triangle">
            <a:avLst/>
          </a:prstGeom>
          <a:solidFill>
            <a:srgbClr val="AEB6BF"/>
          </a:solidFill>
          <a:ln/>
        </p:spPr>
      </p:sp>
      <p:sp>
        <p:nvSpPr>
          <p:cNvPr id="43" name="Shape 41"/>
          <p:cNvSpPr/>
          <p:nvPr/>
        </p:nvSpPr>
        <p:spPr>
          <a:xfrm>
            <a:off x="9025128" y="1920240"/>
            <a:ext cx="2606040" cy="3291840"/>
          </a:xfrm>
          <a:prstGeom prst="roundRect">
            <a:avLst>
              <a:gd name="adj" fmla="val 3158"/>
            </a:avLst>
          </a:prstGeom>
          <a:solidFill>
            <a:srgbClr val="E1F3ED"/>
          </a:solidFill>
          <a:ln/>
          <a:effectLst>
            <a:outerShdw blurRad="114300" dist="38100" dir="5400000" algn="bl" rotWithShape="0">
              <a:srgbClr val="9BA6B0">
                <a:alpha val="30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10017252" y="2212848"/>
            <a:ext cx="621792" cy="621792"/>
          </a:xfrm>
          <a:prstGeom prst="ellipse">
            <a:avLst/>
          </a:prstGeom>
          <a:solidFill>
            <a:srgbClr val="009E73"/>
          </a:solidFill>
          <a:ln/>
        </p:spPr>
      </p:sp>
      <p:sp>
        <p:nvSpPr>
          <p:cNvPr id="45" name="Text 43"/>
          <p:cNvSpPr/>
          <p:nvPr/>
        </p:nvSpPr>
        <p:spPr>
          <a:xfrm>
            <a:off x="10017252" y="2212848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2000" dirty="0"/>
          </a:p>
        </p:txBody>
      </p:sp>
      <p:sp>
        <p:nvSpPr>
          <p:cNvPr id="46" name="Text 44"/>
          <p:cNvSpPr/>
          <p:nvPr/>
        </p:nvSpPr>
        <p:spPr>
          <a:xfrm>
            <a:off x="9162288" y="299923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kern="0" spc="50" dirty="0">
                <a:solidFill>
                  <a:srgbClr val="009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SCALE</a:t>
            </a:r>
            <a:endParaRPr lang="en-US" sz="1550" dirty="0"/>
          </a:p>
        </p:txBody>
      </p:sp>
      <p:sp>
        <p:nvSpPr>
          <p:cNvPr id="47" name="Text 45"/>
          <p:cNvSpPr/>
          <p:nvPr/>
        </p:nvSpPr>
        <p:spPr>
          <a:xfrm>
            <a:off x="9162288" y="3401568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7A82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확대</a:t>
            </a:r>
            <a:endParaRPr lang="en-US" sz="1250" dirty="0"/>
          </a:p>
        </p:txBody>
      </p:sp>
      <p:sp>
        <p:nvSpPr>
          <p:cNvPr id="48" name="Shape 46"/>
          <p:cNvSpPr/>
          <p:nvPr/>
        </p:nvSpPr>
        <p:spPr>
          <a:xfrm>
            <a:off x="9281160" y="3950208"/>
            <a:ext cx="146304" cy="146304"/>
          </a:xfrm>
          <a:prstGeom prst="ellipse">
            <a:avLst/>
          </a:prstGeom>
          <a:solidFill>
            <a:srgbClr val="009E73"/>
          </a:solidFill>
          <a:ln/>
        </p:spPr>
      </p:sp>
      <p:sp>
        <p:nvSpPr>
          <p:cNvPr id="49" name="Text 47"/>
          <p:cNvSpPr/>
          <p:nvPr/>
        </p:nvSpPr>
        <p:spPr>
          <a:xfrm>
            <a:off x="9592056" y="3886200"/>
            <a:ext cx="18379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전교 확대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9281160" y="4517136"/>
            <a:ext cx="146304" cy="146304"/>
          </a:xfrm>
          <a:prstGeom prst="ellipse">
            <a:avLst/>
          </a:prstGeom>
          <a:solidFill>
            <a:srgbClr val="009E73"/>
          </a:solidFill>
          <a:ln/>
        </p:spPr>
      </p:sp>
      <p:sp>
        <p:nvSpPr>
          <p:cNvPr id="51" name="Text 49"/>
          <p:cNvSpPr/>
          <p:nvPr/>
        </p:nvSpPr>
        <p:spPr>
          <a:xfrm>
            <a:off x="9592056" y="4453128"/>
            <a:ext cx="18379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웨어러블·LLM 상담 연동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548640" y="55321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7A82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경험(참여·신뢰)을 먼저 검증한 뒤에야 웨어러블·LLM 등 데이터 연동을 확장합니다 — 기술보다 신뢰가 먼저입니다.</a:t>
            </a:r>
            <a:endParaRPr lang="en-US" sz="13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1062" y="219456"/>
            <a:ext cx="1011784" cy="292608"/>
          </a:xfrm>
          <a:prstGeom prst="roundRect">
            <a:avLst>
              <a:gd name="adj" fmla="val 50000"/>
            </a:avLst>
          </a:prstGeom>
          <a:solidFill>
            <a:srgbClr val="F0F1F2"/>
          </a:solidFill>
          <a:ln/>
        </p:spPr>
      </p:sp>
      <p:sp>
        <p:nvSpPr>
          <p:cNvPr id="3" name="Text 1"/>
          <p:cNvSpPr/>
          <p:nvPr/>
        </p:nvSpPr>
        <p:spPr>
          <a:xfrm>
            <a:off x="7581062" y="219456"/>
            <a:ext cx="1011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9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제안 배경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8665997" y="219456"/>
            <a:ext cx="833704" cy="292608"/>
          </a:xfrm>
          <a:prstGeom prst="roundRect">
            <a:avLst>
              <a:gd name="adj" fmla="val 50000"/>
            </a:avLst>
          </a:prstGeom>
          <a:solidFill>
            <a:srgbClr val="F0F1F2"/>
          </a:solidFill>
          <a:ln/>
        </p:spPr>
      </p:sp>
      <p:sp>
        <p:nvSpPr>
          <p:cNvPr id="5" name="Text 3"/>
          <p:cNvSpPr/>
          <p:nvPr/>
        </p:nvSpPr>
        <p:spPr>
          <a:xfrm>
            <a:off x="8665997" y="219456"/>
            <a:ext cx="833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9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서비스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9572854" y="219456"/>
            <a:ext cx="1046531" cy="292608"/>
          </a:xfrm>
          <a:prstGeom prst="roundRect">
            <a:avLst>
              <a:gd name="adj" fmla="val 50000"/>
            </a:avLst>
          </a:prstGeom>
          <a:solidFill>
            <a:srgbClr val="F0F1F2"/>
          </a:solidFill>
          <a:ln/>
        </p:spPr>
      </p:sp>
      <p:sp>
        <p:nvSpPr>
          <p:cNvPr id="7" name="Text 5"/>
          <p:cNvSpPr/>
          <p:nvPr/>
        </p:nvSpPr>
        <p:spPr>
          <a:xfrm>
            <a:off x="9572854" y="219456"/>
            <a:ext cx="104653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9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검증·근거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0692536" y="219456"/>
            <a:ext cx="1011784" cy="292608"/>
          </a:xfrm>
          <a:prstGeom prst="roundRect">
            <a:avLst>
              <a:gd name="adj" fmla="val 50000"/>
            </a:avLst>
          </a:prstGeom>
          <a:solidFill>
            <a:srgbClr val="2A2E35"/>
          </a:solidFill>
          <a:ln/>
        </p:spPr>
      </p:sp>
      <p:sp>
        <p:nvSpPr>
          <p:cNvPr id="9" name="Text 7"/>
          <p:cNvSpPr/>
          <p:nvPr/>
        </p:nvSpPr>
        <p:spPr>
          <a:xfrm>
            <a:off x="10692536" y="219456"/>
            <a:ext cx="1011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도입 계획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66928" y="402336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7A82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HONEST CONDITIONS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713232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정직한 조건을 </a:t>
            </a:r>
            <a:r>
              <a:rPr lang="en-US" sz="3400" b="1" dirty="0" err="1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함께</a:t>
            </a:r>
            <a:r>
              <a:rPr lang="en-US" sz="34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3400" b="1" dirty="0" err="1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제시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EB6BF"/>
                </a:solidFill>
                <a:latin typeface="Malgun Gothic" pitchFamily="34" charset="0"/>
                <a:ea typeface="Malgun Gothic" pitchFamily="34" charset="-122"/>
              </a:rPr>
              <a:t>29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1783080"/>
            <a:ext cx="5468112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CE1E7"/>
            </a:solidFill>
            <a:prstDash val="solid"/>
          </a:ln>
          <a:effectLst>
            <a:outerShdw blurRad="114300" dist="38100" dir="5400000" algn="bl" rotWithShape="0">
              <a:srgbClr val="9BA6B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22960" y="2075688"/>
            <a:ext cx="237744" cy="237744"/>
          </a:xfrm>
          <a:prstGeom prst="ellipse">
            <a:avLst/>
          </a:prstGeom>
          <a:solidFill>
            <a:srgbClr val="D55E00"/>
          </a:solidFill>
          <a:ln/>
        </p:spPr>
      </p:sp>
      <p:sp>
        <p:nvSpPr>
          <p:cNvPr id="15" name="Text 13"/>
          <p:cNvSpPr/>
          <p:nvPr/>
        </p:nvSpPr>
        <p:spPr>
          <a:xfrm>
            <a:off x="1207008" y="2002536"/>
            <a:ext cx="45537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55E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합성 데이터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59536" y="2532888"/>
            <a:ext cx="4828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4000"/>
              </a:lnSpc>
              <a:buNone/>
            </a:pPr>
            <a:r>
              <a:rPr lang="en-US" sz="130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점수 천장 ~0.952 — 캐글 합성 데이터의 구조적 한계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59536" y="3108960"/>
            <a:ext cx="4828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9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대응  </a:t>
            </a:r>
            <a:r>
              <a:rPr lang="en-US" sz="125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실데이터 확보 시 외부 타당성 검증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172200" y="1783080"/>
            <a:ext cx="5468112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CE1E7"/>
            </a:solidFill>
            <a:prstDash val="solid"/>
          </a:ln>
          <a:effectLst>
            <a:outerShdw blurRad="114300" dist="38100" dir="5400000" algn="bl" rotWithShape="0">
              <a:srgbClr val="9BA6B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46520" y="2075688"/>
            <a:ext cx="237744" cy="237744"/>
          </a:xfrm>
          <a:prstGeom prst="ellipse">
            <a:avLst/>
          </a:prstGeom>
          <a:solidFill>
            <a:srgbClr val="D55E00"/>
          </a:solidFill>
          <a:ln/>
        </p:spPr>
      </p:sp>
      <p:sp>
        <p:nvSpPr>
          <p:cNvPr id="20" name="Text 18"/>
          <p:cNvSpPr/>
          <p:nvPr/>
        </p:nvSpPr>
        <p:spPr>
          <a:xfrm>
            <a:off x="6830568" y="2002536"/>
            <a:ext cx="45537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55E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실세계 검증 아님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83096" y="2532888"/>
            <a:ext cx="4828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4000"/>
              </a:lnSpc>
              <a:buNone/>
            </a:pPr>
            <a:r>
              <a:rPr lang="en-US" sz="130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학생 데이터로의 외부 타당성은 아직 미검증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83096" y="3108960"/>
            <a:ext cx="4828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9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대응  </a:t>
            </a:r>
            <a:r>
              <a:rPr lang="en-US" sz="125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PoC로 현장 타당성 확인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48640" y="3794760"/>
            <a:ext cx="5468112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CE1E7"/>
            </a:solidFill>
            <a:prstDash val="solid"/>
          </a:ln>
          <a:effectLst>
            <a:outerShdw blurRad="114300" dist="38100" dir="5400000" algn="bl" rotWithShape="0">
              <a:srgbClr val="9BA6B0">
                <a:alpha val="3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22960" y="4087368"/>
            <a:ext cx="237744" cy="237744"/>
          </a:xfrm>
          <a:prstGeom prst="ellipse">
            <a:avLst/>
          </a:prstGeom>
          <a:solidFill>
            <a:srgbClr val="A87400"/>
          </a:solidFill>
          <a:ln/>
        </p:spPr>
      </p:sp>
      <p:sp>
        <p:nvSpPr>
          <p:cNvPr id="25" name="Text 23"/>
          <p:cNvSpPr/>
          <p:nvPr/>
        </p:nvSpPr>
        <p:spPr>
          <a:xfrm>
            <a:off x="1207008" y="4014216"/>
            <a:ext cx="45537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874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상관 ≠ 인과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59536" y="4544568"/>
            <a:ext cx="4828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4000"/>
              </a:lnSpc>
              <a:buNone/>
            </a:pPr>
            <a:r>
              <a:rPr lang="en-US" sz="130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개입이 효과 있다는 인과는 아직 증명 전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59536" y="5120640"/>
            <a:ext cx="4828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9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대응  </a:t>
            </a:r>
            <a:r>
              <a:rPr lang="en-US" sz="125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개입 전후 비교로 효과 측정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172200" y="3794760"/>
            <a:ext cx="5468112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CE1E7"/>
            </a:solidFill>
            <a:prstDash val="solid"/>
          </a:ln>
          <a:effectLst>
            <a:outerShdw blurRad="114300" dist="38100" dir="5400000" algn="bl" rotWithShape="0">
              <a:srgbClr val="9BA6B0">
                <a:alpha val="3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446520" y="4087368"/>
            <a:ext cx="237744" cy="237744"/>
          </a:xfrm>
          <a:prstGeom prst="ellipse">
            <a:avLst/>
          </a:prstGeom>
          <a:solidFill>
            <a:srgbClr val="009E73"/>
          </a:solidFill>
          <a:ln/>
        </p:spPr>
      </p:sp>
      <p:sp>
        <p:nvSpPr>
          <p:cNvPr id="30" name="Text 28"/>
          <p:cNvSpPr/>
          <p:nvPr/>
        </p:nvSpPr>
        <p:spPr>
          <a:xfrm>
            <a:off x="6830568" y="4014216"/>
            <a:ext cx="45537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9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모델은 보조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483096" y="4544568"/>
            <a:ext cx="4828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4000"/>
              </a:lnSpc>
              <a:buNone/>
            </a:pPr>
            <a:r>
              <a:rPr lang="en-US" sz="130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판단은 사람 — 모델은 우선순위만 제안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483096" y="5120640"/>
            <a:ext cx="4828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9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대응  </a:t>
            </a:r>
            <a:r>
              <a:rPr lang="en-US" sz="125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상담사 결정 지원 도구로 설계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548640" y="5852160"/>
            <a:ext cx="11091672" cy="548640"/>
          </a:xfrm>
          <a:prstGeom prst="roundRect">
            <a:avLst>
              <a:gd name="adj" fmla="val 15000"/>
            </a:avLst>
          </a:prstGeom>
          <a:solidFill>
            <a:srgbClr val="1F2430"/>
          </a:solidFill>
          <a:ln/>
          <a:effectLst>
            <a:outerShdw blurRad="114300" dist="38100" dir="5400000" algn="bl" rotWithShape="0">
              <a:srgbClr val="9BA6B0">
                <a:alpha val="3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548640" y="585216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한계를 감추지 않는 것이 신뢰의 출발점입니다 — 과장 없이, 검증할 수 있는 것만 약속합니다.</a:t>
            </a:r>
            <a:endParaRPr lang="en-US" sz="13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1062" y="219456"/>
            <a:ext cx="1011784" cy="292608"/>
          </a:xfrm>
          <a:prstGeom prst="roundRect">
            <a:avLst>
              <a:gd name="adj" fmla="val 50000"/>
            </a:avLst>
          </a:prstGeom>
          <a:solidFill>
            <a:srgbClr val="3B4354"/>
          </a:solidFill>
          <a:ln/>
        </p:spPr>
      </p:sp>
      <p:sp>
        <p:nvSpPr>
          <p:cNvPr id="3" name="Text 1"/>
          <p:cNvSpPr/>
          <p:nvPr/>
        </p:nvSpPr>
        <p:spPr>
          <a:xfrm>
            <a:off x="7581062" y="219456"/>
            <a:ext cx="1011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AA3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제안 배경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8665997" y="219456"/>
            <a:ext cx="833704" cy="292608"/>
          </a:xfrm>
          <a:prstGeom prst="roundRect">
            <a:avLst>
              <a:gd name="adj" fmla="val 50000"/>
            </a:avLst>
          </a:prstGeom>
          <a:solidFill>
            <a:srgbClr val="3B4354"/>
          </a:solidFill>
          <a:ln/>
        </p:spPr>
      </p:sp>
      <p:sp>
        <p:nvSpPr>
          <p:cNvPr id="5" name="Text 3"/>
          <p:cNvSpPr/>
          <p:nvPr/>
        </p:nvSpPr>
        <p:spPr>
          <a:xfrm>
            <a:off x="8665997" y="219456"/>
            <a:ext cx="833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AA3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서비스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9572854" y="219456"/>
            <a:ext cx="1046531" cy="292608"/>
          </a:xfrm>
          <a:prstGeom prst="roundRect">
            <a:avLst>
              <a:gd name="adj" fmla="val 50000"/>
            </a:avLst>
          </a:prstGeom>
          <a:solidFill>
            <a:srgbClr val="3B4354"/>
          </a:solidFill>
          <a:ln/>
        </p:spPr>
      </p:sp>
      <p:sp>
        <p:nvSpPr>
          <p:cNvPr id="7" name="Text 5"/>
          <p:cNvSpPr/>
          <p:nvPr/>
        </p:nvSpPr>
        <p:spPr>
          <a:xfrm>
            <a:off x="9572854" y="219456"/>
            <a:ext cx="104653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AA3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검증·근거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0692536" y="219456"/>
            <a:ext cx="1011784" cy="292608"/>
          </a:xfrm>
          <a:prstGeom prst="roundRect">
            <a:avLst>
              <a:gd name="adj" fmla="val 50000"/>
            </a:avLst>
          </a:prstGeom>
          <a:solidFill>
            <a:srgbClr val="E8EBF0"/>
          </a:solidFill>
          <a:ln/>
        </p:spPr>
      </p:sp>
      <p:sp>
        <p:nvSpPr>
          <p:cNvPr id="9" name="Text 7"/>
          <p:cNvSpPr/>
          <p:nvPr/>
        </p:nvSpPr>
        <p:spPr>
          <a:xfrm>
            <a:off x="10692536" y="219456"/>
            <a:ext cx="1011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도입 계획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9870948" y="1572768"/>
            <a:ext cx="1380744" cy="3941064"/>
          </a:xfrm>
          <a:prstGeom prst="roundRect">
            <a:avLst>
              <a:gd name="adj" fmla="val 11921"/>
            </a:avLst>
          </a:prstGeom>
          <a:solidFill>
            <a:srgbClr val="2B313E"/>
          </a:solidFill>
          <a:ln w="15875">
            <a:solidFill>
              <a:srgbClr val="3B435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126980" y="1828800"/>
            <a:ext cx="868680" cy="868680"/>
          </a:xfrm>
          <a:prstGeom prst="ellipse">
            <a:avLst/>
          </a:prstGeom>
          <a:solidFill>
            <a:srgbClr val="D55E00"/>
          </a:solidFill>
          <a:ln/>
        </p:spPr>
      </p:sp>
      <p:sp>
        <p:nvSpPr>
          <p:cNvPr id="12" name="Shape 10"/>
          <p:cNvSpPr/>
          <p:nvPr/>
        </p:nvSpPr>
        <p:spPr>
          <a:xfrm>
            <a:off x="10126980" y="3108960"/>
            <a:ext cx="868680" cy="868680"/>
          </a:xfrm>
          <a:prstGeom prst="ellipse">
            <a:avLst/>
          </a:prstGeom>
          <a:solidFill>
            <a:srgbClr val="E69F00"/>
          </a:solidFill>
          <a:ln/>
        </p:spPr>
      </p:sp>
      <p:sp>
        <p:nvSpPr>
          <p:cNvPr id="13" name="Shape 11"/>
          <p:cNvSpPr/>
          <p:nvPr/>
        </p:nvSpPr>
        <p:spPr>
          <a:xfrm>
            <a:off x="10126980" y="4389120"/>
            <a:ext cx="868680" cy="868680"/>
          </a:xfrm>
          <a:prstGeom prst="ellipse">
            <a:avLst/>
          </a:prstGeom>
          <a:solidFill>
            <a:srgbClr val="009E73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1097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E69F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NEXT STEP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04672" y="146304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사후 대응을 선제적 연결로 바꿉니다</a:t>
            </a:r>
            <a:endParaRPr lang="en-US" sz="3800" dirty="0"/>
          </a:p>
        </p:txBody>
      </p:sp>
      <p:sp>
        <p:nvSpPr>
          <p:cNvPr id="16" name="Shape 14"/>
          <p:cNvSpPr/>
          <p:nvPr/>
        </p:nvSpPr>
        <p:spPr>
          <a:xfrm>
            <a:off x="868680" y="2679192"/>
            <a:ext cx="512064" cy="512064"/>
          </a:xfrm>
          <a:prstGeom prst="ellipse">
            <a:avLst/>
          </a:prstGeom>
          <a:solidFill>
            <a:srgbClr val="009E73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267919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627632" y="260604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 인터뷰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1627632" y="309067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AA3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보건·상담·학생의 실제 니즈를 확인합니다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68680" y="3703320"/>
            <a:ext cx="512064" cy="512064"/>
          </a:xfrm>
          <a:prstGeom prst="ellipse">
            <a:avLst/>
          </a:prstGeom>
          <a:solidFill>
            <a:srgbClr val="E69F00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37033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627632" y="3630168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개입 규칙 워크숍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1627632" y="411480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AA3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등급별 개입 시나리오를 함께 설계·합의합니다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868680" y="4727448"/>
            <a:ext cx="512064" cy="512064"/>
          </a:xfrm>
          <a:prstGeom prst="ellipse">
            <a:avLst/>
          </a:prstGeom>
          <a:solidFill>
            <a:srgbClr val="D55E00"/>
          </a:solidFill>
          <a:ln/>
        </p:spPr>
      </p:sp>
      <p:sp>
        <p:nvSpPr>
          <p:cNvPr id="25" name="Text 23"/>
          <p:cNvSpPr/>
          <p:nvPr/>
        </p:nvSpPr>
        <p:spPr>
          <a:xfrm>
            <a:off x="868680" y="47274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627632" y="4654296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PoC 승인</a:t>
            </a:r>
            <a:endParaRPr lang="en-US" sz="2100" dirty="0"/>
          </a:p>
        </p:txBody>
      </p:sp>
      <p:sp>
        <p:nvSpPr>
          <p:cNvPr id="27" name="Text 25"/>
          <p:cNvSpPr/>
          <p:nvPr/>
        </p:nvSpPr>
        <p:spPr>
          <a:xfrm>
            <a:off x="1627632" y="5138928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AA3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학과·한 학기 파일럿을 시작합니다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22960" y="58978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69F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&amp; A</a:t>
            </a:r>
            <a:endParaRPr lang="en-US" sz="3000" dirty="0"/>
          </a:p>
        </p:txBody>
      </p:sp>
      <p:sp>
        <p:nvSpPr>
          <p:cNvPr id="29" name="Text 27"/>
          <p:cNvSpPr/>
          <p:nvPr/>
        </p:nvSpPr>
        <p:spPr>
          <a:xfrm>
            <a:off x="7955280" y="603504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9AA3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감사합니다.</a:t>
            </a:r>
            <a:endParaRPr lang="en-US" sz="16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743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310896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부록: 데이터 · 시각화 상세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38404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상세 분포 · 데이터 정합성 · 인과 vs 상관 분석 · 실험 매트릭스 전체 · 추가 SHAP 분석</a:t>
            </a:r>
            <a:endParaRPr lang="en-US" sz="13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292608"/>
            <a:ext cx="1764792" cy="310896"/>
          </a:xfrm>
          <a:prstGeom prst="roundRect">
            <a:avLst>
              <a:gd name="adj" fmla="val 17647"/>
            </a:avLst>
          </a:prstGeom>
          <a:solidFill>
            <a:srgbClr val="22232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9966960" y="292608"/>
            <a:ext cx="1764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2E9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부록 A1 · EDA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"/>
            <a:ext cx="9418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223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범주형 피처별 건강등급 분포</a:t>
            </a:r>
            <a:endParaRPr lang="en-US" sz="2200" dirty="0"/>
          </a:p>
        </p:txBody>
      </p:sp>
      <p:pic>
        <p:nvPicPr>
          <p:cNvPr id="8" name="Image 0" descr="assets/categorical_by_cla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293" y="1342647"/>
            <a:ext cx="10082107" cy="522274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2960" y="7029216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diet_type · stress_level · sleep_quality · physical_activity_level · smoking_alcohol · gender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292608"/>
            <a:ext cx="1764792" cy="310896"/>
          </a:xfrm>
          <a:prstGeom prst="roundRect">
            <a:avLst>
              <a:gd name="adj" fmla="val 17647"/>
            </a:avLst>
          </a:prstGeom>
          <a:solidFill>
            <a:srgbClr val="22232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9966960" y="292608"/>
            <a:ext cx="1764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 err="1">
                <a:solidFill>
                  <a:srgbClr val="2E9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부록</a:t>
            </a:r>
            <a:r>
              <a:rPr lang="en-US" sz="1200" b="1" kern="0" spc="100" dirty="0">
                <a:solidFill>
                  <a:srgbClr val="2E9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A2 · 데이터 정합성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"/>
            <a:ext cx="9418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223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 vs Test 분포 일치 검증</a:t>
            </a:r>
            <a:endParaRPr lang="en-US" sz="2200" dirty="0"/>
          </a:p>
        </p:txBody>
      </p:sp>
      <p:pic>
        <p:nvPicPr>
          <p:cNvPr id="8" name="Image 0" descr="assets/train_te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600200"/>
            <a:ext cx="10515600" cy="316118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2960" y="4834533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bmi · step_count · heart_rate (synthetic data sanity check)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822960" y="49377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223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학습(train) · 평가(test) 데이터의 주요 피처 분포가 서로 일치함을 확인하여, 모델이 실제 배포 환경에서도 학습 시와 동일한 성능을 낼 수 있음을 사전에 검증했습니다.</a:t>
            </a:r>
            <a:endParaRPr lang="en-US" sz="12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292608"/>
            <a:ext cx="1764792" cy="310896"/>
          </a:xfrm>
          <a:prstGeom prst="roundRect">
            <a:avLst>
              <a:gd name="adj" fmla="val 17647"/>
            </a:avLst>
          </a:prstGeom>
          <a:solidFill>
            <a:srgbClr val="22232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9966960" y="292608"/>
            <a:ext cx="1764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 err="1">
                <a:solidFill>
                  <a:srgbClr val="2E9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부록</a:t>
            </a:r>
            <a:r>
              <a:rPr lang="en-US" sz="1200" b="1" kern="0" spc="100" dirty="0">
                <a:solidFill>
                  <a:srgbClr val="2E9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A3 · 인과 VS 상관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"/>
            <a:ext cx="9418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223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인과관계 피처 vs 상관관계 프록시 비교</a:t>
            </a:r>
            <a:endParaRPr lang="en-US" sz="2200" dirty="0"/>
          </a:p>
        </p:txBody>
      </p:sp>
      <p:pic>
        <p:nvPicPr>
          <p:cNvPr id="8" name="Image 0" descr="assets/causal_correl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1600200"/>
            <a:ext cx="9601200" cy="360045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80160" y="527380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3(causal) vs proxy 10(correlational) vs all 13 features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280160" y="5074919"/>
            <a:ext cx="9601200" cy="16137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223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인과 피처 3개만으로 Balanced Accuracy 0.943을 이미 확보하며, 상관관계 기반 프록시 변수는 핵심 피처가 결측된 경우에만 보완적 가치를 가집니다 — 피처 설계 우선순위의 근거가 됩니다.</a:t>
            </a:r>
            <a:endParaRPr lang="en-US" sz="12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292608"/>
            <a:ext cx="1764792" cy="310896"/>
          </a:xfrm>
          <a:prstGeom prst="roundRect">
            <a:avLst>
              <a:gd name="adj" fmla="val 17647"/>
            </a:avLst>
          </a:prstGeom>
          <a:solidFill>
            <a:srgbClr val="22232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9966960" y="292608"/>
            <a:ext cx="1764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 err="1">
                <a:solidFill>
                  <a:srgbClr val="2E9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부록</a:t>
            </a:r>
            <a:r>
              <a:rPr lang="en-US" sz="1200" b="1" kern="0" spc="100" dirty="0">
                <a:solidFill>
                  <a:srgbClr val="2E9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A4 · 실험 매트릭스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"/>
            <a:ext cx="428413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223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실험 통합 매트릭스: </a:t>
            </a:r>
          </a:p>
          <a:p>
            <a:pPr marL="0" indent="0">
              <a:buNone/>
            </a:pPr>
            <a:r>
              <a:rPr lang="en-US" sz="2200" b="1" dirty="0" err="1">
                <a:solidFill>
                  <a:srgbClr val="2223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모델</a:t>
            </a:r>
            <a:r>
              <a:rPr lang="en-US" sz="2200" b="1" dirty="0">
                <a:solidFill>
                  <a:srgbClr val="2223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인코딩 · 피처 조합별 성능</a:t>
            </a:r>
            <a:endParaRPr lang="en-US" sz="2200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BDB20777-22CC-43CE-BEA8-D09F57D706D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5802" b="13867"/>
          <a:stretch/>
        </p:blipFill>
        <p:spPr>
          <a:xfrm>
            <a:off x="4526938" y="973667"/>
            <a:ext cx="6881048" cy="5610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476873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292608"/>
            <a:ext cx="1764792" cy="310896"/>
          </a:xfrm>
          <a:prstGeom prst="roundRect">
            <a:avLst>
              <a:gd name="adj" fmla="val 17647"/>
            </a:avLst>
          </a:prstGeom>
          <a:solidFill>
            <a:srgbClr val="22232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9966960" y="292608"/>
            <a:ext cx="1764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 err="1">
                <a:solidFill>
                  <a:srgbClr val="2E9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부록</a:t>
            </a:r>
            <a:r>
              <a:rPr lang="en-US" sz="1200" b="1" kern="0" spc="100" dirty="0">
                <a:solidFill>
                  <a:srgbClr val="2E9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A5 · SHAP 상세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"/>
            <a:ext cx="9418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223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 Beeswarm: Fit vs Unhealthy 클래스</a:t>
            </a:r>
            <a:endParaRPr lang="en-US" sz="2200" dirty="0"/>
          </a:p>
        </p:txBody>
      </p:sp>
      <p:pic>
        <p:nvPicPr>
          <p:cNvPr id="8" name="Image 0" descr="assets/shap_beeswarm_f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600200"/>
            <a:ext cx="5394960" cy="4569329"/>
          </a:xfrm>
          <a:prstGeom prst="rect">
            <a:avLst/>
          </a:prstGeom>
        </p:spPr>
      </p:pic>
      <p:pic>
        <p:nvPicPr>
          <p:cNvPr id="9" name="Image 1" descr="assets/shap_beeswarm_unhealth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1600200"/>
            <a:ext cx="5394960" cy="4569329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40080" y="6169529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'fit' 방향 SHAP 분포 (좌) vs 'unhealthy' 방향 SHAP 분포 (우) — 색: 피처 값 크기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292608"/>
            <a:ext cx="1764792" cy="310896"/>
          </a:xfrm>
          <a:prstGeom prst="roundRect">
            <a:avLst>
              <a:gd name="adj" fmla="val 17647"/>
            </a:avLst>
          </a:prstGeom>
          <a:solidFill>
            <a:srgbClr val="22232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9966960" y="292608"/>
            <a:ext cx="1764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 err="1">
                <a:solidFill>
                  <a:srgbClr val="2E9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부록</a:t>
            </a:r>
            <a:r>
              <a:rPr lang="en-US" sz="1200" b="1" kern="0" spc="100" dirty="0">
                <a:solidFill>
                  <a:srgbClr val="2E9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A6 · SHAP 상세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"/>
            <a:ext cx="9418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223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 Summary: At-risk 클래스 상세 분포</a:t>
            </a:r>
            <a:endParaRPr lang="en-US" sz="2200" dirty="0"/>
          </a:p>
        </p:txBody>
      </p:sp>
      <p:pic>
        <p:nvPicPr>
          <p:cNvPr id="8" name="Image 0" descr="assets/shap_summa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7470" y="1352549"/>
            <a:ext cx="6426530" cy="5382219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965960" y="851992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physical_activity_level · sleep_duration · stress_level이 'at-risk' 판정을 주도</a:t>
            </a:r>
            <a:endParaRPr lang="en-US" sz="11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8"/>
          <p:cNvSpPr/>
          <p:nvPr/>
        </p:nvSpPr>
        <p:spPr>
          <a:xfrm>
            <a:off x="566928" y="402336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200" b="1" kern="0" spc="100" dirty="0" err="1">
                <a:solidFill>
                  <a:srgbClr val="2E9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부록</a:t>
            </a:r>
            <a:r>
              <a:rPr lang="en-US" altLang="ko-KR" sz="1200" b="1" kern="0" spc="100" dirty="0">
                <a:solidFill>
                  <a:srgbClr val="2E9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A7 </a:t>
            </a:r>
            <a:r>
              <a:rPr lang="en-US" sz="1200" b="1" kern="0" spc="100" dirty="0">
                <a:solidFill>
                  <a:srgbClr val="2E9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</a:p>
        </p:txBody>
      </p:sp>
      <p:sp>
        <p:nvSpPr>
          <p:cNvPr id="11" name="Text 9"/>
          <p:cNvSpPr/>
          <p:nvPr/>
        </p:nvSpPr>
        <p:spPr>
          <a:xfrm>
            <a:off x="548640" y="713232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수면이 짧을수록 </a:t>
            </a:r>
            <a:r>
              <a:rPr lang="en-US" sz="3400" b="1" dirty="0" err="1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</a:t>
            </a:r>
            <a:r>
              <a:rPr lang="en-US" sz="34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3400" b="1" dirty="0" err="1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등급</a:t>
            </a:r>
            <a:endParaRPr lang="en-US" sz="3400" dirty="0"/>
          </a:p>
        </p:txBody>
      </p:sp>
      <p:pic>
        <p:nvPicPr>
          <p:cNvPr id="13" name="Image 0" descr="C:/Users/1/AppData/Local/Temp/claude/C--Users-1--claude/45391a5d-3788-4f7f-b795-a49f83cafb61/scratchpad/teammate/kaggle-student-health-risk-master/assets/numeric_by_cla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794321"/>
            <a:ext cx="7406640" cy="3543677"/>
          </a:xfrm>
          <a:prstGeom prst="rect">
            <a:avLst/>
          </a:prstGeom>
          <a:effectLst>
            <a:outerShdw blurRad="114300" dist="38100" dir="5400000" algn="bl" rotWithShape="0">
              <a:srgbClr val="9BA6B0">
                <a:alpha val="30000"/>
              </a:srgbClr>
            </a:outerShdw>
          </a:effectLst>
        </p:spPr>
      </p:pic>
      <p:sp>
        <p:nvSpPr>
          <p:cNvPr id="14" name="Text 11"/>
          <p:cNvSpPr/>
          <p:nvPr/>
        </p:nvSpPr>
        <p:spPr>
          <a:xfrm>
            <a:off x="7955280" y="1572768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평균 수면 시간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7955280" y="1965960"/>
            <a:ext cx="3703320" cy="841248"/>
          </a:xfrm>
          <a:prstGeom prst="roundRect">
            <a:avLst>
              <a:gd name="adj" fmla="val 9783"/>
            </a:avLst>
          </a:prstGeom>
          <a:solidFill>
            <a:srgbClr val="E1F3ED"/>
          </a:solidFill>
          <a:ln/>
        </p:spPr>
      </p:sp>
      <p:sp>
        <p:nvSpPr>
          <p:cNvPr id="16" name="Shape 13"/>
          <p:cNvSpPr/>
          <p:nvPr/>
        </p:nvSpPr>
        <p:spPr>
          <a:xfrm>
            <a:off x="8183880" y="2276856"/>
            <a:ext cx="201168" cy="201168"/>
          </a:xfrm>
          <a:prstGeom prst="ellipse">
            <a:avLst/>
          </a:prstGeom>
          <a:solidFill>
            <a:srgbClr val="009E73"/>
          </a:solidFill>
          <a:ln/>
        </p:spPr>
      </p:sp>
      <p:sp>
        <p:nvSpPr>
          <p:cNvPr id="17" name="Text 14"/>
          <p:cNvSpPr/>
          <p:nvPr/>
        </p:nvSpPr>
        <p:spPr>
          <a:xfrm>
            <a:off x="8458200" y="2075688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fit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8458200" y="2350008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9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7.95h</a:t>
            </a:r>
            <a:endParaRPr lang="en-US" sz="2200" dirty="0"/>
          </a:p>
        </p:txBody>
      </p:sp>
      <p:sp>
        <p:nvSpPr>
          <p:cNvPr id="19" name="Shape 16"/>
          <p:cNvSpPr/>
          <p:nvPr/>
        </p:nvSpPr>
        <p:spPr>
          <a:xfrm>
            <a:off x="7955280" y="2916936"/>
            <a:ext cx="3703320" cy="841248"/>
          </a:xfrm>
          <a:prstGeom prst="roundRect">
            <a:avLst>
              <a:gd name="adj" fmla="val 9783"/>
            </a:avLst>
          </a:prstGeom>
          <a:solidFill>
            <a:srgbClr val="FBEFD9"/>
          </a:solidFill>
          <a:ln/>
        </p:spPr>
      </p:sp>
      <p:sp>
        <p:nvSpPr>
          <p:cNvPr id="20" name="Shape 17"/>
          <p:cNvSpPr/>
          <p:nvPr/>
        </p:nvSpPr>
        <p:spPr>
          <a:xfrm>
            <a:off x="8183880" y="3227832"/>
            <a:ext cx="201168" cy="201168"/>
          </a:xfrm>
          <a:prstGeom prst="ellipse">
            <a:avLst/>
          </a:prstGeom>
          <a:solidFill>
            <a:srgbClr val="E69F00"/>
          </a:solidFill>
          <a:ln/>
        </p:spPr>
      </p:sp>
      <p:sp>
        <p:nvSpPr>
          <p:cNvPr id="21" name="Text 18"/>
          <p:cNvSpPr/>
          <p:nvPr/>
        </p:nvSpPr>
        <p:spPr>
          <a:xfrm>
            <a:off x="8458200" y="3026664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at-risk</a:t>
            </a:r>
            <a:endParaRPr lang="en-US" sz="1350" dirty="0"/>
          </a:p>
        </p:txBody>
      </p:sp>
      <p:sp>
        <p:nvSpPr>
          <p:cNvPr id="22" name="Text 19"/>
          <p:cNvSpPr/>
          <p:nvPr/>
        </p:nvSpPr>
        <p:spPr>
          <a:xfrm>
            <a:off x="8458200" y="3300984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A874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7.09h</a:t>
            </a:r>
            <a:endParaRPr lang="en-US" sz="2200" dirty="0"/>
          </a:p>
        </p:txBody>
      </p:sp>
      <p:sp>
        <p:nvSpPr>
          <p:cNvPr id="23" name="Shape 20"/>
          <p:cNvSpPr/>
          <p:nvPr/>
        </p:nvSpPr>
        <p:spPr>
          <a:xfrm>
            <a:off x="7955280" y="3867912"/>
            <a:ext cx="3703320" cy="841248"/>
          </a:xfrm>
          <a:prstGeom prst="roundRect">
            <a:avLst>
              <a:gd name="adj" fmla="val 9783"/>
            </a:avLst>
          </a:prstGeom>
          <a:solidFill>
            <a:srgbClr val="FBE9DD"/>
          </a:solidFill>
          <a:ln/>
        </p:spPr>
      </p:sp>
      <p:sp>
        <p:nvSpPr>
          <p:cNvPr id="24" name="Shape 21"/>
          <p:cNvSpPr/>
          <p:nvPr/>
        </p:nvSpPr>
        <p:spPr>
          <a:xfrm>
            <a:off x="8183880" y="4178808"/>
            <a:ext cx="201168" cy="201168"/>
          </a:xfrm>
          <a:prstGeom prst="ellipse">
            <a:avLst/>
          </a:prstGeom>
          <a:solidFill>
            <a:srgbClr val="D55E00"/>
          </a:solidFill>
          <a:ln/>
        </p:spPr>
      </p:sp>
      <p:sp>
        <p:nvSpPr>
          <p:cNvPr id="25" name="Text 22"/>
          <p:cNvSpPr/>
          <p:nvPr/>
        </p:nvSpPr>
        <p:spPr>
          <a:xfrm>
            <a:off x="8458200" y="397764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unhealthy</a:t>
            </a:r>
            <a:endParaRPr lang="en-US" sz="1350" dirty="0"/>
          </a:p>
        </p:txBody>
      </p:sp>
      <p:sp>
        <p:nvSpPr>
          <p:cNvPr id="26" name="Text 23"/>
          <p:cNvSpPr/>
          <p:nvPr/>
        </p:nvSpPr>
        <p:spPr>
          <a:xfrm>
            <a:off x="8458200" y="4251960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55E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5.37h</a:t>
            </a:r>
            <a:endParaRPr lang="en-US" sz="2200" dirty="0"/>
          </a:p>
        </p:txBody>
      </p:sp>
      <p:sp>
        <p:nvSpPr>
          <p:cNvPr id="27" name="Shape 24"/>
          <p:cNvSpPr/>
          <p:nvPr/>
        </p:nvSpPr>
        <p:spPr>
          <a:xfrm>
            <a:off x="7955280" y="4846320"/>
            <a:ext cx="3703320" cy="914400"/>
          </a:xfrm>
          <a:prstGeom prst="roundRect">
            <a:avLst>
              <a:gd name="adj" fmla="val 9000"/>
            </a:avLst>
          </a:prstGeom>
          <a:solidFill>
            <a:srgbClr val="FBEFD9"/>
          </a:solidFill>
          <a:ln/>
        </p:spPr>
      </p:sp>
      <p:sp>
        <p:nvSpPr>
          <p:cNvPr id="28" name="Text 25"/>
          <p:cNvSpPr/>
          <p:nvPr/>
        </p:nvSpPr>
        <p:spPr>
          <a:xfrm>
            <a:off x="8183880" y="4956048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stress = medium → at-risk  </a:t>
            </a:r>
            <a:r>
              <a:rPr lang="en-US" sz="2000" b="1" dirty="0">
                <a:solidFill>
                  <a:srgbClr val="A874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99.4%</a:t>
            </a:r>
            <a:endParaRPr lang="en-US" sz="1250" dirty="0"/>
          </a:p>
        </p:txBody>
      </p:sp>
      <p:sp>
        <p:nvSpPr>
          <p:cNvPr id="29" name="Text 26"/>
          <p:cNvSpPr/>
          <p:nvPr/>
        </p:nvSpPr>
        <p:spPr>
          <a:xfrm>
            <a:off x="8183880" y="5358384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스트레스 등급만으로 거의 완벽히 분리</a:t>
            </a:r>
            <a:endParaRPr lang="en-US" sz="1150" dirty="0"/>
          </a:p>
        </p:txBody>
      </p:sp>
      <p:sp>
        <p:nvSpPr>
          <p:cNvPr id="30" name="Text 27"/>
          <p:cNvSpPr/>
          <p:nvPr/>
        </p:nvSpPr>
        <p:spPr>
          <a:xfrm>
            <a:off x="365760" y="5669280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7A82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unhealthy 평균 수면은 5.4시간 — fit(8.0h)과 뚜렷이 갈립니다. 생활 신호가 등급을 가릅니다.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28143311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</TotalTime>
  <Words>2948</Words>
  <Application>Microsoft Office PowerPoint</Application>
  <PresentationFormat>와이드스크린</PresentationFormat>
  <Paragraphs>766</Paragraphs>
  <Slides>38</Slides>
  <Notes>38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38</vt:i4>
      </vt:variant>
    </vt:vector>
  </HeadingPairs>
  <TitlesOfParts>
    <vt:vector size="43" baseType="lpstr">
      <vt:lpstr>Malgun Gothic</vt:lpstr>
      <vt:lpstr>Malgun Gothic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건강신호등 (Health Signal) — 플랫폼 제안서</dc:title>
  <dc:subject>PptxGenJS Presentation</dc:subject>
  <dc:creator>건강신호등 팀</dc:creator>
  <cp:lastModifiedBy>중진공42</cp:lastModifiedBy>
  <cp:revision>12</cp:revision>
  <dcterms:created xsi:type="dcterms:W3CDTF">2026-07-14T14:31:27Z</dcterms:created>
  <dcterms:modified xsi:type="dcterms:W3CDTF">2026-07-15T02:05:58Z</dcterms:modified>
</cp:coreProperties>
</file>