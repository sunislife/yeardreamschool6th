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39428" y="978408"/>
            <a:ext cx="1746504" cy="5312664"/>
          </a:xfrm>
          <a:prstGeom prst="roundRect">
            <a:avLst>
              <a:gd name="adj" fmla="val 9424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95460" y="1234440"/>
            <a:ext cx="1234440" cy="123444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4" name="Shape 2"/>
          <p:cNvSpPr/>
          <p:nvPr/>
        </p:nvSpPr>
        <p:spPr>
          <a:xfrm>
            <a:off x="9395460" y="3017520"/>
            <a:ext cx="1234440" cy="123444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5" name="Shape 3"/>
          <p:cNvSpPr/>
          <p:nvPr/>
        </p:nvSpPr>
        <p:spPr>
          <a:xfrm>
            <a:off x="9395460" y="4800600"/>
            <a:ext cx="1234440" cy="123444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SIGNAL  ·  플랫폼 제안서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8288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건강신호등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822960" y="2999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Signal Platform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675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학생의 작은 생활신호를 필요한 건강지원으로 연결합니다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2245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3등급 신호등 자동 분류</a:t>
            </a:r>
            <a:pPr indent="0" marL="0">
              <a:buNone/>
            </a:pPr>
            <a:r>
              <a:rPr lang="en-US" sz="15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Balanced Accuracy </a:t>
            </a:r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0.950</a:t>
            </a:r>
            <a:pPr indent="0" marL="0">
              <a:buNone/>
            </a:pPr>
            <a:r>
              <a:rPr lang="en-US" sz="15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로 검증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9536" y="5120640"/>
            <a:ext cx="3657600" cy="0"/>
          </a:xfrm>
          <a:prstGeom prst="line">
            <a:avLst/>
          </a:prstGeom>
          <a:noFill/>
          <a:ln w="19050">
            <a:solidFill>
              <a:srgbClr val="3B4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3218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· 발표 : [팀명 / 발표자 이름]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7424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2026. 07. 15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제한된 자원, 위험 학생을 먼저 연결합니다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53619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9536" y="1828800"/>
            <a:ext cx="548640" cy="54864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72768" y="19019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7824" y="2542032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위험군은 소수인데, 전수 관리로는 놓칩니다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77824" y="3273552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보건·상담 인력은 한정적 — 먼저 볼 기준이 없습니다.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153619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83096" y="1828800"/>
            <a:ext cx="548640" cy="54864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1" name="Text 19"/>
          <p:cNvSpPr/>
          <p:nvPr/>
        </p:nvSpPr>
        <p:spPr>
          <a:xfrm>
            <a:off x="648309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96328" y="19019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1384" y="2542032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 신호를 3등급 신호등으로 자동 분류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501384" y="3273552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위험도에 맞춰 콘텐츠·코칭·상담을 연결하는 건강관리 플랫폼.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9536" y="4178808"/>
            <a:ext cx="548640" cy="548640"/>
          </a:xfrm>
          <a:prstGeom prst="ellipse">
            <a:avLst/>
          </a:prstGeom>
          <a:solidFill>
            <a:srgbClr val="A87400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72768" y="42519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7824" y="4892040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690k 데이터로 검증한 Balanced Accuracy 0.950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77824" y="5623560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CV 0.94962 ≈ 리더보드 0.94952, 갭 0.0001.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72200" y="388620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83096" y="4178808"/>
            <a:ext cx="548640" cy="54864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33" name="Text 31"/>
          <p:cNvSpPr/>
          <p:nvPr/>
        </p:nvSpPr>
        <p:spPr>
          <a:xfrm>
            <a:off x="6483096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96328" y="42519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01384" y="4892040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학과·한 학기 PoC 승인을 요청드립니다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6501384" y="5623560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상담·검진과 연결한 8주 파일럿으로 현장에서 검증합니다.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병목은 '누구를 먼저 볼 것인가'입니다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5029200" cy="3291840"/>
          </a:xfrm>
          <a:prstGeom prst="roundRect">
            <a:avLst>
              <a:gd name="adj" fmla="val 250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965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· 사후 대응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304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모두를 같은 방식으로 관리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2852928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학생을 동일한 강도로 관리 — 비효율</a:t>
            </a:r>
            <a:endParaRPr lang="en-US" sz="1350" dirty="0"/>
          </a:p>
          <a:p>
            <a:pPr algn="l" marL="203200" indent="-203200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위험군이 다수(14%) 속에 묻혀 잘 안 보임</a:t>
            </a:r>
            <a:endParaRPr lang="en-US" sz="1350" dirty="0"/>
          </a:p>
          <a:p>
            <a:pPr algn="l" marL="203200" indent="-203200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커진 뒤에야 뒤늦게 발견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 rot="5400000">
            <a:off x="5783580" y="3172968"/>
            <a:ext cx="457200" cy="457200"/>
          </a:xfrm>
          <a:prstGeom prst="triangle">
            <a:avLst/>
          </a:prstGeom>
          <a:solidFill>
            <a:srgbClr val="A874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1783080"/>
            <a:ext cx="5193792" cy="3291840"/>
          </a:xfrm>
          <a:prstGeom prst="roundRect">
            <a:avLst>
              <a:gd name="adj" fmla="val 2500"/>
            </a:avLst>
          </a:prstGeom>
          <a:solidFill>
            <a:srgbClr val="E1F3ED"/>
          </a:solidFill>
          <a:ln/>
        </p:spPr>
      </p:sp>
      <p:sp>
        <p:nvSpPr>
          <p:cNvPr id="19" name="Text 17"/>
          <p:cNvSpPr/>
          <p:nvPr/>
        </p:nvSpPr>
        <p:spPr>
          <a:xfrm>
            <a:off x="6693408" y="19659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· 선제 연결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93408" y="23042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신호로 볼 순서를 정함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39128" y="2852928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 기준으로 우선순위를 부여</a:t>
            </a:r>
            <a:endParaRPr lang="en-US" sz="1350" dirty="0"/>
          </a:p>
          <a:p>
            <a:pPr algn="l" marL="203200" indent="-203200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제한된 자원을 위험군에 먼저 집중</a:t>
            </a:r>
            <a:endParaRPr lang="en-US" sz="1350" dirty="0"/>
          </a:p>
          <a:p>
            <a:pPr algn="l" marL="203200" indent="-203200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악화되기 전에 개입·연결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285232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5285232"/>
            <a:ext cx="110916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 인력을 바로 늘릴 수 없다면,  </a:t>
            </a:r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배분 방식을 먼저 바꿔야 합니다.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쌓이는 생활 데이터가 출발점입니다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설문·웨어러블로 이미 수집되는 생활 신호 </a:t>
            </a:r>
            <a:pPr indent="0" marL="0"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새 인프라 없이 바로 활용 가능한 13개 변수를 3등급 분류의 입력으로 사용합니다.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690,088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58952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55848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57016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295,753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566160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63056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73368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 (수치 7 · 범주 6)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70264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1432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80576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 등급 (fit·at-risk·unhealthy)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70048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4690872"/>
                <a:gridCol w="192024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변수명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· 범위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결측률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stress_level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스트레스 (low·med·high)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55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sleep_duration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수면 시간  3~10h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55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calorie_expenditure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칼로리 소모  1200~3580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55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sleep_quality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수면 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55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water_intake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 섭취  0.5~4.7L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physical_activity_level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 수준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smoking_alcohol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흡연·음주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bmi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체질량지수  16~35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step_count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걸음 수  1k~15k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heart_rate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심박수  50~108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exercise_duration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 시간  0~100분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diet_type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식단 유형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결측률 8% 이상 4개(stress·sleep·calorie·sleep_quality)는 대치 전략의 핵심 대상 — 결측을 전제로 설계합니다.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무엇을 만들어야 하는가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1536192"/>
            <a:ext cx="749808" cy="749808"/>
          </a:xfrm>
          <a:prstGeom prst="ellipse">
            <a:avLst/>
          </a:prstGeom>
          <a:solidFill>
            <a:srgbClr val="7A828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53619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45920" y="14813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(Situation)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45920" y="1865376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 보건·복지 부서는 생활습관 데이터로 학생 건강을 관리하고자 한다.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58368" y="2706624"/>
            <a:ext cx="749808" cy="749808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706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45920" y="26517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(Complication)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45920" y="303580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수 대비 보건 인력·상담 자원은 제한적 — 위험군은 소수(14%)인데 놓치면 건강 악화·중도이탈로 이어진다.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8368" y="3877056"/>
            <a:ext cx="749808" cy="749808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8770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645920" y="382219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(Question)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45920" y="420624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제한된 자원으로 위험 학생을 조기 식별하고 우선 개입하는 체계를 어떻게 만들 것인가?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502920" y="4919472"/>
            <a:ext cx="11155680" cy="1097280"/>
          </a:xfrm>
          <a:prstGeom prst="roundRect">
            <a:avLst>
              <a:gd name="adj" fmla="val 7500"/>
            </a:avLst>
          </a:prstGeom>
          <a:solidFill>
            <a:srgbClr val="E1F3ED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5047488"/>
            <a:ext cx="749808" cy="749808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50474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645920" y="499262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(Answer)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45920" y="5376672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학생 건강관리 플랫폼 “건강신호등” — Balanced Accuracy 0.95 분류기로 3등급을 자동 선별한다.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IT SERVES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사용자에게 서로 다른 가치를 줍니다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21396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9536" y="2852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상태를 쉽게 이해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59536" y="346557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34015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체크인으로 내 건강신호 확인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9536" y="4032504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1" name="Text 19"/>
          <p:cNvSpPr/>
          <p:nvPr/>
        </p:nvSpPr>
        <p:spPr>
          <a:xfrm>
            <a:off x="1170432" y="39684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언어의 맞춤 피드백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9536" y="4599432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3" name="Text 21"/>
          <p:cNvSpPr/>
          <p:nvPr/>
        </p:nvSpPr>
        <p:spPr>
          <a:xfrm>
            <a:off x="1170432" y="45354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할 행동을 안내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98264" y="1783080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6" name="Text 24"/>
          <p:cNvSpPr/>
          <p:nvPr/>
        </p:nvSpPr>
        <p:spPr>
          <a:xfrm>
            <a:off x="4690872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04104" y="21396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709160" y="2852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우선순위를 확신 있게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4709160" y="346557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0" name="Text 28"/>
          <p:cNvSpPr/>
          <p:nvPr/>
        </p:nvSpPr>
        <p:spPr>
          <a:xfrm>
            <a:off x="5020056" y="34015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명단이 아닌 우선 상담 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4032504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2" name="Text 30"/>
          <p:cNvSpPr/>
          <p:nvPr/>
        </p:nvSpPr>
        <p:spPr>
          <a:xfrm>
            <a:off x="5020056" y="39684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학생별 위험 근거(SHAP) 제공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4599432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4" name="Text 32"/>
          <p:cNvSpPr/>
          <p:nvPr/>
        </p:nvSpPr>
        <p:spPr>
          <a:xfrm>
            <a:off x="5020056" y="45354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이력·변화 추적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47888" y="1783080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540496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7" name="Text 35"/>
          <p:cNvSpPr/>
          <p:nvPr/>
        </p:nvSpPr>
        <p:spPr>
          <a:xfrm>
            <a:off x="8540496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253728" y="21396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8558784" y="2852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자원을 효과적으로 배분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8558784" y="346557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41" name="Text 39"/>
          <p:cNvSpPr/>
          <p:nvPr/>
        </p:nvSpPr>
        <p:spPr>
          <a:xfrm>
            <a:off x="8869680" y="34015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위험군·참여·개선 현황 파악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558784" y="4032504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43" name="Text 41"/>
          <p:cNvSpPr/>
          <p:nvPr/>
        </p:nvSpPr>
        <p:spPr>
          <a:xfrm>
            <a:off x="8869680" y="39684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인력·프로그램 배분 근거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558784" y="4599432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45" name="Text 43"/>
          <p:cNvSpPr/>
          <p:nvPr/>
        </p:nvSpPr>
        <p:spPr>
          <a:xfrm>
            <a:off x="8869680" y="45354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리포트 자동화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플랫폼은 세 레이어로 작동합니다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121408"/>
            <a:ext cx="603504" cy="6035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1214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45920" y="19842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50" kern="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LAYER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645920" y="2404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37760" y="17830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 · 웨어러블 · 학사 신호를 표준화해 모읍니다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424160" y="222199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9EDF1"/>
          </a:solidFill>
          <a:ln/>
        </p:spPr>
      </p:sp>
      <p:sp>
        <p:nvSpPr>
          <p:cNvPr id="20" name="Text 18"/>
          <p:cNvSpPr/>
          <p:nvPr/>
        </p:nvSpPr>
        <p:spPr>
          <a:xfrm>
            <a:off x="10424160" y="222199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10800000">
            <a:off x="1060704" y="3044952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24612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3584448"/>
            <a:ext cx="603504" cy="6035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584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645920" y="34472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50" kern="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INTELLIGENCE LAYER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645920" y="3867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· 설명 · 재평가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0" y="3246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3등급 분류 + SHAP 근거 + 개입 후 변화 추적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424160" y="368503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9EDF1"/>
          </a:solidFill>
          <a:ln/>
        </p:spPr>
      </p:sp>
      <p:sp>
        <p:nvSpPr>
          <p:cNvPr id="29" name="Text 27"/>
          <p:cNvSpPr/>
          <p:nvPr/>
        </p:nvSpPr>
        <p:spPr>
          <a:xfrm>
            <a:off x="10424160" y="368503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rot="10800000">
            <a:off x="1060704" y="4507992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70916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8680" y="5047488"/>
            <a:ext cx="603504" cy="6035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0474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1645920" y="49103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50" kern="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 LAYER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645920" y="5330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· 개입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937760" y="47091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· 프로그램 · 상담을 등급에 맞춰 연결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424160" y="514807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9EDF1"/>
          </a:solidFill>
          <a:ln/>
        </p:spPr>
      </p:sp>
      <p:sp>
        <p:nvSpPr>
          <p:cNvPr id="38" name="Text 36"/>
          <p:cNvSpPr/>
          <p:nvPr/>
        </p:nvSpPr>
        <p:spPr>
          <a:xfrm>
            <a:off x="10424160" y="51480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LOGIC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상태와 다음 행동을 함께 안내합니다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행동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1691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지원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121408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E1F3ED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2578608"/>
            <a:ext cx="237744" cy="23774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2121408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 · 양호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154680" y="212140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 습관을 유지 중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760720" y="212140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 · 강화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212140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리포트 · 건강 콘텐츠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3419856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FBEFD9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3877056"/>
            <a:ext cx="237744" cy="23774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5" name="Text 23"/>
          <p:cNvSpPr/>
          <p:nvPr/>
        </p:nvSpPr>
        <p:spPr>
          <a:xfrm>
            <a:off x="1115568" y="3419856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 · 주의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154680" y="341985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 감지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760720" y="341985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 개입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6760" y="341985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생활습관 코칭 · 2주 프로그램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02920" y="4718304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FBE9DD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5175504"/>
            <a:ext cx="237744" cy="23774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15568" y="4718304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 · 위험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3154680" y="4718304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확인 필요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760720" y="4718304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 관리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4718304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우선 배정 · 추적 관리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+ 라벨 + 위치로 삼중 인코딩 — 색만으로 판단하지 않도록 설계했습니다.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JOURNEY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학기 건강 여정을 끊김 없이 잇습니다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34440" y="2907792"/>
            <a:ext cx="9738360" cy="0"/>
          </a:xfrm>
          <a:prstGeom prst="line">
            <a:avLst/>
          </a:prstGeom>
          <a:noFill/>
          <a:ln w="63500">
            <a:solidFill>
              <a:srgbClr val="E9ED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2763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5069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7375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681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11987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74293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4124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1148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46430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4" name="Text 22"/>
          <p:cNvSpPr/>
          <p:nvPr/>
        </p:nvSpPr>
        <p:spPr>
          <a:xfrm>
            <a:off x="246430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03454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확인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08736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7" name="Text 25"/>
          <p:cNvSpPr/>
          <p:nvPr/>
        </p:nvSpPr>
        <p:spPr>
          <a:xfrm>
            <a:off x="408736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65760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선택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71042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0" name="Text 28"/>
          <p:cNvSpPr/>
          <p:nvPr/>
        </p:nvSpPr>
        <p:spPr>
          <a:xfrm>
            <a:off x="571042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8066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33348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3" name="Text 31"/>
          <p:cNvSpPr/>
          <p:nvPr/>
        </p:nvSpPr>
        <p:spPr>
          <a:xfrm>
            <a:off x="733348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0372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연결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95654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6" name="Text 34"/>
          <p:cNvSpPr/>
          <p:nvPr/>
        </p:nvSpPr>
        <p:spPr>
          <a:xfrm>
            <a:off x="895654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52678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리체크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10579608" y="2514600"/>
            <a:ext cx="786384" cy="78638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9" name="Text 37"/>
          <p:cNvSpPr/>
          <p:nvPr/>
        </p:nvSpPr>
        <p:spPr>
          <a:xfrm>
            <a:off x="1057960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014984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확인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60120" y="4709160"/>
            <a:ext cx="10378440" cy="603504"/>
          </a:xfrm>
          <a:prstGeom prst="roundRect">
            <a:avLst>
              <a:gd name="adj" fmla="val 21212"/>
            </a:avLst>
          </a:prstGeom>
          <a:solidFill>
            <a:srgbClr val="E9EDF1"/>
          </a:solidFill>
          <a:ln/>
        </p:spPr>
      </p:sp>
      <p:sp>
        <p:nvSpPr>
          <p:cNvPr id="42" name="Shape 40"/>
          <p:cNvSpPr/>
          <p:nvPr/>
        </p:nvSpPr>
        <p:spPr>
          <a:xfrm rot="16200000">
            <a:off x="1152144" y="4882896"/>
            <a:ext cx="256032" cy="256032"/>
          </a:xfrm>
          <a:prstGeom prst="triangle">
            <a:avLst/>
          </a:prstGeom>
          <a:solidFill>
            <a:srgbClr val="A87400"/>
          </a:solidFill>
          <a:ln/>
        </p:spPr>
      </p:sp>
      <p:sp>
        <p:nvSpPr>
          <p:cNvPr id="43" name="Text 41"/>
          <p:cNvSpPr/>
          <p:nvPr/>
        </p:nvSpPr>
        <p:spPr>
          <a:xfrm>
            <a:off x="1737360" y="4709160"/>
            <a:ext cx="9418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학기가 끝나면 다시 체크인으로  ·  Closed Loop — 한 번의 진단이 아니라 반복되는 루프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학기 이 루프를 돌며 학생의 신호 변화를 추적하고, 개입이 효과가 있었는지 확인합니다.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핵심 기능으로 작동합니다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638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간편 체크인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8638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설문·웨어러블 동기화로 생활 신호를 모읍니다.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62102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 생성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62102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3등급으로 분류하고 SHAP 근거를 함께 제시합니다.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2102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</p:sp>
      <p:sp>
        <p:nvSpPr>
          <p:cNvPr id="26" name="Text 24"/>
          <p:cNvSpPr/>
          <p:nvPr/>
        </p:nvSpPr>
        <p:spPr>
          <a:xfrm>
            <a:off x="362102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포함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9224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45566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오케스트레이션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45566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콘텐츠·프로그램·상담을 자동으로 조합합니다.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5566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</p:sp>
      <p:sp>
        <p:nvSpPr>
          <p:cNvPr id="33" name="Text 31"/>
          <p:cNvSpPr/>
          <p:nvPr/>
        </p:nvSpPr>
        <p:spPr>
          <a:xfrm>
            <a:off x="645566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05256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32688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929030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대시보드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929030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위험군·참여·개선을 한 화면에서 봅니다.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29030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</p:sp>
      <p:sp>
        <p:nvSpPr>
          <p:cNvPr id="40" name="Text 38"/>
          <p:cNvSpPr/>
          <p:nvPr/>
        </p:nvSpPr>
        <p:spPr>
          <a:xfrm>
            <a:off x="929030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·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현황과 성과를 한 화면에서 봅니다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11274552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4630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F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1618488"/>
            <a:ext cx="137160" cy="13716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1618488"/>
            <a:ext cx="137160" cy="13716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1618488"/>
            <a:ext cx="137160" cy="13716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149047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건강신호등  ·  보건센터 대시보드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875520" y="14904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2026-07-14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2084832"/>
            <a:ext cx="3429000" cy="1024128"/>
          </a:xfrm>
          <a:prstGeom prst="roundRect">
            <a:avLst>
              <a:gd name="adj" fmla="val 8036"/>
            </a:avLst>
          </a:prstGeom>
          <a:solidFill>
            <a:srgbClr val="F3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21854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8,420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005840" y="2752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학생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34256" y="2084832"/>
            <a:ext cx="3429000" cy="1024128"/>
          </a:xfrm>
          <a:prstGeom prst="roundRect">
            <a:avLst>
              <a:gd name="adj" fmla="val 8036"/>
            </a:avLst>
          </a:prstGeom>
          <a:solidFill>
            <a:srgbClr val="F3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4590288" y="21854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608576" y="2752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 (Unhealthy)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36992" y="2084832"/>
            <a:ext cx="3429000" cy="1024128"/>
          </a:xfrm>
          <a:prstGeom prst="roundRect">
            <a:avLst>
              <a:gd name="adj" fmla="val 8036"/>
            </a:avLst>
          </a:prstGeom>
          <a:solidFill>
            <a:srgbClr val="F3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8193024" y="21854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211312" y="2752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달 개선율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" y="3310128"/>
            <a:ext cx="5989320" cy="2852928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34381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 리스트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60120" y="3931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S-10428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03120" y="4041648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3" name="Text 31"/>
          <p:cNvSpPr/>
          <p:nvPr/>
        </p:nvSpPr>
        <p:spPr>
          <a:xfrm>
            <a:off x="2322576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703320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3.9h · 스트레스 high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60120" y="4425696"/>
            <a:ext cx="5532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4480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S-09982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103120" y="4590288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8" name="Text 36"/>
          <p:cNvSpPr/>
          <p:nvPr/>
        </p:nvSpPr>
        <p:spPr>
          <a:xfrm>
            <a:off x="2322576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703320" y="4480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4.5h · 흡연·음주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60120" y="4974336"/>
            <a:ext cx="5532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0120" y="5029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S-10774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103120" y="5138928"/>
            <a:ext cx="146304" cy="14630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43" name="Text 41"/>
          <p:cNvSpPr/>
          <p:nvPr/>
        </p:nvSpPr>
        <p:spPr>
          <a:xfrm>
            <a:off x="2322576" y="5029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703320" y="5029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sedentary · 수면 5.8h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60120" y="5522976"/>
            <a:ext cx="5532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5577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S-11045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103120" y="5687568"/>
            <a:ext cx="146304" cy="14630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48" name="Text 46"/>
          <p:cNvSpPr/>
          <p:nvPr/>
        </p:nvSpPr>
        <p:spPr>
          <a:xfrm>
            <a:off x="2322576" y="5577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703320" y="55778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BMI 29 · 스트레스 medium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903720" y="3310128"/>
            <a:ext cx="4828032" cy="2852928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34381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프로그램 참여율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7132320" y="3749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건강 리포트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132320" y="4005072"/>
            <a:ext cx="3108960" cy="219456"/>
          </a:xfrm>
          <a:prstGeom prst="roundRect">
            <a:avLst>
              <a:gd name="adj" fmla="val 20833"/>
            </a:avLst>
          </a:prstGeom>
          <a:solidFill>
            <a:srgbClr val="E9EDF1"/>
          </a:solidFill>
          <a:ln/>
        </p:spPr>
      </p:sp>
      <p:sp>
        <p:nvSpPr>
          <p:cNvPr id="54" name="Shape 52"/>
          <p:cNvSpPr/>
          <p:nvPr/>
        </p:nvSpPr>
        <p:spPr>
          <a:xfrm>
            <a:off x="7132320" y="4005072"/>
            <a:ext cx="2424989" cy="219456"/>
          </a:xfrm>
          <a:prstGeom prst="roundRect">
            <a:avLst>
              <a:gd name="adj" fmla="val 20833"/>
            </a:avLst>
          </a:prstGeom>
          <a:solidFill>
            <a:srgbClr val="009E73"/>
          </a:solidFill>
          <a:ln/>
        </p:spPr>
      </p:sp>
      <p:sp>
        <p:nvSpPr>
          <p:cNvPr id="55" name="Text 53"/>
          <p:cNvSpPr/>
          <p:nvPr/>
        </p:nvSpPr>
        <p:spPr>
          <a:xfrm>
            <a:off x="10378440" y="39502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78%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7132320" y="44622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생활습관 코칭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132320" y="4718304"/>
            <a:ext cx="3108960" cy="219456"/>
          </a:xfrm>
          <a:prstGeom prst="roundRect">
            <a:avLst>
              <a:gd name="adj" fmla="val 20833"/>
            </a:avLst>
          </a:prstGeom>
          <a:solidFill>
            <a:srgbClr val="E9EDF1"/>
          </a:solidFill>
          <a:ln/>
        </p:spPr>
      </p:sp>
      <p:sp>
        <p:nvSpPr>
          <p:cNvPr id="58" name="Shape 56"/>
          <p:cNvSpPr/>
          <p:nvPr/>
        </p:nvSpPr>
        <p:spPr>
          <a:xfrm>
            <a:off x="7132320" y="4718304"/>
            <a:ext cx="1896466" cy="219456"/>
          </a:xfrm>
          <a:prstGeom prst="roundRect">
            <a:avLst>
              <a:gd name="adj" fmla="val 20833"/>
            </a:avLst>
          </a:prstGeom>
          <a:solidFill>
            <a:srgbClr val="E69F00"/>
          </a:solidFill>
          <a:ln/>
        </p:spPr>
      </p:sp>
      <p:sp>
        <p:nvSpPr>
          <p:cNvPr id="59" name="Text 57"/>
          <p:cNvSpPr/>
          <p:nvPr/>
        </p:nvSpPr>
        <p:spPr>
          <a:xfrm>
            <a:off x="10378440" y="46634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61%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132320" y="51755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연계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132320" y="5431536"/>
            <a:ext cx="3108960" cy="219456"/>
          </a:xfrm>
          <a:prstGeom prst="roundRect">
            <a:avLst>
              <a:gd name="adj" fmla="val 20833"/>
            </a:avLst>
          </a:prstGeom>
          <a:solidFill>
            <a:srgbClr val="E9EDF1"/>
          </a:solidFill>
          <a:ln/>
        </p:spPr>
      </p:sp>
      <p:sp>
        <p:nvSpPr>
          <p:cNvPr id="62" name="Shape 60"/>
          <p:cNvSpPr/>
          <p:nvPr/>
        </p:nvSpPr>
        <p:spPr>
          <a:xfrm>
            <a:off x="7132320" y="5431536"/>
            <a:ext cx="1367942" cy="219456"/>
          </a:xfrm>
          <a:prstGeom prst="roundRect">
            <a:avLst>
              <a:gd name="adj" fmla="val 20833"/>
            </a:avLst>
          </a:prstGeom>
          <a:solidFill>
            <a:srgbClr val="D55E00"/>
          </a:solidFill>
          <a:ln/>
        </p:spPr>
      </p:sp>
      <p:sp>
        <p:nvSpPr>
          <p:cNvPr id="63" name="Text 61"/>
          <p:cNvSpPr/>
          <p:nvPr/>
        </p:nvSpPr>
        <p:spPr>
          <a:xfrm>
            <a:off x="10378440" y="53766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44%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713232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서비스 화면 예시 — 수치는 목업 샘플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E8EBF0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459468" y="1527048"/>
            <a:ext cx="1472184" cy="4306824"/>
          </a:xfrm>
          <a:prstGeom prst="roundRect">
            <a:avLst>
              <a:gd name="adj" fmla="val 11180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15500" y="1783080"/>
            <a:ext cx="960120" cy="96012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715500" y="3200400"/>
            <a:ext cx="960120" cy="96012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715500" y="4617720"/>
            <a:ext cx="960120" cy="96012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신호를 믿을 수 있는가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32104" y="38221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690,088건 데이터로 검증한 근거를 제시합니다 — 통계 · 모델 · 설명이 같은 결론을 가리킵니다.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수면·스트레스·활동이 등급을 가릅니다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effect_s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25804"/>
            <a:ext cx="5715000" cy="3697832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6400800" y="1508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삼각검증 — 세 가지 방법이 같은 결론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0" y="1920240"/>
            <a:ext cx="5230368" cy="932688"/>
          </a:xfrm>
          <a:prstGeom prst="roundRect">
            <a:avLst>
              <a:gd name="adj" fmla="val 8824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0256" y="20391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통계 검정 (effect size)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620256" y="23774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 V=0.412 · activity V=0.241 · sleep η²=0.195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0" y="2962656"/>
            <a:ext cx="5230368" cy="932688"/>
          </a:xfrm>
          <a:prstGeom prst="roundRect">
            <a:avLst>
              <a:gd name="adj" fmla="val 8824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0256" y="30815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모델 feature importance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620256" y="34198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상위 3개 변수를 지목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0" y="4005072"/>
            <a:ext cx="5230368" cy="932688"/>
          </a:xfrm>
          <a:prstGeom prst="roundRect">
            <a:avLst>
              <a:gd name="adj" fmla="val 8824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0256" y="4123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원본데이터 역공학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620256" y="44622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4 결정트리에 이 3개만 등장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400800" y="5065776"/>
            <a:ext cx="5230368" cy="960120"/>
          </a:xfrm>
          <a:prstGeom prst="roundRect">
            <a:avLst>
              <a:gd name="adj" fmla="val 8571"/>
            </a:avLst>
          </a:prstGeom>
          <a:solidFill>
            <a:srgbClr val="FBE9DD"/>
          </a:solidFill>
          <a:ln/>
        </p:spPr>
      </p:sp>
      <p:sp>
        <p:nvSpPr>
          <p:cNvPr id="25" name="Text 22"/>
          <p:cNvSpPr/>
          <p:nvPr/>
        </p:nvSpPr>
        <p:spPr>
          <a:xfrm>
            <a:off x="6620256" y="5193792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heart_rate · water_intake 는 effect size ≈ 0.  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n=690k라 p값은 무의미하게 유의 — effect size로 판단한다.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수면이 짧을수록 위험 등급이 높아집니다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numeric_by_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94321"/>
            <a:ext cx="7406640" cy="3543677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7955280" y="15727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수면 시간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955280" y="1965960"/>
            <a:ext cx="3703320" cy="841248"/>
          </a:xfrm>
          <a:prstGeom prst="roundRect">
            <a:avLst>
              <a:gd name="adj" fmla="val 9783"/>
            </a:avLst>
          </a:prstGeom>
          <a:solidFill>
            <a:srgbClr val="E1F3ED"/>
          </a:solidFill>
          <a:ln/>
        </p:spPr>
      </p:sp>
      <p:sp>
        <p:nvSpPr>
          <p:cNvPr id="16" name="Shape 13"/>
          <p:cNvSpPr/>
          <p:nvPr/>
        </p:nvSpPr>
        <p:spPr>
          <a:xfrm>
            <a:off x="8183880" y="2276856"/>
            <a:ext cx="201168" cy="201168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7" name="Text 14"/>
          <p:cNvSpPr/>
          <p:nvPr/>
        </p:nvSpPr>
        <p:spPr>
          <a:xfrm>
            <a:off x="8458200" y="20756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458200" y="235000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7.95h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7955280" y="2916936"/>
            <a:ext cx="3703320" cy="841248"/>
          </a:xfrm>
          <a:prstGeom prst="roundRect">
            <a:avLst>
              <a:gd name="adj" fmla="val 9783"/>
            </a:avLst>
          </a:prstGeom>
          <a:solidFill>
            <a:srgbClr val="FBEFD9"/>
          </a:solidFill>
          <a:ln/>
        </p:spPr>
      </p:sp>
      <p:sp>
        <p:nvSpPr>
          <p:cNvPr id="20" name="Shape 17"/>
          <p:cNvSpPr/>
          <p:nvPr/>
        </p:nvSpPr>
        <p:spPr>
          <a:xfrm>
            <a:off x="8183880" y="3227832"/>
            <a:ext cx="201168" cy="201168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1" name="Text 18"/>
          <p:cNvSpPr/>
          <p:nvPr/>
        </p:nvSpPr>
        <p:spPr>
          <a:xfrm>
            <a:off x="8458200" y="30266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458200" y="330098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7.09h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7955280" y="3867912"/>
            <a:ext cx="3703320" cy="841248"/>
          </a:xfrm>
          <a:prstGeom prst="roundRect">
            <a:avLst>
              <a:gd name="adj" fmla="val 9783"/>
            </a:avLst>
          </a:prstGeom>
          <a:solidFill>
            <a:srgbClr val="FBE9DD"/>
          </a:solidFill>
          <a:ln/>
        </p:spPr>
      </p:sp>
      <p:sp>
        <p:nvSpPr>
          <p:cNvPr id="24" name="Shape 21"/>
          <p:cNvSpPr/>
          <p:nvPr/>
        </p:nvSpPr>
        <p:spPr>
          <a:xfrm>
            <a:off x="8183880" y="4178808"/>
            <a:ext cx="201168" cy="201168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5" name="Text 22"/>
          <p:cNvSpPr/>
          <p:nvPr/>
        </p:nvSpPr>
        <p:spPr>
          <a:xfrm>
            <a:off x="8458200" y="3977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8458200" y="42519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5.37h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7955280" y="4846320"/>
            <a:ext cx="3703320" cy="914400"/>
          </a:xfrm>
          <a:prstGeom prst="roundRect">
            <a:avLst>
              <a:gd name="adj" fmla="val 9000"/>
            </a:avLst>
          </a:prstGeom>
          <a:solidFill>
            <a:srgbClr val="FBEFD9"/>
          </a:solidFill>
          <a:ln/>
        </p:spPr>
      </p:sp>
      <p:sp>
        <p:nvSpPr>
          <p:cNvPr id="28" name="Text 25"/>
          <p:cNvSpPr/>
          <p:nvPr/>
        </p:nvSpPr>
        <p:spPr>
          <a:xfrm>
            <a:off x="8183880" y="495604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 = medium → at-risk  </a:t>
            </a:r>
            <a:pPr indent="0" marL="0">
              <a:buNone/>
            </a:pPr>
            <a:r>
              <a:rPr lang="en-US" sz="20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99.4%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183880" y="53583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 등급만으로 거의 완벽히 분리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365760" y="56692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 평균 수면은 5.4시간 — fit(8.0h)과 뚜렷이 갈립니다. 생활 신호가 등급을 가릅니다.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결측을 허용하도록 설계해야 합니다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missing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83701"/>
            <a:ext cx="6126480" cy="3675814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6903720" y="16002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50.7%</a:t>
            </a:r>
            <a:endParaRPr lang="en-US" sz="5200" dirty="0"/>
          </a:p>
        </p:txBody>
      </p:sp>
      <p:sp>
        <p:nvSpPr>
          <p:cNvPr id="15" name="Text 12"/>
          <p:cNvSpPr/>
          <p:nvPr/>
        </p:nvSpPr>
        <p:spPr>
          <a:xfrm>
            <a:off x="6931152" y="2432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완전한 행 → dropna 불가, 대치(imputation)를 전제로 설계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03720" y="3063240"/>
            <a:ext cx="4736592" cy="1600200"/>
          </a:xfrm>
          <a:prstGeom prst="roundRect">
            <a:avLst>
              <a:gd name="adj" fmla="val 5143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32186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‘결측 = 정보’ 가설은 기각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132320" y="35661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클래스별 결측량이 거의 동일 — 결측 자체가 위험 신호라는 가설은 통계 검정에서 기각되었다.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03720" y="4846320"/>
            <a:ext cx="4736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유일한 예외 — bmi 결측만 타겟과 약한 연관(Cramér's V 0.031). 결측 지시자는 bmi 에만 부여.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정확하고 가장 빠른 엔진을 골랐습니다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층화 10만 행 · sample_weight = balanced · 학습 시간 측정으로 11개 모델을 동일 조건 비교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3609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697480"/>
                <a:gridCol w="1417320"/>
                <a:gridCol w="914400"/>
                <a:gridCol w="18288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Balanced Acc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Fit (s)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HistGradientBoosting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0.95183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CatBoost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0.94934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38.9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RandomForest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0.92500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LightGBM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0.92082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LogisticRegression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0.91995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XGBoost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0.91804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GaussianNB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0.87741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0.87026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 미지원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DecisionTree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0.87019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ExtraTrees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0.83340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KNN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0.67031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2.9s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092440" y="1783080"/>
            <a:ext cx="3547872" cy="4160520"/>
          </a:xfrm>
          <a:prstGeom prst="roundRect">
            <a:avLst>
              <a:gd name="adj" fmla="val 232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66760" y="2029968"/>
            <a:ext cx="137160" cy="13716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7" name="Shape 14"/>
          <p:cNvSpPr/>
          <p:nvPr/>
        </p:nvSpPr>
        <p:spPr>
          <a:xfrm>
            <a:off x="8595360" y="2029968"/>
            <a:ext cx="137160" cy="13716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8" name="Shape 15"/>
          <p:cNvSpPr/>
          <p:nvPr/>
        </p:nvSpPr>
        <p:spPr>
          <a:xfrm>
            <a:off x="8823960" y="2029968"/>
            <a:ext cx="137160" cy="13716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0" y="1975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21040" y="242316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HistGB = 최고점(0.952) + 최속(4.2s)</a:t>
            </a:r>
            <a:endParaRPr lang="en-US" sz="1300" dirty="0"/>
          </a:p>
          <a:p>
            <a:pPr algn="l" marL="203200" indent="-203200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LogReg도 0.920 → 라벨이 단순 규칙에 가깝다는 방증</a:t>
            </a:r>
            <a:endParaRPr lang="en-US" sz="1300" dirty="0"/>
          </a:p>
          <a:p>
            <a:pPr algn="l" marL="203200" indent="-203200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부스팅·트리 계열 상위, 거리 기반(KNN) 최하</a:t>
            </a:r>
            <a:endParaRPr lang="en-US" sz="1300" dirty="0"/>
          </a:p>
          <a:p>
            <a:pPr algn="l" marL="203200" indent="-203200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10만 행·동일 가중으로 공정 비교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속도까지 따져 엔진을 확정했습니다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model_zoo_time_vs_s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30" y="1554480"/>
            <a:ext cx="7481621" cy="457200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822960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선정 등식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229600" y="2194560"/>
            <a:ext cx="3401568" cy="658368"/>
          </a:xfrm>
          <a:prstGeom prst="roundRect">
            <a:avLst>
              <a:gd name="adj" fmla="val 1250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30768" y="2414016"/>
            <a:ext cx="219456" cy="219456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7" name="Text 14"/>
          <p:cNvSpPr/>
          <p:nvPr/>
        </p:nvSpPr>
        <p:spPr>
          <a:xfrm>
            <a:off x="8778240" y="21945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Balanced Acc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0" y="28163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229600" y="3108960"/>
            <a:ext cx="3401568" cy="658368"/>
          </a:xfrm>
          <a:prstGeom prst="roundRect">
            <a:avLst>
              <a:gd name="adj" fmla="val 1250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30768" y="3328416"/>
            <a:ext cx="219456" cy="219456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1" name="Text 18"/>
          <p:cNvSpPr/>
          <p:nvPr/>
        </p:nvSpPr>
        <p:spPr>
          <a:xfrm>
            <a:off x="8778240" y="31089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최단 학습 시간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29600" y="37307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229600" y="4023360"/>
            <a:ext cx="3401568" cy="658368"/>
          </a:xfrm>
          <a:prstGeom prst="roundRect">
            <a:avLst>
              <a:gd name="adj" fmla="val 1250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30768" y="4242816"/>
            <a:ext cx="219456" cy="219456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5" name="Text 22"/>
          <p:cNvSpPr/>
          <p:nvPr/>
        </p:nvSpPr>
        <p:spPr>
          <a:xfrm>
            <a:off x="8778240" y="4023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강건성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229600" y="4956048"/>
            <a:ext cx="3401568" cy="731520"/>
          </a:xfrm>
          <a:prstGeom prst="roundRect">
            <a:avLst>
              <a:gd name="adj" fmla="val 11250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229600" y="4956048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HistGradientBoosting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검증을 신뢰할 수 있게 만든 뒤 제안합니다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CE1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7</a:t>
            </a:r>
            <a:endParaRPr lang="en-US" sz="11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median 대치 + 지시자</a:t>
            </a:r>
            <a:endParaRPr lang="en-US" sz="11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StandardScaler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CE1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 6</a:t>
            </a:r>
            <a:endParaRPr lang="en-US" sz="11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‘missing’ 대치</a:t>
            </a:r>
            <a:endParaRPr lang="en-US" sz="11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One-Hot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23317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331720"/>
            <a:ext cx="201168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Column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26060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606040"/>
            <a:ext cx="24688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HistGradientBoosting</a:t>
            </a:r>
            <a:endParaRPr lang="en-US" sz="11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weight=balanced</a:t>
            </a:r>
            <a:endParaRPr lang="en-US" sz="11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early stopping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418320" y="260604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3F5F7"/>
          </a:solidFill>
          <a:ln w="15875">
            <a:solidFill>
              <a:srgbClr val="DCE1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2606040"/>
            <a:ext cx="22402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StratifiedKFold (5)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 확률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17520" y="233172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017520" y="352044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69280" y="324612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78240" y="324612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" y="434340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4617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갭 0.0001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896112" y="5394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검증을 신뢰할 수 있게 만든 뒤 실험했다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4617720"/>
            <a:ext cx="0" cy="1188720"/>
          </a:xfrm>
          <a:prstGeom prst="line">
            <a:avLst/>
          </a:prstGeom>
          <a:noFill/>
          <a:ln w="12700">
            <a:solidFill>
              <a:srgbClr val="3B43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47091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로컬 CV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0.94962</a:t>
            </a:r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≈   Public LB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0.94952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20640" y="523036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검증과 리더보드가 0.0001 차이로 일치 → 검증 체계를 먼저 신뢰 가능하게 만든 뒤 개선 실험을 진행. (sklearn API · 층화 CV 등 과제 제약 준수)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없는 것은 실험으로 걸러냈습니다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440680" cy="3794760"/>
          </a:xfrm>
          <a:prstGeom prst="roundRect">
            <a:avLst>
              <a:gd name="adj" fmla="val 2169"/>
            </a:avLst>
          </a:prstGeom>
          <a:solidFill>
            <a:srgbClr val="E1F3ED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75564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09E7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7556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4884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점수를 실제로 올린 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2395728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8" name="Text 16"/>
          <p:cNvSpPr/>
          <p:nvPr/>
        </p:nvSpPr>
        <p:spPr>
          <a:xfrm>
            <a:off x="1133856" y="2331720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exact-value Target Encoding  +0.0008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3264408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0" name="Text 18"/>
          <p:cNvSpPr/>
          <p:nvPr/>
        </p:nvSpPr>
        <p:spPr>
          <a:xfrm>
            <a:off x="1133856" y="3200400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10-fold × 7-seed 분산 축소  +0.00025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4133088"/>
            <a:ext cx="146304" cy="14630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2" name="Text 20"/>
          <p:cNvSpPr/>
          <p:nvPr/>
        </p:nvSpPr>
        <p:spPr>
          <a:xfrm>
            <a:off x="1133856" y="4069080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RealMLP 확률 블렌드 (honest OOF 0.95088)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72200" y="1554480"/>
            <a:ext cx="5468112" cy="3794760"/>
          </a:xfrm>
          <a:prstGeom prst="roundRect">
            <a:avLst>
              <a:gd name="adj" fmla="val 2169"/>
            </a:avLst>
          </a:prstGeom>
          <a:solidFill>
            <a:srgbClr val="FBE9DD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175564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D55E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7556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실험으로 걸러낸 것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46520" y="2395728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8" name="Text 26"/>
          <p:cNvSpPr/>
          <p:nvPr/>
        </p:nvSpPr>
        <p:spPr>
          <a:xfrm>
            <a:off x="6757416" y="2331720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원본데이터 증강  −0.0006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46520" y="3108960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0" name="Text 28"/>
          <p:cNvSpPr/>
          <p:nvPr/>
        </p:nvSpPr>
        <p:spPr>
          <a:xfrm>
            <a:off x="6757416" y="3044952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Optuna 튜닝: 서브샘플 +0.0017이 풀데이터 +0.0000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46520" y="3822192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2" name="Text 30"/>
          <p:cNvSpPr/>
          <p:nvPr/>
        </p:nvSpPr>
        <p:spPr>
          <a:xfrm>
            <a:off x="6757416" y="3758184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트리 보팅: 예측일치 97.9%, 가중 100% 집중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46520" y="4535424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4" name="Text 32"/>
          <p:cNvSpPr/>
          <p:nvPr/>
        </p:nvSpPr>
        <p:spPr>
          <a:xfrm>
            <a:off x="6757416" y="4471416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피처 · 소프트 임퓨테이션 · 세그먼트 TE 등 6종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53212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5532120"/>
            <a:ext cx="11091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명이 독립 실험로로 같은 기각 결론에 도달  </a:t>
            </a:r>
            <a:pPr algn="ctr" indent="0" marL="0">
              <a:buNone/>
            </a:pPr>
            <a:r>
              <a:rPr lang="en-US" sz="13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우연이 아니라 데이터 구조(라벨 = 규칙 + 노이즈, 천장 ~0.952)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있는 개선만 남겼습니다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pptxbuild/chart_score_jour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435" y="1536192"/>
            <a:ext cx="7134771" cy="443484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8275320" y="15727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기여 분해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75320" y="1975104"/>
            <a:ext cx="3364992" cy="1170432"/>
          </a:xfrm>
          <a:prstGeom prst="roundRect">
            <a:avLst>
              <a:gd name="adj" fmla="val 7031"/>
            </a:avLst>
          </a:prstGeom>
          <a:solidFill>
            <a:srgbClr val="E1F3ED"/>
          </a:solidFill>
          <a:ln/>
        </p:spPr>
      </p:sp>
      <p:sp>
        <p:nvSpPr>
          <p:cNvPr id="16" name="Text 13"/>
          <p:cNvSpPr/>
          <p:nvPr/>
        </p:nvSpPr>
        <p:spPr>
          <a:xfrm>
            <a:off x="8485632" y="20665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+0.136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485632" y="26151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파생 · 불균형 대응 (로지스틱 → 부스팅+가중)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75320" y="3273552"/>
            <a:ext cx="3364992" cy="1170432"/>
          </a:xfrm>
          <a:prstGeom prst="roundRect">
            <a:avLst>
              <a:gd name="adj" fmla="val 7031"/>
            </a:avLst>
          </a:prstGeom>
          <a:solidFill>
            <a:srgbClr val="FBEFD9"/>
          </a:solidFill>
          <a:ln/>
        </p:spPr>
      </p:sp>
      <p:sp>
        <p:nvSpPr>
          <p:cNvPr id="19" name="Text 16"/>
          <p:cNvSpPr/>
          <p:nvPr/>
        </p:nvSpPr>
        <p:spPr>
          <a:xfrm>
            <a:off x="8485632" y="336499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+0.0006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8485632" y="3913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Encoding + 10fold×7seed 정교화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275320" y="4572000"/>
            <a:ext cx="3364992" cy="1371600"/>
          </a:xfrm>
          <a:prstGeom prst="roundRect">
            <a:avLst>
              <a:gd name="adj" fmla="val 6000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485632" y="4681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0.95015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485632" y="50657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대기 카드 ~0.9511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485632" y="5376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리더보드 1위 기준선 0.95198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03504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0.81084 → 0.81367 → 0.94952 → 0.94982 → 0.95007 → 0.95015 — 각 단계가 통제 실험으로 검증된 개선입니다.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위험한지 상담사가 읽게 설명합니다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shap_waterfall_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4892"/>
            <a:ext cx="3977640" cy="31596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5029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3.95h + 고스트레스  →  P(unhealthy) = 1.00</a:t>
            </a:r>
            <a:endParaRPr lang="en-US" sz="1200" dirty="0"/>
          </a:p>
        </p:txBody>
      </p:sp>
      <p:pic>
        <p:nvPicPr>
          <p:cNvPr id="15" name="Image 1" descr="C:/Users/1/Desktop/Somi Work/ppt_assets/shap_dependence_sleep_unhealt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766816"/>
            <a:ext cx="3977640" cy="263856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09160" y="45720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6시간 절벽 — 6h 미만에서 P(unhealthy) 급증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915400" y="1691640"/>
            <a:ext cx="2724912" cy="3337560"/>
          </a:xfrm>
          <a:prstGeom prst="roundRect">
            <a:avLst>
              <a:gd name="adj" fmla="val 302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125712" y="1847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근거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9125712" y="228600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학생 : 수면 3.95h · 고스트레스</a:t>
            </a:r>
            <a:endParaRPr lang="en-US" sz="1200" dirty="0"/>
          </a:p>
          <a:p>
            <a:pPr algn="l" marL="203200" indent="-2032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P(unhealthy) = 1.00</a:t>
            </a:r>
            <a:endParaRPr lang="en-US" sz="1200" dirty="0"/>
          </a:p>
          <a:p>
            <a:pPr algn="l" marL="203200" indent="-2032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6h 미만에서 위험 급증</a:t>
            </a:r>
            <a:endParaRPr lang="en-US" sz="1200" dirty="0"/>
          </a:p>
          <a:p>
            <a:pPr algn="l" marL="203200" indent="-2032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임계선 6h = 역공학 규칙과 일치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E1F3ED"/>
          </a:solidFill>
          <a:ln/>
        </p:spPr>
      </p:sp>
      <p:sp>
        <p:nvSpPr>
          <p:cNvPr id="21" name="Text 17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학습한 임계선 6h = 역공학 규칙(수면&lt;6h + 고스트레스 → unhealthy)과 일치  </a:t>
            </a:r>
            <a:pPr algn="ctr" indent="0" marL="0"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이 설명이 곧 상담사에게 제공할 개입 근거가 된다.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· VERIFIED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제출 점수로 검증을 마무리합니다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1783080"/>
            <a:ext cx="8531352" cy="3794760"/>
          </a:xfrm>
          <a:prstGeom prst="roundRect">
            <a:avLst>
              <a:gd name="adj" fmla="val 1205"/>
            </a:avLst>
          </a:prstGeom>
          <a:solidFill>
            <a:srgbClr val="F3F5F7"/>
          </a:solidFill>
          <a:ln w="25400">
            <a:solidFill>
              <a:srgbClr val="009E7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870448" y="2286000"/>
            <a:ext cx="603504" cy="6035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03120" y="3108960"/>
            <a:ext cx="7982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Kaggle 제출 화면 캡처를 삽입하세요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03120" y="3657600"/>
            <a:ext cx="7982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 팀 ID · Public / Private 점수가 보이도록 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4800600"/>
            <a:ext cx="7982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검증 추정 0.95015 · 제출 대기 카드 ~0.9511 — 실제 리더보드 점수로 교체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민감한 정보인 만큼 신뢰 설계가 먼저입니다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02996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20665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기반 수집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265176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목적·항목을 사전 고지하고 동의받습니다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34256" y="173736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202996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02936" y="20665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수집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608576" y="265176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신호만 — 과잉 수집하지 않음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19872" y="173736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94192" y="202996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5" name="Text 23"/>
          <p:cNvSpPr/>
          <p:nvPr/>
        </p:nvSpPr>
        <p:spPr>
          <a:xfrm>
            <a:off x="839419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988552" y="20665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통제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94192" y="265176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본인과 담당 상담사만 열람합니다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70332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399592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417320" y="403250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제공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22960" y="461772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등급마다 SHAP 근거를 함께 제시합니다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334256" y="370332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08576" y="399592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5" name="Text 33"/>
          <p:cNvSpPr/>
          <p:nvPr/>
        </p:nvSpPr>
        <p:spPr>
          <a:xfrm>
            <a:off x="4608576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202936" y="403250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판단은 사람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4608576" y="461772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우선순위 제안, 결정은 상담사가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119872" y="370332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394192" y="399592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40" name="Text 38"/>
          <p:cNvSpPr/>
          <p:nvPr/>
        </p:nvSpPr>
        <p:spPr>
          <a:xfrm>
            <a:off x="8394192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988552" y="403250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모니터링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394192" y="461772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성능·형평성을 정기 점검합니다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5623560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8640" y="562356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서비스의 엔진이지, 주인공이 아닙니다  </a:t>
            </a:r>
            <a:pPr algn="ctr"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신뢰가 먼저입니다.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PRINCIPLES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예측·설명·재평가만 맡습니다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02536" y="2011680"/>
            <a:ext cx="658368" cy="65836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5" name="Text 13"/>
          <p:cNvSpPr/>
          <p:nvPr/>
        </p:nvSpPr>
        <p:spPr>
          <a:xfrm>
            <a:off x="200253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31520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확률을 계산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9536" y="365760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predict_proba 로 3등급 확률을 산출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rot="5400000">
            <a:off x="4137660" y="2990088"/>
            <a:ext cx="237744" cy="237744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20" name="Shape 18"/>
          <p:cNvSpPr/>
          <p:nvPr/>
        </p:nvSpPr>
        <p:spPr>
          <a:xfrm>
            <a:off x="4398264" y="17373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52160" y="2011680"/>
            <a:ext cx="658368" cy="65836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81144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581144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분해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09160" y="365760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SHAP로 학생마다 어떤 신호가 위험을 높였는지 제시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 rot="5400000">
            <a:off x="7987284" y="2990088"/>
            <a:ext cx="237744" cy="237744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27" name="Shape 25"/>
          <p:cNvSpPr/>
          <p:nvPr/>
        </p:nvSpPr>
        <p:spPr>
          <a:xfrm>
            <a:off x="8247888" y="17373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701784" y="2011680"/>
            <a:ext cx="658368" cy="65836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9" name="Text 27"/>
          <p:cNvSpPr/>
          <p:nvPr/>
        </p:nvSpPr>
        <p:spPr>
          <a:xfrm>
            <a:off x="9701784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430768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재평가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430768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변화를 추적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558784" y="365760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후 다시 측정해 등급이 나아졌는지 확인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484632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983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3218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낙인효과 방지  </a:t>
            </a:r>
            <a:pPr indent="0" marL="0"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등급은 ‘꼬리표’가 아니라 개입을 여는 트리거일 뿐입니다.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77240" y="5724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CVD-safe 설계  </a:t>
            </a:r>
            <a:pPr indent="0" marL="0"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Okabe-Ito 팔레트 + 색·라벨·위치 삼중 인코딩으로 색만으로 판단하지 않게 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PILOT PLAN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학과·한 학기 PoC로 시작합니다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3108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1–2주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" y="25420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학생 3분 체크인 · 기준선 신호 수집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3918204" y="2203704"/>
            <a:ext cx="256032" cy="256032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18" name="Shape 16"/>
          <p:cNvSpPr/>
          <p:nvPr/>
        </p:nvSpPr>
        <p:spPr>
          <a:xfrm>
            <a:off x="4434840" y="1783080"/>
            <a:ext cx="3108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90872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3–6주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90872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90872" y="25420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콘텐츠·코칭·상담 자동 연결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804404" y="2203704"/>
            <a:ext cx="256032" cy="256032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23" name="Shape 21"/>
          <p:cNvSpPr/>
          <p:nvPr/>
        </p:nvSpPr>
        <p:spPr>
          <a:xfrm>
            <a:off x="8321040" y="1783080"/>
            <a:ext cx="3108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77072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7–8주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77072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리체크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77072" y="25420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재측정 · 등급 변화·참여 확인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1089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자원과 연결  </a:t>
            </a:r>
            <a:pPr algn="ctr" indent="0" marL="0"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상담센터·건강검진 프로그램에 얹어, 새 인프라 없이 시작합니다.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PoC로 답할 질문 세 가지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48056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" y="4681728"/>
            <a:ext cx="548640" cy="54864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681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508760" y="47000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 참여율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1248" y="52852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실제로 시작하는가?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398264" y="448056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72584" y="4681728"/>
            <a:ext cx="548640" cy="54864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37" name="Text 35"/>
          <p:cNvSpPr/>
          <p:nvPr/>
        </p:nvSpPr>
        <p:spPr>
          <a:xfrm>
            <a:off x="4672584" y="4681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358384" y="47000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신뢰도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690872" y="52852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상담사가 등급에 동의하는가?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247888" y="448056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522208" y="4681728"/>
            <a:ext cx="548640" cy="54864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42" name="Text 40"/>
          <p:cNvSpPr/>
          <p:nvPr/>
        </p:nvSpPr>
        <p:spPr>
          <a:xfrm>
            <a:off x="8522208" y="4681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208008" y="47000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정확도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540496" y="52852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개입한 학생이 실제로 개선되는가?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성공은 점수가 아니라 운영 KPI로 봅니다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지표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4904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항목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193852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23113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19385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749040" y="19385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 완료율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193852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시작하는가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276148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05409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27614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REACH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749040" y="276148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 상담 연결률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27614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학생에게 닿는가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358444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87705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358444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ENGAGEMENT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749040" y="35844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참여·완료율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0" y="358444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행동으로 이어지는가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40740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E1F3ED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" y="4700016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44074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OUTCOME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3749040" y="44074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리체크 등급 개선율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46720" y="44074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나아지는가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23036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552297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8" name="Text 36"/>
          <p:cNvSpPr/>
          <p:nvPr/>
        </p:nvSpPr>
        <p:spPr>
          <a:xfrm>
            <a:off x="1143000" y="52303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EFFICIENCY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3749040" y="52303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배정 리드타임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046720" y="523036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운영이 빨라지는가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점수(0.950)는 시작점일 뿐 — 성공은 학생의 등급이 실제로 나아지는지(OUTCOME)로 판단합니다.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많이가 아니라 더 잘 연결합니다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69164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74520" y="1938528"/>
            <a:ext cx="914400" cy="9144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5" name="Shape 13"/>
          <p:cNvSpPr/>
          <p:nvPr/>
        </p:nvSpPr>
        <p:spPr>
          <a:xfrm>
            <a:off x="2084832" y="2615184"/>
            <a:ext cx="91440" cy="1645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0" y="2523744"/>
            <a:ext cx="9144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487168" y="2432304"/>
            <a:ext cx="91440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35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효율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9536" y="3566160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우선순위 자동화로 제한된 보건 인력의 업무 효율을 높인다.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98264" y="169164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24144" y="1938528"/>
            <a:ext cx="914400" cy="9144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2121408"/>
            <a:ext cx="109728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925312" y="2322576"/>
            <a:ext cx="512064" cy="1097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81144" y="3035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복지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709160" y="3566160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위험을 조기에 발견해 학생별 맞춤 관리를 제공한다.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47888" y="169164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573768" y="1938528"/>
            <a:ext cx="914400" cy="9144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8" name="Text 26"/>
          <p:cNvSpPr/>
          <p:nvPr/>
        </p:nvSpPr>
        <p:spPr>
          <a:xfrm>
            <a:off x="9573768" y="19385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8430768" y="3035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 효과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558784" y="3566160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악화를 예방하고 지속 모니터링으로 재발을 막는다.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498348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98348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축이 만나는 결론 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위험 학생을 먼저 찾아 ‘필요한 지원에 정확히 연결’하는 플랫폼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경험을 검증한 뒤 연동을 확장합니다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40764" y="2212848"/>
            <a:ext cx="621792" cy="621792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5" name="Text 13"/>
          <p:cNvSpPr/>
          <p:nvPr/>
        </p:nvSpPr>
        <p:spPr>
          <a:xfrm>
            <a:off x="1540764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2999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spc="50" kern="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DISCOVER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85800" y="34015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" y="3950208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388620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인터뷰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" y="451713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1" name="Text 19"/>
          <p:cNvSpPr/>
          <p:nvPr/>
        </p:nvSpPr>
        <p:spPr>
          <a:xfrm>
            <a:off x="1115568" y="44531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보건·상담·학생 니즈 파악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5400000">
            <a:off x="3154680" y="3456432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23" name="Shape 21"/>
          <p:cNvSpPr/>
          <p:nvPr/>
        </p:nvSpPr>
        <p:spPr>
          <a:xfrm>
            <a:off x="3374136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66260" y="2212848"/>
            <a:ext cx="621792" cy="621792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5" name="Text 23"/>
          <p:cNvSpPr/>
          <p:nvPr/>
        </p:nvSpPr>
        <p:spPr>
          <a:xfrm>
            <a:off x="4366260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511296" y="2999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spc="50" kern="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PILOT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511296" y="34015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시작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30168" y="3950208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9" name="Text 27"/>
          <p:cNvSpPr/>
          <p:nvPr/>
        </p:nvSpPr>
        <p:spPr>
          <a:xfrm>
            <a:off x="3941064" y="388620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학과 PoC (8주)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30168" y="451713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1" name="Text 29"/>
          <p:cNvSpPr/>
          <p:nvPr/>
        </p:nvSpPr>
        <p:spPr>
          <a:xfrm>
            <a:off x="3941064" y="44531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 → 개입 → 리체크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rot="5400000">
            <a:off x="5980176" y="3456432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33" name="Shape 31"/>
          <p:cNvSpPr/>
          <p:nvPr/>
        </p:nvSpPr>
        <p:spPr>
          <a:xfrm>
            <a:off x="6199632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91756" y="2212848"/>
            <a:ext cx="621792" cy="621792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5" name="Text 33"/>
          <p:cNvSpPr/>
          <p:nvPr/>
        </p:nvSpPr>
        <p:spPr>
          <a:xfrm>
            <a:off x="7191756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336792" y="2999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spc="50" kern="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VALIDATE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6336792" y="34015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확인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55664" y="3950208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388620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검증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55664" y="451713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44531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참여·연결·개선율 측정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 rot="5400000">
            <a:off x="8805672" y="3456432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43" name="Shape 41"/>
          <p:cNvSpPr/>
          <p:nvPr/>
        </p:nvSpPr>
        <p:spPr>
          <a:xfrm>
            <a:off x="9025128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E1F3ED"/>
          </a:solidFill>
          <a:ln/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0017252" y="2212848"/>
            <a:ext cx="621792" cy="621792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45" name="Text 43"/>
          <p:cNvSpPr/>
          <p:nvPr/>
        </p:nvSpPr>
        <p:spPr>
          <a:xfrm>
            <a:off x="10017252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9162288" y="2999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spc="50" kern="0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9162288" y="34015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281160" y="3950208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49" name="Text 47"/>
          <p:cNvSpPr/>
          <p:nvPr/>
        </p:nvSpPr>
        <p:spPr>
          <a:xfrm>
            <a:off x="9592056" y="388620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전교 확대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281160" y="4517136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51" name="Text 49"/>
          <p:cNvSpPr/>
          <p:nvPr/>
        </p:nvSpPr>
        <p:spPr>
          <a:xfrm>
            <a:off x="9592056" y="44531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웨어러블·LLM 상담 연동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경험(참여·신뢰)을 먼저 검증한 뒤에야 웨어러블·LLM 등 데이터 연동을 확장합니다 — 기술보다 신뢰가 먼저입니다.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HONEST CONDITIONS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조건을 함께 제시합니다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54681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075688"/>
            <a:ext cx="237744" cy="23774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07008" y="2002536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데이터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" y="253288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천장 ~0.952 — 캐글 합성 데이터의 구조적 한계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310896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대응  </a:t>
            </a:r>
            <a:pPr indent="0" marL="0"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 확보 시 외부 타당성 검증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1783080"/>
            <a:ext cx="54681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2075688"/>
            <a:ext cx="237744" cy="23774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0" name="Text 18"/>
          <p:cNvSpPr/>
          <p:nvPr/>
        </p:nvSpPr>
        <p:spPr>
          <a:xfrm>
            <a:off x="6830568" y="2002536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실세계 검증 아님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83096" y="253288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학생 데이터로의 외부 타당성은 아직 미검증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83096" y="310896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대응  </a:t>
            </a:r>
            <a:pPr indent="0" marL="0"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PoC로 현장 타당성 확인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54681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4087368"/>
            <a:ext cx="237744" cy="237744"/>
          </a:xfrm>
          <a:prstGeom prst="ellipse">
            <a:avLst/>
          </a:prstGeom>
          <a:solidFill>
            <a:srgbClr val="A87400"/>
          </a:solidFill>
          <a:ln/>
        </p:spPr>
      </p:sp>
      <p:sp>
        <p:nvSpPr>
          <p:cNvPr id="25" name="Text 23"/>
          <p:cNvSpPr/>
          <p:nvPr/>
        </p:nvSpPr>
        <p:spPr>
          <a:xfrm>
            <a:off x="1207008" y="4014216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 ≠ 인과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9536" y="454456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개입이 효과 있다는 인과는 아직 증명 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9536" y="512064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대응  </a:t>
            </a:r>
            <a:pPr indent="0" marL="0"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전후 비교로 효과 측정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72200" y="3794760"/>
            <a:ext cx="54681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4087368"/>
            <a:ext cx="237744" cy="23774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0" name="Text 28"/>
          <p:cNvSpPr/>
          <p:nvPr/>
        </p:nvSpPr>
        <p:spPr>
          <a:xfrm>
            <a:off x="6830568" y="4014216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보조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83096" y="454456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판단은 사람 — 모델은 우선순위만 제안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83096" y="512064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대응  </a:t>
            </a:r>
            <a:pPr indent="0" marL="0"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 결정 지원 도구로 설계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5000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14300" dist="38100" dir="5400000">
              <a:srgbClr val="9BA6B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5852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감추지 않는 것이 신뢰의 출발점입니다 — 과장 없이, 검증할 수 있는 것만 약속합니다.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E8EBF0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870948" y="1572768"/>
            <a:ext cx="1380744" cy="3941064"/>
          </a:xfrm>
          <a:prstGeom prst="roundRect">
            <a:avLst>
              <a:gd name="adj" fmla="val 11921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26980" y="1828800"/>
            <a:ext cx="868680" cy="86868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26980" y="3108960"/>
            <a:ext cx="868680" cy="86868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26980" y="4389120"/>
            <a:ext cx="868680" cy="86868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14630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대응을 선제적 연결로 바꿉니다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868680" y="2679192"/>
            <a:ext cx="512064" cy="51206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27632" y="2606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인터뷰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27632" y="30906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보건·상담·학생의 실제 니즈를 확인합니다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3703320"/>
            <a:ext cx="512064" cy="51206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703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27632" y="36301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규칙 워크숍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627632" y="4114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개입 시나리오를 함께 설계·합의합니다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8680" y="4727448"/>
            <a:ext cx="512064" cy="51206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727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27632" y="46542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승인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627632" y="5138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학과·한 학기 파일럿을 시작합니다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5897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955280" y="6035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건강신호등 (Health Signal) — 플랫폼 제안서</dc:title>
  <dc:subject>PptxGenJS Presentation</dc:subject>
  <dc:creator>건강신호등 팀</dc:creator>
  <cp:lastModifiedBy>건강신호등 팀</cp:lastModifiedBy>
  <cp:revision>1</cp:revision>
  <dcterms:created xsi:type="dcterms:W3CDTF">2026-07-14T14:31:27Z</dcterms:created>
  <dcterms:modified xsi:type="dcterms:W3CDTF">2026-07-14T14:31:27Z</dcterms:modified>
</cp:coreProperties>
</file>