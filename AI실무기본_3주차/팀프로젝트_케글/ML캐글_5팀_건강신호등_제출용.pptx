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0" r:id="rId32"/>
    <p:sldId id="291" r:id="rId33"/>
    <p:sldId id="292" r:id="rId34"/>
    <p:sldId id="293" r:id="rId35"/>
    <p:sldId id="296" r:id="rId36"/>
    <p:sldId id="300" r:id="rId37"/>
    <p:sldId id="295" r:id="rId38"/>
    <p:sldId id="287" r:id="rId39"/>
    <p:sldId id="301" r:id="rId40"/>
  </p:sldIdLst>
  <p:sldSz cx="15240000" cy="8572500"/>
  <p:notesSz cx="8572500" cy="152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4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703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985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61695"/>
            <a:ext cx="7239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64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HEALTH SIGNAL · 플랫폼 제안서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095805"/>
            <a:ext cx="8572500" cy="1219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0" b="1" kern="0" spc="-384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건강신호등</a:t>
            </a:r>
            <a:endParaRPr lang="en-US" sz="9500" dirty="0"/>
          </a:p>
        </p:txBody>
      </p:sp>
      <p:sp>
        <p:nvSpPr>
          <p:cNvPr id="4" name="Text 2"/>
          <p:cNvSpPr txBox="1"/>
          <p:nvPr/>
        </p:nvSpPr>
        <p:spPr>
          <a:xfrm>
            <a:off x="952805" y="3619195"/>
            <a:ext cx="8572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kern="0" spc="-26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Health Signal Platform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952805" y="4381805"/>
            <a:ext cx="8572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kern="0" spc="-12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학생의 작은 생활신호를 필요한 건강지원으로 연결합니다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52805" y="5143500"/>
            <a:ext cx="2685593" cy="437998"/>
          </a:xfrm>
          <a:prstGeom prst="roundRect">
            <a:avLst>
              <a:gd name="adj" fmla="val 47808"/>
            </a:avLst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3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5393" y="5247742"/>
            <a:ext cx="2477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3등급 신호등 자동 분류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71900" y="5143500"/>
            <a:ext cx="3257093" cy="437998"/>
          </a:xfrm>
          <a:prstGeom prst="roundRect">
            <a:avLst>
              <a:gd name="adj" fmla="val 47808"/>
            </a:avLst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3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58184" y="5247742"/>
            <a:ext cx="334304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Balanced Accuracy 0.95104</a:t>
            </a:r>
            <a:endParaRPr lang="en-US" sz="1200" dirty="0"/>
          </a:p>
        </p:txBody>
      </p:sp>
      <p:pic>
        <p:nvPicPr>
          <p:cNvPr id="10" name="Image 0" descr="gen-dedup-d5827fb7a15c88432ca71b0465926af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14400" y="6858000"/>
            <a:ext cx="8572500" cy="91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14400" y="7125005"/>
            <a:ext cx="8572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ML캐글_5팀 · 정소미 박종형 최용우 오헌제 오준석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7448702"/>
            <a:ext cx="8572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2026.07.15 · v5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1620195" y="1143000"/>
            <a:ext cx="2704795" cy="6324905"/>
          </a:xfrm>
          <a:prstGeom prst="roundRect">
            <a:avLst>
              <a:gd name="adj" fmla="val 21129"/>
            </a:avLst>
          </a:prstGeom>
          <a:solidFill>
            <a:srgbClr val="111827"/>
          </a:solidFill>
          <a:ln w="25399">
            <a:solidFill>
              <a:srgbClr val="1F2937"/>
            </a:solidFill>
            <a:prstDash val="solid"/>
          </a:ln>
        </p:spPr>
      </p:sp>
      <p:pic>
        <p:nvPicPr>
          <p:cNvPr id="14" name="Image 1" descr="gen-dedup-43da5867d81662f493e071e5948b200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91695" y="1714500"/>
            <a:ext cx="1524305" cy="1524305"/>
          </a:xfrm>
          <a:prstGeom prst="rect">
            <a:avLst/>
          </a:prstGeom>
        </p:spPr>
      </p:pic>
      <p:pic>
        <p:nvPicPr>
          <p:cNvPr id="15" name="Image 2" descr="gen-dedup-1f3657d864d90aa5cf89e6bed742af7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191695" y="3524098"/>
            <a:ext cx="1524305" cy="1524305"/>
          </a:xfrm>
          <a:prstGeom prst="rect">
            <a:avLst/>
          </a:prstGeom>
        </p:spPr>
      </p:pic>
      <p:pic>
        <p:nvPicPr>
          <p:cNvPr id="16" name="Image 3" descr="gen-dedup-ec978e2ce234cec953467a2e0f809b5b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191695" y="5333695"/>
            <a:ext cx="1524305" cy="1524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CONCLUSION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요약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배경 서비스 근거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7760391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전수 확인을 멈추고, 위험 신호를 24시간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안에</a:t>
            </a: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지원으로</a:t>
            </a: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2190902"/>
            <a:ext cx="13716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건강신호등은 13개 생활 데이터를 </a:t>
            </a:r>
            <a:r>
              <a:rPr lang="en-US" sz="1400" b="1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3등급 작업 큐</a:t>
            </a:r>
            <a:r>
              <a:rPr lang="en-US" sz="14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바꾸고, 상담이 끝날 때까지 </a:t>
            </a:r>
            <a:r>
              <a:rPr lang="en-US" sz="1400" b="1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D1·D7·D14</a:t>
            </a:r>
            <a:r>
              <a:rPr lang="en-US" sz="14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추적한다.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1695" y="2952598"/>
            <a:ext cx="4447642" cy="2685593"/>
          </a:xfrm>
          <a:prstGeom prst="roundRect">
            <a:avLst>
              <a:gd name="adj" fmla="val 56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695" y="2952598"/>
            <a:ext cx="56693" cy="2685593"/>
          </a:xfrm>
          <a:prstGeom prst="roundRect">
            <a:avLst>
              <a:gd name="adj" fmla="val 269354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7105" y="3181198"/>
            <a:ext cx="39054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· 사람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67105" y="3448202"/>
            <a:ext cx="3905402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전수 검토 → 우선순위 큐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067105" y="3924605"/>
            <a:ext cx="39054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상담사는 </a:t>
            </a:r>
            <a:r>
              <a:rPr lang="en-US" sz="1300" b="1" kern="0" spc="-12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</a:t>
            </a: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부터 처리하고, 위험 근거는 </a:t>
            </a:r>
            <a:r>
              <a:rPr lang="en-US" sz="13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상위 3개</a:t>
            </a: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함께 확인한다.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67105" y="5048402"/>
            <a:ext cx="3905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대기시간 감소, 개입 근거 확보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28793" y="2952598"/>
            <a:ext cx="4447642" cy="2685593"/>
          </a:xfrm>
          <a:prstGeom prst="roundRect">
            <a:avLst>
              <a:gd name="adj" fmla="val 56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28793" y="2952598"/>
            <a:ext cx="56693" cy="2685593"/>
          </a:xfrm>
          <a:prstGeom prst="roundRect">
            <a:avLst>
              <a:gd name="adj" fmla="val 269354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34202" y="3181198"/>
            <a:ext cx="39054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· 학생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734202" y="3448202"/>
            <a:ext cx="3905402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방문 → 선제 지원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734202" y="3924605"/>
            <a:ext cx="39054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수면·스트레스·활동 신호에 맞춘 행동을 배정하고 </a:t>
            </a:r>
            <a:r>
              <a:rPr lang="en-US" sz="13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14일 뒤 변화</a:t>
            </a: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재측정한다.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734202" y="5048402"/>
            <a:ext cx="3905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위험 발현 전 개입, 개선율 추적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95890" y="2952598"/>
            <a:ext cx="4447642" cy="2685593"/>
          </a:xfrm>
          <a:prstGeom prst="roundRect">
            <a:avLst>
              <a:gd name="adj" fmla="val 56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95890" y="2952598"/>
            <a:ext cx="56693" cy="2685593"/>
          </a:xfrm>
          <a:prstGeom prst="roundRect">
            <a:avLst>
              <a:gd name="adj" fmla="val 269354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01300" y="3181198"/>
            <a:ext cx="39054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· 운영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401300" y="3448202"/>
            <a:ext cx="3905402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판정 → 닫힌 루프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10401300" y="3924605"/>
            <a:ext cx="39054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미응답·재악화·동의 철회까지 </a:t>
            </a:r>
            <a:r>
              <a:rPr lang="en-US" sz="13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상태값</a:t>
            </a: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남겨 다음 행동과 A/S를 자동 갱신한다.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401300" y="5048402"/>
            <a:ext cx="3905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감사 로그, 재학습 근거 축적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1695" y="5905195"/>
            <a:ext cx="13735202" cy="780898"/>
          </a:xfrm>
          <a:prstGeom prst="roundRect">
            <a:avLst>
              <a:gd name="adj" fmla="val 17096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7902" y="6096305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ASK · 의사결정 요청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47902" y="6324905"/>
            <a:ext cx="13335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동의자 대상 </a:t>
            </a:r>
            <a:r>
              <a:rPr lang="en-US" sz="15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 파일럿 승인</a:t>
            </a:r>
            <a:r>
              <a:rPr lang="en-US" sz="15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상담 수용량 기반 운영 · </a:t>
            </a:r>
            <a:r>
              <a:rPr lang="en-US" sz="1500" b="1" kern="0" spc="-12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미달 시 확대 중단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1695" y="6953098"/>
            <a:ext cx="13716000" cy="666598"/>
          </a:xfrm>
          <a:prstGeom prst="roundRect">
            <a:avLst>
              <a:gd name="adj" fmla="val 20027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2805" y="7153351"/>
            <a:ext cx="1333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예측이 끝이 아니다</a:t>
            </a:r>
            <a:r>
              <a:rPr lang="en-US" sz="14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누가·언제·무엇을 하고, 효과가 없을 때 어떻게 다시 연결할지까지 운영한다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1695" y="8001000"/>
            <a:ext cx="13716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33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ML캐글_5팀 · Health Signal Platform · v5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NOW · CAPACITY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배경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서비스 근거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438717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병목은 학생 수가 아니라 '누구를 먼저 볼 것인가'다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761695" y="2381098"/>
            <a:ext cx="6114593" cy="4971593"/>
          </a:xfrm>
          <a:prstGeom prst="roundRect">
            <a:avLst>
              <a:gd name="adj" fmla="val 38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7105" y="27047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전수 검토 업무량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7105" y="3105302"/>
            <a:ext cx="58421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 학생 수 </a:t>
            </a:r>
            <a:r>
              <a:rPr lang="en-US" sz="2100" b="1" kern="0" spc="-44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1인 검토시간 </a:t>
            </a:r>
            <a:r>
              <a:rPr lang="en-US" sz="2100" b="1" kern="0" spc="-44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조사 빈도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67105" y="4000500"/>
            <a:ext cx="54864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수가 늘수록 반복 검토·초과근무·대기시간이 함께 늘지만, 실제 우선 개입 대상은 전체가 아니다.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67105" y="5048402"/>
            <a:ext cx="5553151" cy="1923898"/>
          </a:xfrm>
          <a:prstGeom prst="roundRect">
            <a:avLst>
              <a:gd name="adj" fmla="val 6939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7105" y="5048402"/>
            <a:ext cx="56693" cy="1923898"/>
          </a:xfrm>
          <a:prstGeom prst="roundRect">
            <a:avLst>
              <a:gd name="adj" fmla="val 235483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33195" y="5257800"/>
            <a:ext cx="50484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전환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333195" y="5562295"/>
            <a:ext cx="50484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전수 검토 시간을 </a:t>
            </a:r>
            <a:r>
              <a:rPr lang="en-US" sz="1800" b="1" kern="0" spc="-12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</a:t>
            </a:r>
            <a:r>
              <a:rPr lang="en-US" sz="18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800" b="1" kern="0" spc="-12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Amber</a:t>
            </a:r>
            <a:r>
              <a:rPr lang="en-US" sz="18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대응 시간으로 재배분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33195" y="6515100"/>
            <a:ext cx="5048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인력·같은 시간, 우선순위만 다르게</a:t>
            </a:r>
            <a:endParaRPr lang="en-US" sz="1100" dirty="0"/>
          </a:p>
        </p:txBody>
      </p:sp>
      <p:pic>
        <p:nvPicPr>
          <p:cNvPr id="14" name="Image 0" descr="gen-dedup-012ce57de0efb52efecdc3f1c7468f67.jpg"/>
          <p:cNvPicPr>
            <a:picLocks noChangeAspect="1"/>
          </p:cNvPicPr>
          <p:nvPr/>
        </p:nvPicPr>
        <p:blipFill>
          <a:blip r:embed="rId3"/>
          <a:srcRect t="-1172" b="-1172"/>
          <a:stretch/>
        </p:blipFill>
        <p:spPr>
          <a:xfrm>
            <a:off x="7239305" y="2381098"/>
            <a:ext cx="7239305" cy="38103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239305" y="6286500"/>
            <a:ext cx="7239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-20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86% at-risk</a:t>
            </a:r>
            <a:r>
              <a:rPr lang="en-US" sz="1900" b="1" kern="0" spc="-20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en-US" sz="1900" b="1" kern="0" spc="-2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8% unhealthy</a:t>
            </a:r>
            <a:r>
              <a:rPr lang="en-US" sz="1900" b="1" kern="0" spc="-20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en-US" sz="1900" b="1" kern="0" spc="-2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6% fit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239305" y="6686093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불균형이 크므로 정확도 대신 </a:t>
            </a:r>
            <a:r>
              <a:rPr lang="en-US" sz="1100" b="1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Balanced Accuracy</a:t>
            </a: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클래스별 </a:t>
            </a:r>
            <a:r>
              <a:rPr lang="en-US" sz="1100" b="1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</a:t>
            </a: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운영 품질을 확인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1695" y="7619695"/>
            <a:ext cx="13716000" cy="5715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2805" y="7791602"/>
            <a:ext cx="1333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인력을 바로 늘릴 수 없다면, </a:t>
            </a:r>
            <a:r>
              <a:rPr lang="en-US" sz="13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인력으로 위험 신호를 먼저 보는 배분 체계</a:t>
            </a:r>
            <a:r>
              <a:rPr lang="en-US" sz="13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바꿔야 한다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배경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서비스 근거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 쌓이는 생활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</a:t>
            </a: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출발점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752905"/>
            <a:ext cx="1371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설문·웨어러블로 이미 수집되는 생활 신호 — 새 인프라 없이 바로 활용 가능한 </a:t>
            </a:r>
            <a:r>
              <a:rPr lang="en-US" sz="1300" b="1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13개 변수</a:t>
            </a:r>
            <a:r>
              <a:rPr lang="en-US" sz="13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</a:t>
            </a:r>
            <a:r>
              <a:rPr lang="en-US" sz="1300" b="1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3등급 분류</a:t>
            </a:r>
            <a:r>
              <a:rPr lang="en-US" sz="13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입력으로 사용한다.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1695" y="2286000"/>
            <a:ext cx="3257093" cy="933602"/>
          </a:xfrm>
          <a:prstGeom prst="roundRect">
            <a:avLst>
              <a:gd name="adj" fmla="val 143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0295" y="2438705"/>
            <a:ext cx="285750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690,088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990295" y="2876702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90695" y="2286000"/>
            <a:ext cx="3257093" cy="933602"/>
          </a:xfrm>
          <a:prstGeom prst="roundRect">
            <a:avLst>
              <a:gd name="adj" fmla="val 143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19295" y="2438705"/>
            <a:ext cx="285750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295,753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4419295" y="2876702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19695" y="2286000"/>
            <a:ext cx="3257093" cy="933602"/>
          </a:xfrm>
          <a:prstGeom prst="roundRect">
            <a:avLst>
              <a:gd name="adj" fmla="val 143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48295" y="2438705"/>
            <a:ext cx="285750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848295" y="2876702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(수치 7 · 범주 6)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048695" y="2286000"/>
            <a:ext cx="3448202" cy="933602"/>
          </a:xfrm>
          <a:prstGeom prst="roundRect">
            <a:avLst>
              <a:gd name="adj" fmla="val 14300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277295" y="2438705"/>
            <a:ext cx="30486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6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2876702"/>
            <a:ext cx="3048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 등급 (fit·at-risk·unhealthy)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3524098"/>
          <a:ext cx="13716000" cy="5343758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영문 변수명 / 한글명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유형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범위 · 범주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결측률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stress_level / 스트레스 수준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범주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스트레스 (low · med · high)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sleep_duration / 수면 시간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3–10 h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calorie_expenditure / 칼로리 소모량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1200–3580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sleep_quality / 수면의 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범주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good / average / poor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water_intake / 수분 섭취량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0.5–4.7 L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physical_activity_level / 신체 활동 수준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범주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active / moderate / sedentary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smoking_alcohol / 흡연·음주 여부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범주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yes / occasional / no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gender / 성별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범주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female / male / other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bmi / 체질량지수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16–35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step_count / 걸음 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1k–15k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heart_rate / 심박수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50–108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1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exercise_duration / 운동 시간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0–100 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16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diet_type / 식단 유형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범주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balanced / veg / non-veg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761695" y="8096098"/>
            <a:ext cx="137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3개</a:t>
            </a: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(수면 시간 · 스트레스 · 신체 활동) 는 생성 규칙의 중심, </a:t>
            </a:r>
            <a:r>
              <a:rPr lang="en-US" sz="11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나머지 10개</a:t>
            </a: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결측 구간의 보완 프록시로 활용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SCQA · DECISION LOGIC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배경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서비스 근거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6145561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모으는 조직에서, 위험 신호를 행동으로 바꾸는 조직으로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61695" y="2190902"/>
            <a:ext cx="914400" cy="914400"/>
          </a:xfrm>
          <a:prstGeom prst="roundRect">
            <a:avLst>
              <a:gd name="adj" fmla="val 208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1695" y="2342693"/>
            <a:ext cx="9144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700" b="1" kern="0" spc="-12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</a:t>
            </a:r>
            <a:endParaRPr lang="en-US" sz="4700" dirty="0"/>
          </a:p>
        </p:txBody>
      </p:sp>
      <p:sp>
        <p:nvSpPr>
          <p:cNvPr id="7" name="Text 5"/>
          <p:cNvSpPr txBox="1"/>
          <p:nvPr/>
        </p:nvSpPr>
        <p:spPr>
          <a:xfrm>
            <a:off x="1999793" y="2286000"/>
            <a:ext cx="12382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SITUATION · 상황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999793" y="2533802"/>
            <a:ext cx="12382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대학은 정기 설문·웨어러블로 13개 생활 신호를 수집하고 보건·상담 체계를 운영한다.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1695" y="3429000"/>
            <a:ext cx="914400" cy="914400"/>
          </a:xfrm>
          <a:prstGeom prst="roundRect">
            <a:avLst>
              <a:gd name="adj" fmla="val 20800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1695" y="3581705"/>
            <a:ext cx="9144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700" b="1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4700" dirty="0"/>
          </a:p>
        </p:txBody>
      </p:sp>
      <p:sp>
        <p:nvSpPr>
          <p:cNvPr id="11" name="Text 9"/>
          <p:cNvSpPr txBox="1"/>
          <p:nvPr/>
        </p:nvSpPr>
        <p:spPr>
          <a:xfrm>
            <a:off x="1999793" y="3524098"/>
            <a:ext cx="12382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COMPLICATION · 문제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99793" y="3771900"/>
            <a:ext cx="12382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전수 수기 검토는 업무시간·비용을 늘리고, </a:t>
            </a:r>
            <a:r>
              <a:rPr lang="en-US" sz="1800" b="1" kern="0" spc="-12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위험군 14%</a:t>
            </a:r>
            <a:r>
              <a:rPr lang="en-US" sz="18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우선순위와 후속 확인을 흐린다.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1695" y="4667098"/>
            <a:ext cx="914400" cy="914400"/>
          </a:xfrm>
          <a:prstGeom prst="roundRect">
            <a:avLst>
              <a:gd name="adj" fmla="val 2080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1695" y="4819802"/>
            <a:ext cx="9144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7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4700" dirty="0"/>
          </a:p>
        </p:txBody>
      </p:sp>
      <p:sp>
        <p:nvSpPr>
          <p:cNvPr id="15" name="Text 13"/>
          <p:cNvSpPr txBox="1"/>
          <p:nvPr/>
        </p:nvSpPr>
        <p:spPr>
          <a:xfrm>
            <a:off x="1999793" y="4762195"/>
            <a:ext cx="12382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QUESTION · 질문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999793" y="5009998"/>
            <a:ext cx="12382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악화 전에 위험군을 포착해 제한된 상담 자원을 자동 배분하고, 지원 효과까지 확인할 수 있는가?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1695" y="5905195"/>
            <a:ext cx="914400" cy="914400"/>
          </a:xfrm>
          <a:prstGeom prst="roundRect">
            <a:avLst>
              <a:gd name="adj" fmla="val 208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1695" y="6057900"/>
            <a:ext cx="9144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7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4700" dirty="0"/>
          </a:p>
        </p:txBody>
      </p:sp>
      <p:sp>
        <p:nvSpPr>
          <p:cNvPr id="19" name="Text 17"/>
          <p:cNvSpPr txBox="1"/>
          <p:nvPr/>
        </p:nvSpPr>
        <p:spPr>
          <a:xfrm>
            <a:off x="1999793" y="6000293"/>
            <a:ext cx="12382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ANSWER · 답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999793" y="6248095"/>
            <a:ext cx="130686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3등급 · SHAP · SLA 작업 큐를 운영하고 </a:t>
            </a:r>
            <a:r>
              <a:rPr lang="en-US" sz="19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D1 / D7 / D14 재확인</a:t>
            </a:r>
            <a:r>
              <a:rPr lang="en-US" sz="19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미응답·재악화까지 다시 연결한다.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61695" y="7524598"/>
            <a:ext cx="13716000" cy="666598"/>
          </a:xfrm>
          <a:prstGeom prst="roundRect">
            <a:avLst>
              <a:gd name="adj" fmla="val 20027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2805" y="7724851"/>
            <a:ext cx="1333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</a:t>
            </a:r>
            <a:r>
              <a:rPr lang="en-US" sz="14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머신러닝 시스템은 '위험 예측'이 아니라 '지원 배분 · 이행 · 재평가'를 자동화해야 한다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</a:t>
            </a:r>
            <a:r>
              <a:rPr lang="en-US" sz="10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서비스</a:t>
            </a:r>
            <a:r>
              <a:rPr lang="en-US" sz="10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근거 실행 </a:t>
            </a:r>
            <a:r>
              <a:rPr lang="en-US" sz="1000" b="1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/ 30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23880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64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2 · SERVICE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714293"/>
            <a:ext cx="9525305" cy="2029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0" b="1" kern="0" spc="-304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건강신호등</a:t>
            </a:r>
            <a:endParaRPr lang="en-US" sz="7500" dirty="0"/>
          </a:p>
          <a:p>
            <a:pPr marL="0" indent="0" algn="l">
              <a:buNone/>
            </a:pPr>
            <a:r>
              <a:rPr lang="en-US" sz="7500" b="1" kern="0" spc="-304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</a:t>
            </a:r>
            <a:endParaRPr lang="en-US" sz="7500" dirty="0"/>
          </a:p>
        </p:txBody>
      </p:sp>
      <p:sp>
        <p:nvSpPr>
          <p:cNvPr id="5" name="Text 3"/>
          <p:cNvSpPr txBox="1"/>
          <p:nvPr/>
        </p:nvSpPr>
        <p:spPr>
          <a:xfrm>
            <a:off x="952805" y="5905195"/>
            <a:ext cx="95253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kern="0" spc="-2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 신호를 행동과 지원으로 연결하는 학생·상담사 서비스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810390" y="1904695"/>
            <a:ext cx="2514600" cy="5753405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25399">
            <a:solidFill>
              <a:srgbClr val="1F2937"/>
            </a:solidFill>
            <a:prstDash val="solid"/>
          </a:ln>
        </p:spPr>
      </p:sp>
      <p:pic>
        <p:nvPicPr>
          <p:cNvPr id="7" name="Image 0" descr="gen-dedup-43da5867d81662f493e071e5948b200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86793" y="2381098"/>
            <a:ext cx="1524305" cy="1524305"/>
          </a:xfrm>
          <a:prstGeom prst="rect">
            <a:avLst/>
          </a:prstGeom>
        </p:spPr>
      </p:pic>
      <p:pic>
        <p:nvPicPr>
          <p:cNvPr id="8" name="Image 1" descr="gen-dedup-1f3657d864d90aa5cf89e6bed742af7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286793" y="4000500"/>
            <a:ext cx="1524305" cy="1524305"/>
          </a:xfrm>
          <a:prstGeom prst="rect">
            <a:avLst/>
          </a:prstGeom>
        </p:spPr>
      </p:pic>
      <p:pic>
        <p:nvPicPr>
          <p:cNvPr id="9" name="Image 2" descr="gen-dedup-ec978e2ce234cec953467a2e0f809b5b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286793" y="5619902"/>
            <a:ext cx="1524305" cy="1524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WHO IT SERVES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서비스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근거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시스템, 세 사용자의 서로 다른 가치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771193"/>
            <a:ext cx="13716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신호를 학생·상담사·관리자가 각자 필요한 언어로 확인한다.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1695" y="2571293"/>
            <a:ext cx="4400093" cy="5162702"/>
          </a:xfrm>
          <a:prstGeom prst="roundRect">
            <a:avLst>
              <a:gd name="adj" fmla="val 43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105" y="2876702"/>
            <a:ext cx="571500" cy="5715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7105" y="2991002"/>
            <a:ext cx="571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028493"/>
            <a:ext cx="30486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-2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1067105" y="3733495"/>
            <a:ext cx="381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i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상태를 쉽게 이해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67105" y="4137660"/>
            <a:ext cx="3810305" cy="101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3분 체크인으로 내 건강신호 확인</a:t>
            </a:r>
            <a:endParaRPr lang="en-US" sz="1300" dirty="0"/>
          </a:p>
          <a:p>
            <a:pPr marL="0" indent="0" algn="l">
              <a:lnSpc>
                <a:spcPts val="252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쉬운 언어의 맞춤 피드백</a:t>
            </a:r>
            <a:endParaRPr lang="en-US" sz="1300" dirty="0"/>
          </a:p>
          <a:p>
            <a:pPr marL="0" indent="0" algn="l">
              <a:lnSpc>
                <a:spcPts val="252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다음에 할 행동을 안내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67105" y="6858000"/>
            <a:ext cx="3810305" cy="5715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57300" y="7028993"/>
            <a:ext cx="3429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— "내 상태와 다음 행동"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28793" y="2571293"/>
            <a:ext cx="4400093" cy="5162702"/>
          </a:xfrm>
          <a:prstGeom prst="roundRect">
            <a:avLst>
              <a:gd name="adj" fmla="val 43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34202" y="2876702"/>
            <a:ext cx="571500" cy="5715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4202" y="2991002"/>
            <a:ext cx="571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6495898" y="3028493"/>
            <a:ext cx="30486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-2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상담사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5734202" y="3733495"/>
            <a:ext cx="381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i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우선순위를 확신 있게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734202" y="4137660"/>
            <a:ext cx="3810305" cy="101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전체 명단이 아닌 우선 상담 큐</a:t>
            </a:r>
            <a:endParaRPr lang="en-US" sz="1300" dirty="0"/>
          </a:p>
          <a:p>
            <a:pPr marL="0" indent="0" algn="l">
              <a:lnSpc>
                <a:spcPts val="252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학생별 위험 근거 (SHAP) 제공</a:t>
            </a:r>
            <a:endParaRPr lang="en-US" sz="1300" dirty="0"/>
          </a:p>
          <a:p>
            <a:pPr marL="0" indent="0" algn="l">
              <a:lnSpc>
                <a:spcPts val="252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개입 이력·변화 추적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34202" y="6858000"/>
            <a:ext cx="3810305" cy="5715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4398" y="7028993"/>
            <a:ext cx="3429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— "누구를 먼저 보고 왜"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95890" y="2571293"/>
            <a:ext cx="4400093" cy="5162702"/>
          </a:xfrm>
          <a:prstGeom prst="roundRect">
            <a:avLst>
              <a:gd name="adj" fmla="val 43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01300" y="2876702"/>
            <a:ext cx="571500" cy="5715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01300" y="2991002"/>
            <a:ext cx="571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3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300" dirty="0"/>
          </a:p>
        </p:txBody>
      </p:sp>
      <p:sp>
        <p:nvSpPr>
          <p:cNvPr id="25" name="Text 23"/>
          <p:cNvSpPr txBox="1"/>
          <p:nvPr/>
        </p:nvSpPr>
        <p:spPr>
          <a:xfrm>
            <a:off x="11162995" y="3028493"/>
            <a:ext cx="30486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-2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</a:t>
            </a:r>
            <a:endParaRPr lang="en-US" sz="2300" dirty="0"/>
          </a:p>
        </p:txBody>
      </p:sp>
      <p:sp>
        <p:nvSpPr>
          <p:cNvPr id="26" name="Text 24"/>
          <p:cNvSpPr txBox="1"/>
          <p:nvPr/>
        </p:nvSpPr>
        <p:spPr>
          <a:xfrm>
            <a:off x="10401300" y="3733495"/>
            <a:ext cx="381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i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자원을 효과적으로 배분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401300" y="4137660"/>
            <a:ext cx="3810305" cy="101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위험군·참여·개선 현황 파악</a:t>
            </a:r>
            <a:endParaRPr lang="en-US" sz="1300" dirty="0"/>
          </a:p>
          <a:p>
            <a:pPr marL="0" indent="0" algn="l">
              <a:lnSpc>
                <a:spcPts val="252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인력·프로그램 배분 근거</a:t>
            </a:r>
            <a:endParaRPr lang="en-US" sz="1300" dirty="0"/>
          </a:p>
          <a:p>
            <a:pPr marL="0" indent="0" algn="l">
              <a:lnSpc>
                <a:spcPts val="252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정책 리포트 자동화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401300" y="6858000"/>
            <a:ext cx="3810305" cy="5715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91495" y="7028993"/>
            <a:ext cx="3429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— "자원과 성과"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61695" y="8096098"/>
            <a:ext cx="137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데이터에서 세 얼굴의 인터페이스로 — 학생·상담사·관리자를 하나의 루프로 잇는다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 · 3 LAYERS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서비스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근거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플랫폼은 세 개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층으로</a:t>
            </a: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761695" y="2190902"/>
            <a:ext cx="13735202" cy="1733702"/>
          </a:xfrm>
          <a:prstGeom prst="roundRect">
            <a:avLst>
              <a:gd name="adj" fmla="val 10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7105" y="2495398"/>
            <a:ext cx="1104595" cy="1104595"/>
          </a:xfrm>
          <a:prstGeom prst="roundRect">
            <a:avLst>
              <a:gd name="adj" fmla="val 20695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7105" y="2762402"/>
            <a:ext cx="110551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3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4300" dirty="0"/>
          </a:p>
        </p:txBody>
      </p:sp>
      <p:sp>
        <p:nvSpPr>
          <p:cNvPr id="8" name="Text 6"/>
          <p:cNvSpPr txBox="1"/>
          <p:nvPr/>
        </p:nvSpPr>
        <p:spPr>
          <a:xfrm>
            <a:off x="2476195" y="2533802"/>
            <a:ext cx="5715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LAYER · 데이터 수집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76195" y="2799893"/>
            <a:ext cx="7620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· 웨어러블 · 학사 신호를 표준화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2476195" y="3276295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LMS · Survey API · 웨어러블 SDK를 하나의 스키마로 모은다 (13 피처 · 결측 보존)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573000" y="2762402"/>
            <a:ext cx="1524305" cy="533095"/>
          </a:xfrm>
          <a:prstGeom prst="roundRect">
            <a:avLst>
              <a:gd name="adj" fmla="val 50086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573000" y="2914193"/>
            <a:ext cx="1524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1695" y="4095598"/>
            <a:ext cx="13735202" cy="1733702"/>
          </a:xfrm>
          <a:prstGeom prst="roundRect">
            <a:avLst>
              <a:gd name="adj" fmla="val 10970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7105" y="4400093"/>
            <a:ext cx="1104595" cy="1104595"/>
          </a:xfrm>
          <a:prstGeom prst="roundRect">
            <a:avLst>
              <a:gd name="adj" fmla="val 20695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7105" y="4667098"/>
            <a:ext cx="110551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3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4300" dirty="0"/>
          </a:p>
        </p:txBody>
      </p:sp>
      <p:sp>
        <p:nvSpPr>
          <p:cNvPr id="16" name="Text 14"/>
          <p:cNvSpPr txBox="1"/>
          <p:nvPr/>
        </p:nvSpPr>
        <p:spPr>
          <a:xfrm>
            <a:off x="2476195" y="4438498"/>
            <a:ext cx="5715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8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INTELLIGENCE LAYER · 예측 · 설명 · 재평가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76195" y="4705502"/>
            <a:ext cx="7620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3등급 분류 + SHAP 근거 + 개입 후 변화 추적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2476195" y="5181905"/>
            <a:ext cx="8572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HistGB + RealMLP + K (N9) · 5-Fold OOF + nested meta-CV · </a:t>
            </a:r>
            <a:r>
              <a:rPr lang="en-US" sz="13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LB 0.95104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573000" y="4667098"/>
            <a:ext cx="1524305" cy="533095"/>
          </a:xfrm>
          <a:prstGeom prst="roundRect">
            <a:avLst>
              <a:gd name="adj" fmla="val 50086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573000" y="4819802"/>
            <a:ext cx="1524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1695" y="6000293"/>
            <a:ext cx="13735202" cy="1733702"/>
          </a:xfrm>
          <a:prstGeom prst="roundRect">
            <a:avLst>
              <a:gd name="adj" fmla="val 109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105" y="6305702"/>
            <a:ext cx="1104595" cy="1104595"/>
          </a:xfrm>
          <a:prstGeom prst="roundRect">
            <a:avLst>
              <a:gd name="adj" fmla="val 20695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7105" y="6571793"/>
            <a:ext cx="110551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3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4300" dirty="0"/>
          </a:p>
        </p:txBody>
      </p:sp>
      <p:sp>
        <p:nvSpPr>
          <p:cNvPr id="24" name="Text 22"/>
          <p:cNvSpPr txBox="1"/>
          <p:nvPr/>
        </p:nvSpPr>
        <p:spPr>
          <a:xfrm>
            <a:off x="2476195" y="6343193"/>
            <a:ext cx="5715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8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CARE LAYER · 연결 · 개입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476195" y="6610198"/>
            <a:ext cx="7620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· 프로그램 · 상담을 등급에 맞춰 연결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2476195" y="7086600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 24h · Amber 72h · Green 7d SLA로 큐가 자동 배분되고 D1·D7·D14 재확인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2573000" y="6571793"/>
            <a:ext cx="1524305" cy="533095"/>
          </a:xfrm>
          <a:prstGeom prst="roundRect">
            <a:avLst>
              <a:gd name="adj" fmla="val 50086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573000" y="6724498"/>
            <a:ext cx="1524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1695" y="8096098"/>
            <a:ext cx="137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→ 예측·설명 → 지원 연결 — 세 층이 하나의 루프로 계속 재순환된다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 LOGIC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서비스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근거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등급마다 필요한 행동과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</a:t>
            </a: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</a:t>
            </a:r>
            <a:endParaRPr lang="en-US" sz="3700" dirty="0"/>
          </a:p>
        </p:txBody>
      </p:sp>
      <p:pic>
        <p:nvPicPr>
          <p:cNvPr id="5" name="Image 0" descr="gen-dedup-a267274135f7fcf807c310b2ecfa284c.png"/>
          <p:cNvPicPr>
            <a:picLocks noChangeAspect="1"/>
          </p:cNvPicPr>
          <p:nvPr/>
        </p:nvPicPr>
        <p:blipFill>
          <a:blip r:embed="rId3"/>
          <a:srcRect t="-31" b="-31"/>
          <a:stretch/>
        </p:blipFill>
        <p:spPr>
          <a:xfrm>
            <a:off x="761695" y="2190902"/>
            <a:ext cx="13716000" cy="4956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67105" y="2342693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2342693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상태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53605" y="2342693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 행동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591495" y="2342693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지원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1695" y="2685593"/>
            <a:ext cx="13735202" cy="1638605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7105" y="3238805"/>
            <a:ext cx="209398" cy="2093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10005" y="3181198"/>
            <a:ext cx="26673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20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Fit · 양호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410005" y="3581705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6% · 39,803명 (train)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0" y="3238805"/>
            <a:ext cx="2857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 습관을 유지 중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53605" y="3238805"/>
            <a:ext cx="2857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 · 강화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0591495" y="3205886"/>
            <a:ext cx="3810305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4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리포트 · 건강 콘텐츠</a:t>
            </a:r>
            <a:endParaRPr lang="en-US" sz="14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 7일 · 앱 자동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61695" y="4304995"/>
            <a:ext cx="13716000" cy="1638605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67105" y="4857293"/>
            <a:ext cx="209398" cy="2093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410005" y="4800600"/>
            <a:ext cx="26673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2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At-risk · 주의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1410005" y="5200193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86% · 592,561명 (train)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0" y="4857293"/>
            <a:ext cx="2857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신호 감지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353605" y="4857293"/>
            <a:ext cx="2857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예방 개입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10591495" y="4824374"/>
            <a:ext cx="3810305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4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생활습관 코칭 · 2주 프로그램</a:t>
            </a:r>
            <a:endParaRPr lang="en-US" sz="14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 72시간 · 학생지원팀</a:t>
            </a:r>
            <a:endParaRPr lang="en-US" sz="1400" dirty="0"/>
          </a:p>
        </p:txBody>
      </p:sp>
      <p:pic>
        <p:nvPicPr>
          <p:cNvPr id="24" name="Image 1" descr="gen-dedup-d505616b1ebebdfb65c1b8f824bb3470.png"/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761695" y="5924398"/>
            <a:ext cx="13735202" cy="1638605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1067105" y="6476695"/>
            <a:ext cx="209398" cy="20939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410005" y="6420002"/>
            <a:ext cx="26673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2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Unhealthy · 위험</a:t>
            </a:r>
            <a:endParaRPr lang="en-US" sz="1900" dirty="0"/>
          </a:p>
        </p:txBody>
      </p:sp>
      <p:sp>
        <p:nvSpPr>
          <p:cNvPr id="27" name="Text 23"/>
          <p:cNvSpPr txBox="1"/>
          <p:nvPr/>
        </p:nvSpPr>
        <p:spPr>
          <a:xfrm>
            <a:off x="1410005" y="6819595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8% · 57,724명 (train)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4114800" y="6476695"/>
            <a:ext cx="2857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확인 필요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353605" y="6476695"/>
            <a:ext cx="2857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 관리</a:t>
            </a:r>
            <a:endParaRPr lang="en-US" sz="1900" dirty="0"/>
          </a:p>
        </p:txBody>
      </p:sp>
      <p:sp>
        <p:nvSpPr>
          <p:cNvPr id="30" name="Text 26"/>
          <p:cNvSpPr txBox="1"/>
          <p:nvPr/>
        </p:nvSpPr>
        <p:spPr>
          <a:xfrm>
            <a:off x="10591495" y="6443777"/>
            <a:ext cx="3810305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4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우선 배정 · 추적 관리</a:t>
            </a:r>
            <a:endParaRPr lang="en-US" sz="14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 24시간 · 상담사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761695" y="7809890"/>
            <a:ext cx="13716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상태와 다음 행동을 함께 안내합니다 · </a:t>
            </a:r>
            <a:r>
              <a:rPr lang="en-US" sz="1200" b="1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 + 라벨 + 위치</a:t>
            </a:r>
            <a:r>
              <a:rPr lang="en-US" sz="12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삼중 인코딩 — 색만으로 판단하지 않도록 설계했습니다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 JOURNEY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서비스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근거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학기 동안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</a:t>
            </a: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루프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752905"/>
            <a:ext cx="13716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번의 진단이 아니라 </a:t>
            </a:r>
            <a:r>
              <a:rPr lang="en-US" sz="1300" b="1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학기가 끝나면 다시 체크인</a:t>
            </a:r>
            <a:r>
              <a:rPr lang="en-US" sz="13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매 학기 신호 변화를 추적하고 개입 효과를 확인합니다.</a:t>
            </a:r>
            <a:endParaRPr lang="en-US" sz="1300" dirty="0"/>
          </a:p>
        </p:txBody>
      </p:sp>
      <p:pic>
        <p:nvPicPr>
          <p:cNvPr id="6" name="Image 0" descr="gen-dedup-13cca32578d14b12a4062c3cab8339ba.png"/>
          <p:cNvPicPr>
            <a:picLocks noChangeAspect="1"/>
          </p:cNvPicPr>
          <p:nvPr/>
        </p:nvPicPr>
        <p:blipFill>
          <a:blip r:embed="rId3"/>
          <a:srcRect t="-402" b="-402"/>
          <a:stretch/>
        </p:blipFill>
        <p:spPr>
          <a:xfrm>
            <a:off x="1428293" y="3924605"/>
            <a:ext cx="12381890" cy="192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67105" y="3257093"/>
            <a:ext cx="1143000" cy="11430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67105" y="3581705"/>
            <a:ext cx="114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35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4667098"/>
            <a:ext cx="17529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-17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4926787"/>
            <a:ext cx="17529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3분</a:t>
            </a:r>
            <a:endParaRPr lang="en-US" sz="11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웨어러블 동기화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76702" y="3257093"/>
            <a:ext cx="1143000" cy="11430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76702" y="3581705"/>
            <a:ext cx="114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3500" dirty="0"/>
          </a:p>
        </p:txBody>
      </p:sp>
      <p:sp>
        <p:nvSpPr>
          <p:cNvPr id="13" name="Text 10"/>
          <p:cNvSpPr txBox="1"/>
          <p:nvPr/>
        </p:nvSpPr>
        <p:spPr>
          <a:xfrm>
            <a:off x="2571293" y="4667098"/>
            <a:ext cx="17529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-17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신호 확인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571293" y="4926787"/>
            <a:ext cx="17529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3등급 결과</a:t>
            </a:r>
            <a:endParaRPr lang="en-US" sz="11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상위 3개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86300" y="3257093"/>
            <a:ext cx="1143000" cy="11430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86300" y="3581705"/>
            <a:ext cx="114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3500" dirty="0"/>
          </a:p>
        </p:txBody>
      </p:sp>
      <p:sp>
        <p:nvSpPr>
          <p:cNvPr id="17" name="Text 14"/>
          <p:cNvSpPr txBox="1"/>
          <p:nvPr/>
        </p:nvSpPr>
        <p:spPr>
          <a:xfrm>
            <a:off x="4381805" y="4667098"/>
            <a:ext cx="17529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-17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선택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381805" y="4926787"/>
            <a:ext cx="17529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등급별</a:t>
            </a:r>
            <a:endParaRPr lang="en-US" sz="11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콘텐츠·프로그램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95898" y="3257093"/>
            <a:ext cx="1143000" cy="11430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95898" y="3581705"/>
            <a:ext cx="114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3500" dirty="0"/>
          </a:p>
        </p:txBody>
      </p:sp>
      <p:sp>
        <p:nvSpPr>
          <p:cNvPr id="21" name="Text 18"/>
          <p:cNvSpPr txBox="1"/>
          <p:nvPr/>
        </p:nvSpPr>
        <p:spPr>
          <a:xfrm>
            <a:off x="6191402" y="4667098"/>
            <a:ext cx="17529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-17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191402" y="4926787"/>
            <a:ext cx="17529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 미션</a:t>
            </a:r>
            <a:endParaRPr lang="en-US" sz="11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상태 기록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305495" y="3257093"/>
            <a:ext cx="1143000" cy="11430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05495" y="3581705"/>
            <a:ext cx="114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3500" dirty="0"/>
          </a:p>
        </p:txBody>
      </p:sp>
      <p:sp>
        <p:nvSpPr>
          <p:cNvPr id="25" name="Text 22"/>
          <p:cNvSpPr txBox="1"/>
          <p:nvPr/>
        </p:nvSpPr>
        <p:spPr>
          <a:xfrm>
            <a:off x="8001000" y="4667098"/>
            <a:ext cx="17529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-17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연결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4926787"/>
            <a:ext cx="17529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Unhealthy 즉시</a:t>
            </a:r>
            <a:endParaRPr lang="en-US" sz="11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연결·기록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115093" y="3257093"/>
            <a:ext cx="1143000" cy="11430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115093" y="3581705"/>
            <a:ext cx="114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3500" dirty="0"/>
          </a:p>
        </p:txBody>
      </p:sp>
      <p:sp>
        <p:nvSpPr>
          <p:cNvPr id="29" name="Text 26"/>
          <p:cNvSpPr txBox="1"/>
          <p:nvPr/>
        </p:nvSpPr>
        <p:spPr>
          <a:xfrm>
            <a:off x="9810598" y="4667098"/>
            <a:ext cx="17529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-17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리체크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810598" y="4926787"/>
            <a:ext cx="17529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D7 상태 확인</a:t>
            </a:r>
            <a:endParaRPr lang="en-US" sz="11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D14 재측정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1924690" y="3257093"/>
            <a:ext cx="1143000" cy="11430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924690" y="3581705"/>
            <a:ext cx="1143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3500" dirty="0"/>
          </a:p>
        </p:txBody>
      </p:sp>
      <p:sp>
        <p:nvSpPr>
          <p:cNvPr id="33" name="Text 30"/>
          <p:cNvSpPr txBox="1"/>
          <p:nvPr/>
        </p:nvSpPr>
        <p:spPr>
          <a:xfrm>
            <a:off x="11620195" y="4667098"/>
            <a:ext cx="17529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-17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확인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1620195" y="4926787"/>
            <a:ext cx="17529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 변화 기록</a:t>
            </a:r>
            <a:endParaRPr lang="en-US" sz="11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학기로 갱신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61695" y="6096305"/>
            <a:ext cx="13772693" cy="914400"/>
          </a:xfrm>
          <a:prstGeom prst="roundRect">
            <a:avLst>
              <a:gd name="adj" fmla="val 16700"/>
            </a:avLst>
          </a:prstGeom>
          <a:solidFill>
            <a:srgbClr val="F1F5F9"/>
          </a:solidFill>
          <a:ln/>
        </p:spPr>
      </p:sp>
      <p:sp>
        <p:nvSpPr>
          <p:cNvPr id="36" name="Shape 33"/>
          <p:cNvSpPr/>
          <p:nvPr/>
        </p:nvSpPr>
        <p:spPr>
          <a:xfrm>
            <a:off x="761695" y="6096305"/>
            <a:ext cx="56693" cy="914400"/>
          </a:xfrm>
          <a:prstGeom prst="roundRect">
            <a:avLst>
              <a:gd name="adj" fmla="val 269354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67105" y="6400800"/>
            <a:ext cx="190195" cy="267005"/>
          </a:xfrm>
          <a:prstGeom prst="rect">
            <a:avLst/>
          </a:prstGeom>
          <a:noFill/>
          <a:ln w="177796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428293" y="6324905"/>
            <a:ext cx="127641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20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학기가 끝나면 다시 체크인으로 · </a:t>
            </a:r>
            <a:r>
              <a:rPr lang="en-US" sz="1900" b="1" kern="0" spc="-2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Closed Loop</a:t>
            </a:r>
            <a:r>
              <a:rPr lang="en-US" sz="1900" b="1" kern="0" spc="-20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한 번의 진단이 아니라 반복되는 루프</a:t>
            </a:r>
            <a:endParaRPr lang="en-US" sz="1900" dirty="0"/>
          </a:p>
        </p:txBody>
      </p:sp>
      <p:sp>
        <p:nvSpPr>
          <p:cNvPr id="39" name="Text 36"/>
          <p:cNvSpPr txBox="1"/>
          <p:nvPr/>
        </p:nvSpPr>
        <p:spPr>
          <a:xfrm>
            <a:off x="1428293" y="6686093"/>
            <a:ext cx="12764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학기 이 루프를 돌며 학생의 신호 변화를 추적하고, 개입이 효과가 있었는지 확인합니다.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761695" y="7809890"/>
            <a:ext cx="13716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체크인 → 신호 확인 → 개입 → 리체크 → 다시 체크인 — 루프가 갱신되는 지점이 서비스의 본질입니다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서비스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근거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 가지 핵심 기능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752905"/>
            <a:ext cx="13716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→ 예측 → 개입 → 관측이 한 손 안에서 이어집니다.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1695" y="2381098"/>
            <a:ext cx="3295498" cy="5352898"/>
          </a:xfrm>
          <a:prstGeom prst="roundRect">
            <a:avLst>
              <a:gd name="adj" fmla="val 57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105" y="2685593"/>
            <a:ext cx="533095" cy="53309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7105" y="2799893"/>
            <a:ext cx="5340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067105" y="3524098"/>
            <a:ext cx="2667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간편 체크인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067105" y="4031590"/>
            <a:ext cx="2667305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3분 설문 · 웨어러블 동기화로</a:t>
            </a:r>
            <a:endParaRPr lang="en-US" sz="13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 신호를 확보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67105" y="6838798"/>
            <a:ext cx="2667305" cy="476402"/>
          </a:xfrm>
          <a:prstGeom prst="roundRect">
            <a:avLst>
              <a:gd name="adj" fmla="val 4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7105" y="6981444"/>
            <a:ext cx="2667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48302" y="2381098"/>
            <a:ext cx="3295498" cy="5352898"/>
          </a:xfrm>
          <a:prstGeom prst="roundRect">
            <a:avLst>
              <a:gd name="adj" fmla="val 57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2798" y="2685593"/>
            <a:ext cx="533095" cy="53309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52798" y="2799893"/>
            <a:ext cx="5340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4552798" y="3524098"/>
            <a:ext cx="2667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건강신호 생성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4552798" y="4031590"/>
            <a:ext cx="2667305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3등급으로 분류하고</a:t>
            </a:r>
            <a:endParaRPr lang="en-US" sz="13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근거를 함께 제시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52798" y="6838798"/>
            <a:ext cx="2667305" cy="476402"/>
          </a:xfrm>
          <a:prstGeom prst="roundRect">
            <a:avLst>
              <a:gd name="adj" fmla="val 4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2798" y="6981444"/>
            <a:ext cx="2667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 포함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33995" y="2381098"/>
            <a:ext cx="3295498" cy="5352898"/>
          </a:xfrm>
          <a:prstGeom prst="roundRect">
            <a:avLst>
              <a:gd name="adj" fmla="val 57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8490" y="2685593"/>
            <a:ext cx="533095" cy="53309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38490" y="2799893"/>
            <a:ext cx="5340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8038490" y="3524098"/>
            <a:ext cx="2667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오케스트레이션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8038490" y="4031590"/>
            <a:ext cx="2667305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등급별 콘텐츠·프로그램·</a:t>
            </a:r>
            <a:endParaRPr lang="en-US" sz="13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상담을 자동으로 조합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38490" y="6838798"/>
            <a:ext cx="2667305" cy="476402"/>
          </a:xfrm>
          <a:prstGeom prst="roundRect">
            <a:avLst>
              <a:gd name="adj" fmla="val 4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38490" y="6981444"/>
            <a:ext cx="2667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220602" y="2381098"/>
            <a:ext cx="3295498" cy="5352898"/>
          </a:xfrm>
          <a:prstGeom prst="roundRect">
            <a:avLst>
              <a:gd name="adj" fmla="val 57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525098" y="2685593"/>
            <a:ext cx="533095" cy="53309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525098" y="2799893"/>
            <a:ext cx="5340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11525098" y="3524098"/>
            <a:ext cx="2667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대시보드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11525098" y="4031590"/>
            <a:ext cx="2667305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위험군 · 참여 · 개선을</a:t>
            </a:r>
            <a:endParaRPr lang="en-US" sz="13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화면에서 확인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1525098" y="6838798"/>
            <a:ext cx="2667305" cy="476402"/>
          </a:xfrm>
          <a:prstGeom prst="roundRect">
            <a:avLst>
              <a:gd name="adj" fmla="val 4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525098" y="6981444"/>
            <a:ext cx="2667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한눈에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61695" y="8096098"/>
            <a:ext cx="137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기능은 별도의 도구가 아니라 하나의 큐로 이어집니다 · 데이터 → 신호 → 지원 → 대시보드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· DASHBOARD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서비스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근거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화면에서 보는 운영 현황과 성과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761695" y="1999793"/>
            <a:ext cx="13735202" cy="6114593"/>
          </a:xfrm>
          <a:prstGeom prst="roundRect">
            <a:avLst>
              <a:gd name="adj" fmla="val 3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gen-dedup-803b05f6175d7471927c971757ac9cc6.png"/>
          <p:cNvPicPr>
            <a:picLocks noChangeAspect="1"/>
          </p:cNvPicPr>
          <p:nvPr/>
        </p:nvPicPr>
        <p:blipFill>
          <a:blip r:embed="rId3"/>
          <a:srcRect l="-29" r="-29"/>
          <a:stretch/>
        </p:blipFill>
        <p:spPr>
          <a:xfrm>
            <a:off x="761695" y="1999793"/>
            <a:ext cx="13716000" cy="5330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90295" y="2190902"/>
            <a:ext cx="133502" cy="13350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81405" y="2190902"/>
            <a:ext cx="133502" cy="13350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71600" y="2190902"/>
            <a:ext cx="133502" cy="13350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14500" y="2143354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건강신호등 · 보건센터 대시보드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2668098" y="2162556"/>
            <a:ext cx="16194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2026-07-14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47902" y="2762402"/>
            <a:ext cx="4209898" cy="1162202"/>
          </a:xfrm>
          <a:prstGeom prst="roundRect">
            <a:avLst>
              <a:gd name="adj" fmla="val 114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57300" y="2933395"/>
            <a:ext cx="3810305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00" b="1" kern="0" spc="-8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8,420</a:t>
            </a:r>
            <a:endParaRPr lang="en-US" sz="4300" dirty="0"/>
          </a:p>
        </p:txBody>
      </p:sp>
      <p:sp>
        <p:nvSpPr>
          <p:cNvPr id="14" name="Text 11"/>
          <p:cNvSpPr txBox="1"/>
          <p:nvPr/>
        </p:nvSpPr>
        <p:spPr>
          <a:xfrm>
            <a:off x="1257300" y="3524098"/>
            <a:ext cx="3810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학생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24805" y="2762402"/>
            <a:ext cx="4209898" cy="1162202"/>
          </a:xfrm>
          <a:prstGeom prst="roundRect">
            <a:avLst>
              <a:gd name="adj" fmla="val 114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34202" y="2933395"/>
            <a:ext cx="3810305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00" b="1" kern="0" spc="-88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690</a:t>
            </a:r>
            <a:endParaRPr lang="en-US" sz="4300" dirty="0"/>
          </a:p>
        </p:txBody>
      </p:sp>
      <p:sp>
        <p:nvSpPr>
          <p:cNvPr id="17" name="Text 14"/>
          <p:cNvSpPr txBox="1"/>
          <p:nvPr/>
        </p:nvSpPr>
        <p:spPr>
          <a:xfrm>
            <a:off x="5734202" y="3524098"/>
            <a:ext cx="3810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위험군 (Unhealthy)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000793" y="2762402"/>
            <a:ext cx="4209898" cy="1162202"/>
          </a:xfrm>
          <a:prstGeom prst="roundRect">
            <a:avLst>
              <a:gd name="adj" fmla="val 114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210190" y="2933395"/>
            <a:ext cx="3810305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00" b="1" kern="0" spc="-8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23%</a:t>
            </a:r>
            <a:endParaRPr lang="en-US" sz="4300" dirty="0"/>
          </a:p>
        </p:txBody>
      </p:sp>
      <p:sp>
        <p:nvSpPr>
          <p:cNvPr id="20" name="Text 17"/>
          <p:cNvSpPr txBox="1"/>
          <p:nvPr/>
        </p:nvSpPr>
        <p:spPr>
          <a:xfrm>
            <a:off x="10210190" y="3524098"/>
            <a:ext cx="3810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달 개선율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47902" y="4190695"/>
            <a:ext cx="6400800" cy="3638398"/>
          </a:xfrm>
          <a:prstGeom prst="roundRect">
            <a:avLst>
              <a:gd name="adj" fmla="val 36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76502" y="4400093"/>
            <a:ext cx="5715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위험군 리스트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276502" y="4857293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S-10428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667305" y="4934102"/>
            <a:ext cx="95098" cy="9509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19095" y="4857293"/>
            <a:ext cx="1143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Unhealthy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095598" y="4876495"/>
            <a:ext cx="32388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 3.9h · 스트레스 high</a:t>
            </a:r>
            <a:endParaRPr lang="en-US" sz="1200" dirty="0"/>
          </a:p>
        </p:txBody>
      </p:sp>
      <p:pic>
        <p:nvPicPr>
          <p:cNvPr id="27" name="Image 1" descr="gen-dedup-2b3ee5e99a9522f33e0fca46a4761e09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76502" y="5219395"/>
            <a:ext cx="5905195" cy="91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276502" y="5391302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S-09982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2667305" y="5467198"/>
            <a:ext cx="95098" cy="9509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819095" y="5391302"/>
            <a:ext cx="1143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Unhealthy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4095598" y="5410505"/>
            <a:ext cx="32388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 4.5h · 흡연·음주</a:t>
            </a:r>
            <a:endParaRPr lang="en-US" sz="1200" dirty="0"/>
          </a:p>
        </p:txBody>
      </p:sp>
      <p:pic>
        <p:nvPicPr>
          <p:cNvPr id="32" name="Image 2" descr="gen-dedup-2b3ee5e99a9522f33e0fca46a4761e09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76502" y="5753405"/>
            <a:ext cx="5905195" cy="914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276502" y="5924398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S-10774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2667305" y="6000293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2819095" y="5924398"/>
            <a:ext cx="1143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At-risk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4095598" y="5943600"/>
            <a:ext cx="32388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sedentary · 수면 5.8h</a:t>
            </a:r>
            <a:endParaRPr lang="en-US" sz="1200" dirty="0"/>
          </a:p>
        </p:txBody>
      </p:sp>
      <p:pic>
        <p:nvPicPr>
          <p:cNvPr id="37" name="Image 3" descr="gen-dedup-2b3ee5e99a9522f33e0fca46a4761e09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276502" y="6286500"/>
            <a:ext cx="5905195" cy="9144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276502" y="6457493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S-11045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2667305" y="6534302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2819095" y="6457493"/>
            <a:ext cx="1143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At-risk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4095598" y="6476695"/>
            <a:ext cx="32388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BMI 29 · 스트레스 medium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1276502" y="7334402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i="1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클릭 시 개별 SHAP 근거·개입 이력 확인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7714793" y="4190695"/>
            <a:ext cx="6495898" cy="3638398"/>
          </a:xfrm>
          <a:prstGeom prst="roundRect">
            <a:avLst>
              <a:gd name="adj" fmla="val 36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7943393" y="4400093"/>
            <a:ext cx="5715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프로그램 참여율</a:t>
            </a:r>
            <a:endParaRPr lang="en-US" sz="1400" dirty="0"/>
          </a:p>
        </p:txBody>
      </p:sp>
      <p:sp>
        <p:nvSpPr>
          <p:cNvPr id="45" name="Text 39"/>
          <p:cNvSpPr txBox="1"/>
          <p:nvPr/>
        </p:nvSpPr>
        <p:spPr>
          <a:xfrm>
            <a:off x="7943393" y="4857293"/>
            <a:ext cx="3810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건강 리포트</a:t>
            </a:r>
            <a:endParaRPr lang="en-US" sz="1200" dirty="0"/>
          </a:p>
        </p:txBody>
      </p:sp>
      <p:pic>
        <p:nvPicPr>
          <p:cNvPr id="46" name="Image 4" descr="gen-dedup-94c2f4e32cc826a1eb1b162ba14c79ca.png"/>
          <p:cNvPicPr>
            <a:picLocks noChangeAspect="1"/>
          </p:cNvPicPr>
          <p:nvPr/>
        </p:nvPicPr>
        <p:blipFill>
          <a:blip r:embed="rId5"/>
          <a:srcRect t="-54" b="-54"/>
          <a:stretch/>
        </p:blipFill>
        <p:spPr>
          <a:xfrm>
            <a:off x="7943393" y="5085893"/>
            <a:ext cx="4953305" cy="133502"/>
          </a:xfrm>
          <a:prstGeom prst="rect">
            <a:avLst/>
          </a:prstGeom>
        </p:spPr>
      </p:pic>
      <p:pic>
        <p:nvPicPr>
          <p:cNvPr id="47" name="Image 5" descr="gen-dedup-a5a6bdba028cca5ea8a74bdd45d37295.png"/>
          <p:cNvPicPr>
            <a:picLocks noChangeAspect="1"/>
          </p:cNvPicPr>
          <p:nvPr/>
        </p:nvPicPr>
        <p:blipFill>
          <a:blip r:embed="rId6"/>
          <a:srcRect t="-59" b="-59"/>
          <a:stretch/>
        </p:blipFill>
        <p:spPr>
          <a:xfrm>
            <a:off x="7943393" y="5085893"/>
            <a:ext cx="3866998" cy="133502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13049402" y="5009998"/>
            <a:ext cx="952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78%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7943393" y="5619902"/>
            <a:ext cx="3810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생활습관 코칭</a:t>
            </a:r>
            <a:endParaRPr lang="en-US" sz="1200" dirty="0"/>
          </a:p>
        </p:txBody>
      </p:sp>
      <p:pic>
        <p:nvPicPr>
          <p:cNvPr id="50" name="Image 6" descr="gen-dedup-94c2f4e32cc826a1eb1b162ba14c79ca.png"/>
          <p:cNvPicPr>
            <a:picLocks noChangeAspect="1"/>
          </p:cNvPicPr>
          <p:nvPr/>
        </p:nvPicPr>
        <p:blipFill>
          <a:blip r:embed="rId5"/>
          <a:srcRect t="-54" b="-54"/>
          <a:stretch/>
        </p:blipFill>
        <p:spPr>
          <a:xfrm>
            <a:off x="7943393" y="5848502"/>
            <a:ext cx="4953305" cy="133502"/>
          </a:xfrm>
          <a:prstGeom prst="rect">
            <a:avLst/>
          </a:prstGeom>
        </p:spPr>
      </p:pic>
      <p:pic>
        <p:nvPicPr>
          <p:cNvPr id="51" name="Image 7" descr="gen-dedup-9680206af6dfe674f2d206ba068189a6.png"/>
          <p:cNvPicPr>
            <a:picLocks noChangeAspect="1"/>
          </p:cNvPicPr>
          <p:nvPr/>
        </p:nvPicPr>
        <p:blipFill>
          <a:blip r:embed="rId7"/>
          <a:srcRect t="-58" b="-58"/>
          <a:stretch/>
        </p:blipFill>
        <p:spPr>
          <a:xfrm>
            <a:off x="7943393" y="5848502"/>
            <a:ext cx="3019349" cy="133502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13049402" y="5771693"/>
            <a:ext cx="952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61%</a:t>
            </a:r>
            <a:endParaRPr lang="en-US" sz="1400" dirty="0"/>
          </a:p>
        </p:txBody>
      </p:sp>
      <p:sp>
        <p:nvSpPr>
          <p:cNvPr id="53" name="Text 43"/>
          <p:cNvSpPr txBox="1"/>
          <p:nvPr/>
        </p:nvSpPr>
        <p:spPr>
          <a:xfrm>
            <a:off x="7943393" y="6381598"/>
            <a:ext cx="3810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연계</a:t>
            </a:r>
            <a:endParaRPr lang="en-US" sz="1200" dirty="0"/>
          </a:p>
        </p:txBody>
      </p:sp>
      <p:pic>
        <p:nvPicPr>
          <p:cNvPr id="54" name="Image 8" descr="gen-dedup-94c2f4e32cc826a1eb1b162ba14c79ca.png"/>
          <p:cNvPicPr>
            <a:picLocks noChangeAspect="1"/>
          </p:cNvPicPr>
          <p:nvPr/>
        </p:nvPicPr>
        <p:blipFill>
          <a:blip r:embed="rId5"/>
          <a:srcRect t="-54" b="-54"/>
          <a:stretch/>
        </p:blipFill>
        <p:spPr>
          <a:xfrm>
            <a:off x="7943393" y="6610198"/>
            <a:ext cx="4953305" cy="133502"/>
          </a:xfrm>
          <a:prstGeom prst="rect">
            <a:avLst/>
          </a:prstGeom>
        </p:spPr>
      </p:pic>
      <p:pic>
        <p:nvPicPr>
          <p:cNvPr id="55" name="Image 9" descr="gen-dedup-b91b36b4e829982e267a5fbe5cfdbfc9.png"/>
          <p:cNvPicPr>
            <a:picLocks noChangeAspect="1"/>
          </p:cNvPicPr>
          <p:nvPr/>
        </p:nvPicPr>
        <p:blipFill>
          <a:blip r:embed="rId8"/>
          <a:srcRect t="-57" b="-57"/>
          <a:stretch/>
        </p:blipFill>
        <p:spPr>
          <a:xfrm>
            <a:off x="7943393" y="6610198"/>
            <a:ext cx="2171700" cy="133502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13049402" y="6534302"/>
            <a:ext cx="952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44%</a:t>
            </a:r>
            <a:endParaRPr lang="en-US" sz="1400" dirty="0"/>
          </a:p>
        </p:txBody>
      </p:sp>
      <p:sp>
        <p:nvSpPr>
          <p:cNvPr id="57" name="Text 45"/>
          <p:cNvSpPr txBox="1"/>
          <p:nvPr/>
        </p:nvSpPr>
        <p:spPr>
          <a:xfrm>
            <a:off x="7943393" y="7334402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i="1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서비스 화면 예시 — 수치는 목업 샘플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</a:t>
            </a:r>
            <a:r>
              <a:rPr lang="en-US" sz="10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근거</a:t>
            </a:r>
            <a:r>
              <a:rPr lang="en-US" sz="10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</a:t>
            </a:r>
            <a:r>
              <a:rPr lang="en-US" sz="1000" b="1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30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047695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64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3 · EVIDENCE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524098"/>
            <a:ext cx="10478110" cy="192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100" b="1" kern="0" spc="-288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신호를</a:t>
            </a:r>
            <a:endParaRPr lang="en-US" sz="7100" dirty="0"/>
          </a:p>
          <a:p>
            <a:pPr marL="0" indent="0" algn="l">
              <a:buNone/>
            </a:pPr>
            <a:r>
              <a:rPr lang="en-US" sz="7100" b="1" kern="0" spc="-288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믿을 수 있는가</a:t>
            </a:r>
            <a:endParaRPr lang="en-US" sz="7100" dirty="0"/>
          </a:p>
        </p:txBody>
      </p:sp>
      <p:sp>
        <p:nvSpPr>
          <p:cNvPr id="5" name="Text 3"/>
          <p:cNvSpPr txBox="1"/>
          <p:nvPr/>
        </p:nvSpPr>
        <p:spPr>
          <a:xfrm>
            <a:off x="952805" y="6096305"/>
            <a:ext cx="9525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-19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690,088건 · 5-Fold OOF · SHAP · Public 결과로 검증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10390" y="1904695"/>
            <a:ext cx="2514600" cy="5753405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25399">
            <a:solidFill>
              <a:srgbClr val="1F2937"/>
            </a:solidFill>
            <a:prstDash val="solid"/>
          </a:ln>
        </p:spPr>
      </p:sp>
      <p:pic>
        <p:nvPicPr>
          <p:cNvPr id="7" name="Image 0" descr="gen-dedup-43da5867d81662f493e071e5948b200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86793" y="2381098"/>
            <a:ext cx="1524305" cy="1524305"/>
          </a:xfrm>
          <a:prstGeom prst="rect">
            <a:avLst/>
          </a:prstGeom>
        </p:spPr>
      </p:pic>
      <p:pic>
        <p:nvPicPr>
          <p:cNvPr id="8" name="Image 1" descr="gen-dedup-1f3657d864d90aa5cf89e6bed742af7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286793" y="4000500"/>
            <a:ext cx="1524305" cy="1524305"/>
          </a:xfrm>
          <a:prstGeom prst="rect">
            <a:avLst/>
          </a:prstGeom>
        </p:spPr>
      </p:pic>
      <p:pic>
        <p:nvPicPr>
          <p:cNvPr id="9" name="Image 2" descr="gen-dedup-ec978e2ce234cec953467a2e0f809b5b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286793" y="5619902"/>
            <a:ext cx="1524305" cy="15243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근거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등급을 가르는 신호 — 수면 · 스트레스 · 활동</a:t>
            </a:r>
            <a:endParaRPr lang="en-US" sz="3700" dirty="0"/>
          </a:p>
        </p:txBody>
      </p:sp>
      <p:pic>
        <p:nvPicPr>
          <p:cNvPr id="5" name="Image 0" descr="gen-dedup-c1795aa0f926973f0badf34075381031.jpg"/>
          <p:cNvPicPr>
            <a:picLocks noChangeAspect="1"/>
          </p:cNvPicPr>
          <p:nvPr/>
        </p:nvPicPr>
        <p:blipFill>
          <a:blip r:embed="rId3"/>
          <a:srcRect t="-6545" b="-6545"/>
          <a:stretch/>
        </p:blipFill>
        <p:spPr>
          <a:xfrm>
            <a:off x="761695" y="1999793"/>
            <a:ext cx="7809890" cy="5715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52890" y="1999793"/>
            <a:ext cx="55248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삼각검증 — 세 가지 방법이 같은 결론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952890" y="2571293"/>
            <a:ext cx="5543093" cy="1257300"/>
          </a:xfrm>
          <a:prstGeom prst="roundRect">
            <a:avLst>
              <a:gd name="adj" fmla="val 106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81490" y="27624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통계 검정 (effect size)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81490" y="3124505"/>
            <a:ext cx="5143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stress V=0.412 · activity V=0.241 · sleep η²=0.195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952890" y="3942893"/>
            <a:ext cx="5543093" cy="1257300"/>
          </a:xfrm>
          <a:prstGeom prst="roundRect">
            <a:avLst>
              <a:gd name="adj" fmla="val 106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81490" y="41340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모델 feature importance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81490" y="4496105"/>
            <a:ext cx="5143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상위 3개 변수를 지목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52890" y="5314493"/>
            <a:ext cx="5543093" cy="1257300"/>
          </a:xfrm>
          <a:prstGeom prst="roundRect">
            <a:avLst>
              <a:gd name="adj" fmla="val 106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1490" y="5505602"/>
            <a:ext cx="5143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원본데이터 역공학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81490" y="5867705"/>
            <a:ext cx="5143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깊이 4 결정트리에 이 3개만 등장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52890" y="6705295"/>
            <a:ext cx="5543093" cy="1067105"/>
          </a:xfrm>
          <a:prstGeom prst="roundRect">
            <a:avLst>
              <a:gd name="adj" fmla="val 1251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81490" y="6877202"/>
            <a:ext cx="5143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heart_rate · water_intake 는 effect size ≈ 0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81490" y="7181698"/>
            <a:ext cx="5143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n=690k라 p값은 무의미하게 유의 — </a:t>
            </a:r>
            <a:r>
              <a:rPr lang="en-US" sz="1100" b="1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 size로 판단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1695" y="8096098"/>
            <a:ext cx="137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방법이 같은 3개 변수를 가리킨다 — 등급 규칙은 신뢰할 수 있다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근거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결측을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허용하도록</a:t>
            </a: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3700" dirty="0"/>
          </a:p>
        </p:txBody>
      </p:sp>
      <p:pic>
        <p:nvPicPr>
          <p:cNvPr id="5" name="Image 0" descr="gen-dedup-4e21ce807b05407c1198edcce2087ee2.jpg"/>
          <p:cNvPicPr>
            <a:picLocks noChangeAspect="1"/>
          </p:cNvPicPr>
          <p:nvPr/>
        </p:nvPicPr>
        <p:blipFill>
          <a:blip r:embed="rId3"/>
          <a:srcRect t="-8951" b="-8951"/>
          <a:stretch/>
        </p:blipFill>
        <p:spPr>
          <a:xfrm>
            <a:off x="761695" y="2095805"/>
            <a:ext cx="7809890" cy="55248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52890" y="2095805"/>
            <a:ext cx="5524805" cy="1219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0" b="1" kern="0" spc="-384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50.7%</a:t>
            </a:r>
            <a:endParaRPr lang="en-US" sz="9500" dirty="0"/>
          </a:p>
        </p:txBody>
      </p:sp>
      <p:sp>
        <p:nvSpPr>
          <p:cNvPr id="7" name="Text 4"/>
          <p:cNvSpPr txBox="1"/>
          <p:nvPr/>
        </p:nvSpPr>
        <p:spPr>
          <a:xfrm>
            <a:off x="8952890" y="3238805"/>
            <a:ext cx="62106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완전한 행 → dropna 금지, 결측을 보존한 채 모델링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952890" y="4381805"/>
            <a:ext cx="5543093" cy="1352398"/>
          </a:xfrm>
          <a:prstGeom prst="roundRect">
            <a:avLst>
              <a:gd name="adj" fmla="val 987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81490" y="4572000"/>
            <a:ext cx="5143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'결측 = 정보' 가설은 기각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81490" y="4953305"/>
            <a:ext cx="5143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클래스별 결측량이 거의 동일 — 결측 자체가 위험 신호라는 가설은 통계 검정에서 기각되었다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952890" y="5905195"/>
            <a:ext cx="5524805" cy="1714500"/>
          </a:xfrm>
          <a:prstGeom prst="roundRect">
            <a:avLst>
              <a:gd name="adj" fmla="val 7787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81490" y="6096305"/>
            <a:ext cx="5143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원칙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81490" y="6323990"/>
            <a:ext cx="51435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HGB의 </a:t>
            </a:r>
            <a:r>
              <a:rPr lang="en-US" sz="14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native missing branch</a:t>
            </a:r>
            <a:r>
              <a:rPr lang="en-US" sz="1400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범주형 </a:t>
            </a:r>
            <a:r>
              <a:rPr lang="en-US" sz="14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'missing' 라벨</a:t>
            </a:r>
            <a:r>
              <a:rPr lang="en-US" sz="1400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사용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인코더는 fold-train에서만 학습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8096098"/>
            <a:ext cx="137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결측률 12%대 stress·sleep은 </a:t>
            </a:r>
            <a:r>
              <a:rPr lang="en-US" sz="1100" b="1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 프록시</a:t>
            </a: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채우고, 원본 결측 플래그를 함께 유지한다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· MODEL BENCHMARK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근거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정확하고 빠른 엔진을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</a:t>
            </a: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752905"/>
            <a:ext cx="13716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층화 10만 행 · sample_weight = balanced · 학습 시간 측정으로 </a:t>
            </a:r>
            <a:r>
              <a:rPr lang="en-US" sz="1300" b="1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11개 모델</a:t>
            </a:r>
            <a:r>
              <a:rPr lang="en-US" sz="13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동일 조건 비교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2286000"/>
          <a:ext cx="9238182" cy="4138954"/>
        </p:xfrm>
        <a:graphic>
          <a:graphicData uri="http://schemas.openxmlformats.org/drawingml/2006/table">
            <a:tbl>
              <a:tblPr/>
              <a:tblGrid>
                <a:gridCol w="724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1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5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3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#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Balanced Acc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Fit (s)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HistGradientBoosting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0.95183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앵커 선정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CatBoost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0.94934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38.9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RandomForest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0.92500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LightGBM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0.92082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17.6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LogisticRegression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0.91995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XGBoost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0.91804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33.2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GaussianNB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0.87741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MLP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0.87026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27.2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가중 미지원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DecisionTree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0.87019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ExtraTrees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0.83340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37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KNN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0.67031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0.01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예측 2.9s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287000" y="2286000"/>
            <a:ext cx="4209898" cy="5352898"/>
          </a:xfrm>
          <a:prstGeom prst="roundRect">
            <a:avLst>
              <a:gd name="adj" fmla="val 36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53090" y="2553005"/>
            <a:ext cx="133502" cy="13350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744200" y="2553005"/>
            <a:ext cx="133502" cy="133502"/>
          </a:xfrm>
          <a:prstGeom prst="ellipse">
            <a:avLst/>
          </a:prstGeom>
          <a:solidFill>
            <a:srgbClr val="EAB3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34395" y="2553005"/>
            <a:ext cx="133502" cy="13350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201400" y="2514600"/>
            <a:ext cx="190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553090" y="3002890"/>
            <a:ext cx="3810305" cy="2464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HistGB = 최고점 </a:t>
            </a:r>
            <a:r>
              <a:rPr lang="en-US" sz="13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(0.952)</a:t>
            </a: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최속 </a:t>
            </a:r>
            <a:r>
              <a:rPr lang="en-US" sz="13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(4.2s)</a:t>
            </a:r>
            <a:endParaRPr lang="en-US" sz="1300" dirty="0"/>
          </a:p>
          <a:p>
            <a:pPr marL="0" indent="0" algn="l">
              <a:lnSpc>
                <a:spcPts val="2380"/>
              </a:lnSpc>
              <a:buNone/>
            </a:pPr>
            <a:endParaRPr lang="en-US" sz="13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LogReg도 0.920 → 라벨이 단순 규칙에 가깝다는 방증</a:t>
            </a:r>
            <a:endParaRPr lang="en-US" sz="1300" dirty="0"/>
          </a:p>
          <a:p>
            <a:pPr marL="0" indent="0" algn="l">
              <a:lnSpc>
                <a:spcPts val="2380"/>
              </a:lnSpc>
              <a:buNone/>
            </a:pPr>
            <a:endParaRPr lang="en-US" sz="13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부스팅·트리 계열 상위, 거리 기반(KNN) 최하</a:t>
            </a:r>
            <a:endParaRPr lang="en-US" sz="1300" dirty="0"/>
          </a:p>
          <a:p>
            <a:pPr marL="0" indent="0" algn="l">
              <a:lnSpc>
                <a:spcPts val="2380"/>
              </a:lnSpc>
              <a:buNone/>
            </a:pPr>
            <a:endParaRPr lang="en-US" sz="13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3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동일 10만 행 · 동일 가중으로 공정 비교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8096098"/>
            <a:ext cx="137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HGB를 </a:t>
            </a:r>
            <a:r>
              <a:rPr lang="en-US" sz="1100" b="1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앵커</a:t>
            </a: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두고, 다양성 확보를 위해 RealMLP·KNN을 소량 섞는 조합으로 후속 실험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· MODEL SELECTION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근거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앵커 + 이질 모델로 최종 조합</a:t>
            </a:r>
            <a:endParaRPr lang="en-US" sz="3700" dirty="0"/>
          </a:p>
        </p:txBody>
      </p:sp>
      <p:pic>
        <p:nvPicPr>
          <p:cNvPr id="5" name="Image 0" descr="gen-dedup-9da87d9838432a22d3579b5f4a34ff30.jpg"/>
          <p:cNvPicPr>
            <a:picLocks noChangeAspect="1"/>
          </p:cNvPicPr>
          <p:nvPr/>
        </p:nvPicPr>
        <p:blipFill>
          <a:blip r:embed="rId3"/>
          <a:srcRect t="-8442" b="-8442"/>
          <a:stretch/>
        </p:blipFill>
        <p:spPr>
          <a:xfrm>
            <a:off x="761695" y="2095805"/>
            <a:ext cx="8001000" cy="5715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0" y="2190902"/>
            <a:ext cx="5334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선정 등식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9144000" y="2762402"/>
            <a:ext cx="5352898" cy="1067105"/>
          </a:xfrm>
          <a:prstGeom prst="roundRect">
            <a:avLst>
              <a:gd name="adj" fmla="val 12511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410090" y="3124505"/>
            <a:ext cx="190195" cy="1901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715500" y="2991002"/>
            <a:ext cx="4572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HistGB · 빠른 앵커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715500" y="33339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4.2s · 0.95183 · 규칙 기반 라벨에 강한 baseline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0" y="3942893"/>
            <a:ext cx="5352898" cy="1067105"/>
          </a:xfrm>
          <a:prstGeom prst="roundRect">
            <a:avLst>
              <a:gd name="adj" fmla="val 1251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410090" y="4304995"/>
            <a:ext cx="190195" cy="1901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715500" y="4171493"/>
            <a:ext cx="4572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RealMLP · 오류 다양성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9715500" y="4514393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HGB와 다른 오류 패턴 — 블렌드 이득 확보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5124298"/>
            <a:ext cx="5334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9144000" y="5447995"/>
            <a:ext cx="5352898" cy="1067105"/>
          </a:xfrm>
          <a:prstGeom prst="roundRect">
            <a:avLst>
              <a:gd name="adj" fmla="val 12511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0090" y="5810098"/>
            <a:ext cx="190195" cy="190195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15500" y="5676595"/>
            <a:ext cx="4572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nested OOF · 비음수 검증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9715500" y="6019495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meta-fold에서 가중치 재검증 · 누수 방지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144000" y="6724498"/>
            <a:ext cx="5333695" cy="952805"/>
          </a:xfrm>
          <a:prstGeom prst="roundRect">
            <a:avLst>
              <a:gd name="adj" fmla="val 14012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0" y="6991502"/>
            <a:ext cx="533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-2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HGB-TE + RealMLP + K (N9)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0" y="7334402"/>
            <a:ext cx="5334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3종 블렌드 · 가중 0.15 / 0.57 / 0.28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61695" y="8096098"/>
            <a:ext cx="137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"속도 + 정확도"를 만족하는 앵커에 다양성을 얹었을 때 </a:t>
            </a:r>
            <a:r>
              <a:rPr lang="en-US" sz="1100" b="1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OOF 0.95088 → Public 0.95089</a:t>
            </a: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갭 0.00001로 재현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· VALIDATION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근거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누수 없는 검증과 중첩 앙상블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761695" y="2190902"/>
            <a:ext cx="2476195" cy="2095805"/>
          </a:xfrm>
          <a:prstGeom prst="roundRect">
            <a:avLst>
              <a:gd name="adj" fmla="val 728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0295" y="2542946"/>
            <a:ext cx="2095805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13개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결측 플래그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1695" y="4476902"/>
            <a:ext cx="2476195" cy="2095805"/>
          </a:xfrm>
          <a:prstGeom prst="roundRect">
            <a:avLst>
              <a:gd name="adj" fmla="val 728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0295" y="4828946"/>
            <a:ext cx="2095805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fold-train only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exact-value TE</a:t>
            </a:r>
            <a:endParaRPr lang="en-US" sz="1400" dirty="0"/>
          </a:p>
        </p:txBody>
      </p:sp>
      <p:pic>
        <p:nvPicPr>
          <p:cNvPr id="9" name="Image 0" descr="gen-dedup-69dbb6722a6ce036832fa370ffcf9aba.png"/>
          <p:cNvPicPr>
            <a:picLocks noChangeAspect="1"/>
          </p:cNvPicPr>
          <p:nvPr/>
        </p:nvPicPr>
        <p:blipFill>
          <a:blip r:embed="rId3"/>
          <a:srcRect t="-360" b="-360"/>
          <a:stretch/>
        </p:blipFill>
        <p:spPr>
          <a:xfrm>
            <a:off x="3353105" y="3238805"/>
            <a:ext cx="381305" cy="19202"/>
          </a:xfrm>
          <a:prstGeom prst="rect">
            <a:avLst/>
          </a:prstGeom>
        </p:spPr>
      </p:pic>
      <p:pic>
        <p:nvPicPr>
          <p:cNvPr id="10" name="Image 1" descr="gen-dedup-69dbb6722a6ce036832fa370ffcf9aba.png"/>
          <p:cNvPicPr>
            <a:picLocks noChangeAspect="1"/>
          </p:cNvPicPr>
          <p:nvPr/>
        </p:nvPicPr>
        <p:blipFill>
          <a:blip r:embed="rId3"/>
          <a:srcRect t="-360" b="-360"/>
          <a:stretch/>
        </p:blipFill>
        <p:spPr>
          <a:xfrm>
            <a:off x="3353105" y="5524805"/>
            <a:ext cx="381305" cy="1920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847795" y="3238805"/>
            <a:ext cx="2704795" cy="2133295"/>
          </a:xfrm>
          <a:prstGeom prst="roundRect">
            <a:avLst>
              <a:gd name="adj" fmla="val 7158"/>
            </a:avLst>
          </a:prstGeom>
          <a:solidFill>
            <a:srgbClr val="FFFFFF"/>
          </a:solidFill>
          <a:ln w="25399">
            <a:solidFill>
              <a:srgbClr val="05966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076395" y="3778301"/>
            <a:ext cx="228600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표현을</a:t>
            </a:r>
            <a:endParaRPr lang="en-US" sz="1600" dirty="0"/>
          </a:p>
          <a:p>
            <a:pPr marL="0" indent="0" algn="ctr">
              <a:lnSpc>
                <a:spcPts val="2550"/>
              </a:lnSpc>
              <a:buNone/>
            </a:pPr>
            <a:r>
              <a:rPr lang="en-US" sz="16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 생성</a:t>
            </a:r>
            <a:endParaRPr lang="en-US" sz="1600" dirty="0"/>
          </a:p>
        </p:txBody>
      </p:sp>
      <p:pic>
        <p:nvPicPr>
          <p:cNvPr id="13" name="Image 2" descr="gen-dedup-69dbb6722a6ce036832fa370ffcf9aba.png"/>
          <p:cNvPicPr>
            <a:picLocks noChangeAspect="1"/>
          </p:cNvPicPr>
          <p:nvPr/>
        </p:nvPicPr>
        <p:blipFill>
          <a:blip r:embed="rId3"/>
          <a:srcRect t="-360" b="-360"/>
          <a:stretch/>
        </p:blipFill>
        <p:spPr>
          <a:xfrm>
            <a:off x="6629400" y="4238244"/>
            <a:ext cx="381305" cy="1920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125005" y="3238805"/>
            <a:ext cx="2704795" cy="2133295"/>
          </a:xfrm>
          <a:prstGeom prst="roundRect">
            <a:avLst>
              <a:gd name="adj" fmla="val 7158"/>
            </a:avLst>
          </a:prstGeom>
          <a:solidFill>
            <a:srgbClr val="FFFFFF"/>
          </a:solidFill>
          <a:ln w="25399">
            <a:solidFill>
              <a:srgbClr val="059669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353605" y="3682289"/>
            <a:ext cx="228600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HGB-TE 앵커</a:t>
            </a:r>
            <a:endParaRPr lang="en-US" sz="1600" dirty="0"/>
          </a:p>
          <a:p>
            <a:pPr marL="0" indent="0" algn="ctr">
              <a:lnSpc>
                <a:spcPts val="2550"/>
              </a:lnSpc>
              <a:buNone/>
            </a:pPr>
            <a:r>
              <a:rPr lang="en-US" sz="16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RealMLP 다양성</a:t>
            </a:r>
            <a:endParaRPr lang="en-US" sz="1600" dirty="0"/>
          </a:p>
        </p:txBody>
      </p:sp>
      <p:pic>
        <p:nvPicPr>
          <p:cNvPr id="16" name="Image 3" descr="gen-dedup-69dbb6722a6ce036832fa370ffcf9aba.png"/>
          <p:cNvPicPr>
            <a:picLocks noChangeAspect="1"/>
          </p:cNvPicPr>
          <p:nvPr/>
        </p:nvPicPr>
        <p:blipFill>
          <a:blip r:embed="rId3"/>
          <a:srcRect t="-360" b="-360"/>
          <a:stretch/>
        </p:blipFill>
        <p:spPr>
          <a:xfrm>
            <a:off x="9905695" y="4238244"/>
            <a:ext cx="381305" cy="1920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0401300" y="3238805"/>
            <a:ext cx="2667305" cy="2095805"/>
          </a:xfrm>
          <a:prstGeom prst="roundRect">
            <a:avLst>
              <a:gd name="adj" fmla="val 728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10629900" y="3682289"/>
            <a:ext cx="228600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5-Fold OOF</a:t>
            </a:r>
            <a:endParaRPr lang="en-US" sz="1600" dirty="0"/>
          </a:p>
          <a:p>
            <a:pPr marL="0" indent="0" algn="ctr">
              <a:lnSpc>
                <a:spcPts val="2550"/>
              </a:lnSpc>
              <a:buNone/>
            </a:pPr>
            <a:r>
              <a:rPr lang="en-US" sz="16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nested meta-CV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61695" y="6762902"/>
            <a:ext cx="13716000" cy="1238098"/>
          </a:xfrm>
          <a:prstGeom prst="roundRect">
            <a:avLst>
              <a:gd name="adj" fmla="val 12334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1085393" y="6953098"/>
            <a:ext cx="495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kern="0" spc="36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갭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1085393" y="7181698"/>
            <a:ext cx="4953305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300" b="1" kern="0" spc="-128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0.00001</a:t>
            </a:r>
            <a:endParaRPr lang="en-US" sz="6300" dirty="0"/>
          </a:p>
        </p:txBody>
      </p:sp>
      <p:pic>
        <p:nvPicPr>
          <p:cNvPr id="22" name="Image 4" descr="gen-dedup-8db646fd1bc30751cdda91120fa6e493.png"/>
          <p:cNvPicPr>
            <a:picLocks noChangeAspect="1"/>
          </p:cNvPicPr>
          <p:nvPr/>
        </p:nvPicPr>
        <p:blipFill>
          <a:blip r:embed="rId4"/>
          <a:srcRect t="-2056" b="-2056"/>
          <a:stretch/>
        </p:blipFill>
        <p:spPr>
          <a:xfrm>
            <a:off x="6476695" y="6953098"/>
            <a:ext cx="9144" cy="85679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58000" y="6991502"/>
            <a:ext cx="7429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N9 honest OOF 0.95088 ≈ Public LB 0.95089</a:t>
            </a:r>
            <a:endParaRPr lang="en-US" sz="2100" dirty="0"/>
          </a:p>
        </p:txBody>
      </p:sp>
      <p:sp>
        <p:nvSpPr>
          <p:cNvPr id="24" name="Text 17"/>
          <p:cNvSpPr txBox="1"/>
          <p:nvPr/>
        </p:nvSpPr>
        <p:spPr>
          <a:xfrm>
            <a:off x="6858000" y="7391095"/>
            <a:ext cx="7806233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TE·가중치·임계값을 fold 밖 데이터에 맞추지 않음 · OOF에서 고른 블렌드는 meta-fold에 다시 검증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761695" y="8191195"/>
            <a:ext cx="137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i="1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전체 실험 매트릭스는 </a:t>
            </a:r>
            <a:r>
              <a:rPr lang="en-US" sz="1100" b="1" i="1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A4</a:t>
            </a:r>
            <a:r>
              <a:rPr lang="en-US" sz="1100" i="1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참고 (5장 원본 삽입)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· 40+ EXPERIMENTS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근거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40+ 실험 — 재현되는 이득만 채택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761695" y="1999793"/>
            <a:ext cx="6782105" cy="4686300"/>
          </a:xfrm>
          <a:prstGeom prst="roundRect">
            <a:avLst>
              <a:gd name="adj" fmla="val 4059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7105" y="2342693"/>
            <a:ext cx="1143000" cy="418795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7105" y="2447849"/>
            <a:ext cx="1143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채택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400300" y="2419502"/>
            <a:ext cx="4763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점수를 실제로 올린 것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43000" y="3105302"/>
            <a:ext cx="133502" cy="13350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0005" y="3066898"/>
            <a:ext cx="5906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exact-value Target Encoding </a:t>
            </a:r>
            <a:r>
              <a:rPr lang="en-US" sz="15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+0.0008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43000" y="3810305"/>
            <a:ext cx="133502" cy="13350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0005" y="3771900"/>
            <a:ext cx="5906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N9 중첩 블렌드 </a:t>
            </a:r>
            <a:r>
              <a:rPr lang="en-US" sz="15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OOF 0.95088 → LB 0.95089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43000" y="4667098"/>
            <a:ext cx="133502" cy="13350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0005" y="4628693"/>
            <a:ext cx="5906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Co_5·9·10 파이프라인 </a:t>
            </a:r>
            <a:r>
              <a:rPr lang="en-US" sz="1500" b="1" kern="0" spc="-12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0.95104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5619902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i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5-fold OOF에서 얻은 이득이 meta-fold에서도 유지될 때만 채택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09890" y="1999793"/>
            <a:ext cx="6686093" cy="4686300"/>
          </a:xfrm>
          <a:prstGeom prst="roundRect">
            <a:avLst>
              <a:gd name="adj" fmla="val 4059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5300" y="2342693"/>
            <a:ext cx="1143000" cy="41879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15300" y="2447849"/>
            <a:ext cx="1143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기각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48495" y="2419502"/>
            <a:ext cx="4763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실험으로 걸러낸 것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91195" y="3105302"/>
            <a:ext cx="133502" cy="13350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58200" y="3066898"/>
            <a:ext cx="5906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원본데이터 증강 </a:t>
            </a:r>
            <a:r>
              <a:rPr lang="en-US" sz="1500" b="1" kern="0" spc="-12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−0.0006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91195" y="3810305"/>
            <a:ext cx="133502" cy="13350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58200" y="3771900"/>
            <a:ext cx="5906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Optuna 튜닝 </a:t>
            </a:r>
            <a:r>
              <a:rPr lang="en-US" sz="1400" b="1" kern="0" spc="-12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서브샘플 +0.0017, 풀데이터 +0.0000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91195" y="4524451"/>
            <a:ext cx="133502" cy="13350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58200" y="4486046"/>
            <a:ext cx="5906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트리 보팅 </a:t>
            </a:r>
            <a:r>
              <a:rPr lang="en-US" sz="1400" b="1" kern="0" spc="-12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예측일치 97.9% · 가중 100% 집중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91195" y="5381244"/>
            <a:ext cx="133502" cy="13350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58200" y="5343754"/>
            <a:ext cx="5906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파생변수 · kNN 임퓨트 · 계층 라우팅 · 노이즈 교정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191195" y="5905195"/>
            <a:ext cx="5906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i="1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서브샘플만 좋고 풀데이터에서 사라지면 기각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1695" y="6953098"/>
            <a:ext cx="13716000" cy="761695"/>
          </a:xfrm>
          <a:prstGeom prst="roundRect">
            <a:avLst>
              <a:gd name="adj" fmla="val 17527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2805" y="7181698"/>
            <a:ext cx="13335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OOF에서 좋아 보인 가중치</a:t>
            </a:r>
            <a:r>
              <a:rPr lang="en-US" sz="15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meta-fold에서 반복 개선되지 않으면 기각 — 모델 수보다 검증 구조가 우선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61695" y="8096098"/>
            <a:ext cx="137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40+ 실험 · 채택 12개 · 기각 28개 이상 · 상세 원장은 </a:t>
            </a:r>
            <a:r>
              <a:rPr lang="en-US" sz="1100" b="1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A4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· FINAL RESULT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근거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결과 </a:t>
            </a:r>
            <a:r>
              <a:rPr lang="en-US" sz="3700" b="1" kern="0" spc="-76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0.95104</a:t>
            </a: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성과와 출처를 분리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761695" y="2190902"/>
            <a:ext cx="3305556" cy="1923898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2190902"/>
            <a:ext cx="56693" cy="1923898"/>
          </a:xfrm>
          <a:prstGeom prst="roundRect">
            <a:avLst>
              <a:gd name="adj" fmla="val 269354"/>
            </a:avLst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7105" y="2419502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67105" y="2723998"/>
            <a:ext cx="26673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0.94952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1067105" y="3581705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OOF 0.94962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90695" y="3000146"/>
            <a:ext cx="3429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3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4667098" y="2190902"/>
            <a:ext cx="3305556" cy="1923898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7098" y="2190902"/>
            <a:ext cx="56693" cy="1923898"/>
          </a:xfrm>
          <a:prstGeom prst="roundRect">
            <a:avLst>
              <a:gd name="adj" fmla="val 269354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71593" y="2419502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N2 · HGB+TE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971593" y="2723998"/>
            <a:ext cx="26673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0.94982</a:t>
            </a:r>
            <a:endParaRPr lang="en-US" sz="3300" dirty="0"/>
          </a:p>
        </p:txBody>
      </p:sp>
      <p:sp>
        <p:nvSpPr>
          <p:cNvPr id="15" name="Text 13"/>
          <p:cNvSpPr txBox="1"/>
          <p:nvPr/>
        </p:nvSpPr>
        <p:spPr>
          <a:xfrm>
            <a:off x="4971593" y="3581705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OOF 0.95051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096098" y="3000146"/>
            <a:ext cx="3429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3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8572500" y="2190902"/>
            <a:ext cx="3305556" cy="1923898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72500" y="2190902"/>
            <a:ext cx="56693" cy="1923898"/>
          </a:xfrm>
          <a:prstGeom prst="roundRect">
            <a:avLst>
              <a:gd name="adj" fmla="val 269354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76995" y="2419502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N9 · nested blend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76995" y="2723998"/>
            <a:ext cx="2667305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0.95089</a:t>
            </a:r>
            <a:endParaRPr lang="en-US" sz="3300" dirty="0"/>
          </a:p>
        </p:txBody>
      </p:sp>
      <p:sp>
        <p:nvSpPr>
          <p:cNvPr id="21" name="Text 19"/>
          <p:cNvSpPr txBox="1"/>
          <p:nvPr/>
        </p:nvSpPr>
        <p:spPr>
          <a:xfrm>
            <a:off x="8876995" y="3581705"/>
            <a:ext cx="2667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OOF 0.95088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001500" y="3000146"/>
            <a:ext cx="3429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3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12381890" y="2190902"/>
            <a:ext cx="2162556" cy="1923898"/>
          </a:xfrm>
          <a:prstGeom prst="roundRect">
            <a:avLst>
              <a:gd name="adj" fmla="val 7937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381890" y="2190902"/>
            <a:ext cx="56693" cy="1923898"/>
          </a:xfrm>
          <a:prstGeom prst="roundRect">
            <a:avLst>
              <a:gd name="adj" fmla="val 269354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687300" y="2419502"/>
            <a:ext cx="1714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Co_5·9·10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2687300" y="2723998"/>
            <a:ext cx="1852574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4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0.95104</a:t>
            </a:r>
            <a:endParaRPr lang="en-US" sz="3100" dirty="0"/>
          </a:p>
        </p:txBody>
      </p:sp>
      <p:sp>
        <p:nvSpPr>
          <p:cNvPr id="27" name="Text 25"/>
          <p:cNvSpPr txBox="1"/>
          <p:nvPr/>
        </p:nvSpPr>
        <p:spPr>
          <a:xfrm>
            <a:off x="12687300" y="3581705"/>
            <a:ext cx="171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최고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1695" y="4381805"/>
            <a:ext cx="6782105" cy="2114093"/>
          </a:xfrm>
          <a:prstGeom prst="roundRect">
            <a:avLst>
              <a:gd name="adj" fmla="val 8997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67105" y="4628693"/>
            <a:ext cx="6096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 후보 최고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67105" y="4914900"/>
            <a:ext cx="60963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Co_L3 · Public 0.95063</a:t>
            </a:r>
            <a:endParaRPr lang="en-US" sz="3100" dirty="0"/>
          </a:p>
        </p:txBody>
      </p:sp>
      <p:sp>
        <p:nvSpPr>
          <p:cNvPr id="31" name="Text 29"/>
          <p:cNvSpPr txBox="1"/>
          <p:nvPr/>
        </p:nvSpPr>
        <p:spPr>
          <a:xfrm>
            <a:off x="1067105" y="5676595"/>
            <a:ext cx="60963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hard submission을 사용하지 않은 최종 강공 후보 — </a:t>
            </a:r>
            <a:r>
              <a:rPr lang="en-US" sz="12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독립 성과의 상한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14793" y="4381805"/>
            <a:ext cx="6782105" cy="2114093"/>
          </a:xfrm>
          <a:prstGeom prst="roundRect">
            <a:avLst>
              <a:gd name="adj" fmla="val 899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20202" y="4628693"/>
            <a:ext cx="6096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집계 제외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020202" y="4914900"/>
            <a:ext cx="60963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Co_16 · Public 0.95114</a:t>
            </a:r>
            <a:endParaRPr lang="en-US" sz="3100" dirty="0"/>
          </a:p>
        </p:txBody>
      </p:sp>
      <p:sp>
        <p:nvSpPr>
          <p:cNvPr id="35" name="Text 33"/>
          <p:cNvSpPr txBox="1"/>
          <p:nvPr/>
        </p:nvSpPr>
        <p:spPr>
          <a:xfrm>
            <a:off x="8020202" y="5676595"/>
            <a:ext cx="60963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A_F와 동일 · 공개 0.95114 파일과 3행 차이 → </a:t>
            </a:r>
            <a:r>
              <a:rPr lang="en-US" sz="1200" b="1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검증 사례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1695" y="6953098"/>
            <a:ext cx="13716000" cy="761695"/>
          </a:xfrm>
          <a:prstGeom prst="roundRect">
            <a:avLst>
              <a:gd name="adj" fmla="val 17527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2805" y="7181698"/>
            <a:ext cx="13335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점수보다 </a:t>
            </a:r>
            <a:r>
              <a:rPr lang="en-US" sz="15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 경로</a:t>
            </a:r>
            <a:r>
              <a:rPr lang="en-US" sz="15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남겼다 — 프로젝트 성과 0.95104와 외부 참조 0.95114를 섞지 않는다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61695" y="8096098"/>
            <a:ext cx="137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상세 원장은 부록 A4-2 · Kaggle 제출 원장 참조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· SHAP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근거</a:t>
            </a: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패턴에서 개인 상담 근거까지 한 </a:t>
            </a:r>
            <a:r>
              <a:rPr lang="en-US" sz="3300" b="1" kern="0" spc="-68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화면에서</a:t>
            </a: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300" b="1" kern="0" spc="-68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999793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· SHAP SUMMARY PLOT</a:t>
            </a:r>
            <a:endParaRPr lang="en-US" sz="1100" dirty="0"/>
          </a:p>
        </p:txBody>
      </p:sp>
      <p:pic>
        <p:nvPicPr>
          <p:cNvPr id="6" name="Image 0" descr="gen-dedup-d812470ab44730ebb8c5273e4d0c0685.jpg"/>
          <p:cNvPicPr>
            <a:picLocks noChangeAspect="1"/>
          </p:cNvPicPr>
          <p:nvPr/>
        </p:nvPicPr>
        <p:blipFill>
          <a:blip r:embed="rId3"/>
          <a:srcRect l="-13721" r="-13721"/>
          <a:stretch/>
        </p:blipFill>
        <p:spPr>
          <a:xfrm>
            <a:off x="761695" y="2381098"/>
            <a:ext cx="6667805" cy="43818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1695" y="6858000"/>
            <a:ext cx="66678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 하나 = 학생 1명 · x축 = 예측을 높이거나 낮춘 영향 · 색 = 해당 피처값의 크기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09890" y="1999793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· STUDENT WATERFALL</a:t>
            </a:r>
            <a:endParaRPr lang="en-US" sz="1100" dirty="0"/>
          </a:p>
        </p:txBody>
      </p:sp>
      <p:pic>
        <p:nvPicPr>
          <p:cNvPr id="9" name="Image 1" descr="gen-dedup-a79dbe892958cfde2019024ecfca6067.jpg"/>
          <p:cNvPicPr>
            <a:picLocks noChangeAspect="1"/>
          </p:cNvPicPr>
          <p:nvPr/>
        </p:nvPicPr>
        <p:blipFill>
          <a:blip r:embed="rId4"/>
          <a:srcRect l="-10438" r="-10438"/>
          <a:stretch/>
        </p:blipFill>
        <p:spPr>
          <a:xfrm>
            <a:off x="7809890" y="2381098"/>
            <a:ext cx="6667805" cy="43818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09890" y="6858000"/>
            <a:ext cx="66678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화면에는 최종 확률과 함께 </a:t>
            </a:r>
            <a:r>
              <a:rPr lang="en-US" sz="1100" b="1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'이 학생의 위험을 높인 상위 3개 신호'</a:t>
            </a: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제공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61695" y="7429500"/>
            <a:ext cx="13716000" cy="761695"/>
          </a:xfrm>
          <a:prstGeom prst="roundRect">
            <a:avLst>
              <a:gd name="adj" fmla="val 17527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52805" y="7648042"/>
            <a:ext cx="1333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SHAP은 진단명이 아니라 대화의 출발점</a:t>
            </a:r>
            <a:r>
              <a:rPr lang="en-US" sz="14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 — 담당자는 근거를 확인하고 사람의 판단으로 지원을 확정한다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근거 </a:t>
            </a:r>
            <a:r>
              <a:rPr lang="en-US" sz="10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실행</a:t>
            </a:r>
            <a:r>
              <a:rPr lang="en-US" sz="1000" b="1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 / 30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62402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64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4 · ACTION / HOW / A/S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38805"/>
            <a:ext cx="11430000" cy="17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300" b="1" kern="0" spc="-256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예측을 실제</a:t>
            </a:r>
            <a:endParaRPr lang="en-US" sz="6300" dirty="0"/>
          </a:p>
          <a:p>
            <a:pPr marL="0" indent="0" algn="l">
              <a:buNone/>
            </a:pPr>
            <a:r>
              <a:rPr lang="en-US" sz="6300" b="1" kern="0" spc="-256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지원으로 운영한다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5905195"/>
            <a:ext cx="2590495" cy="875995"/>
          </a:xfrm>
          <a:prstGeom prst="roundRect">
            <a:avLst>
              <a:gd name="adj" fmla="val 15240"/>
            </a:avLst>
          </a:prstGeom>
          <a:solidFill>
            <a:srgbClr val="94A3B8">
              <a:alpha val="8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6038698"/>
            <a:ext cx="21909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6286500"/>
            <a:ext cx="2190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왜 이 행동인가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99993" y="5905195"/>
            <a:ext cx="2590495" cy="875995"/>
          </a:xfrm>
          <a:prstGeom prst="roundRect">
            <a:avLst>
              <a:gd name="adj" fmla="val 15240"/>
            </a:avLst>
          </a:prstGeom>
          <a:solidFill>
            <a:srgbClr val="94A3B8">
              <a:alpha val="8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28593" y="6038698"/>
            <a:ext cx="21909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28593" y="6286500"/>
            <a:ext cx="2190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배정하는가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86500" y="5905195"/>
            <a:ext cx="2590495" cy="875995"/>
          </a:xfrm>
          <a:prstGeom prst="roundRect">
            <a:avLst>
              <a:gd name="adj" fmla="val 15240"/>
            </a:avLst>
          </a:prstGeom>
          <a:solidFill>
            <a:srgbClr val="94A3B8">
              <a:alpha val="8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5100" y="6038698"/>
            <a:ext cx="21909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15100" y="6286500"/>
            <a:ext cx="2190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· 언제 · 어떻게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72093" y="5905195"/>
            <a:ext cx="2590495" cy="875995"/>
          </a:xfrm>
          <a:prstGeom prst="roundRect">
            <a:avLst>
              <a:gd name="adj" fmla="val 15240"/>
            </a:avLst>
          </a:prstGeom>
          <a:solidFill>
            <a:srgbClr val="94A3B8">
              <a:alpha val="8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00693" y="6038698"/>
            <a:ext cx="21909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SO-WHAT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200693" y="6286500"/>
            <a:ext cx="2190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뭐가 달라지나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7015277"/>
            <a:ext cx="114300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400" kern="0" spc="-1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액션 슬라이드에는 </a:t>
            </a:r>
            <a:r>
              <a:rPr lang="en-US" sz="1400" b="1" kern="0" spc="-15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· WHAT · HOW · SO-WHAT</a:t>
            </a:r>
            <a:r>
              <a:rPr lang="en-US" sz="1400" kern="0" spc="-1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반복된다 —</a:t>
            </a:r>
            <a:endParaRPr lang="en-US" sz="14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400" kern="0" spc="-1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질문이 남지 않도록, 각자 무엇을 언제 하는지까지 명시한다.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810390" y="1904695"/>
            <a:ext cx="2514600" cy="5753405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25399">
            <a:solidFill>
              <a:srgbClr val="1F2937"/>
            </a:solidFill>
            <a:prstDash val="solid"/>
          </a:ln>
        </p:spPr>
      </p:sp>
      <p:pic>
        <p:nvPicPr>
          <p:cNvPr id="19" name="Image 0" descr="gen-dedup-43da5867d81662f493e071e5948b200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86793" y="2381098"/>
            <a:ext cx="1524305" cy="1524305"/>
          </a:xfrm>
          <a:prstGeom prst="rect">
            <a:avLst/>
          </a:prstGeom>
        </p:spPr>
      </p:pic>
      <p:pic>
        <p:nvPicPr>
          <p:cNvPr id="20" name="Image 1" descr="gen-dedup-1f3657d864d90aa5cf89e6bed742af7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286793" y="4000500"/>
            <a:ext cx="1524305" cy="1524305"/>
          </a:xfrm>
          <a:prstGeom prst="rect">
            <a:avLst/>
          </a:prstGeom>
        </p:spPr>
      </p:pic>
      <p:pic>
        <p:nvPicPr>
          <p:cNvPr id="21" name="Image 2" descr="gen-dedup-ec978e2ce234cec953467a2e0f809b5b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286793" y="5619902"/>
            <a:ext cx="1524305" cy="15243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· AI PRINCIPLES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근거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실행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민감한 정보인 만큼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</a:t>
            </a: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761695" y="2095805"/>
            <a:ext cx="4400093" cy="1923898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7105" y="2342693"/>
            <a:ext cx="418795" cy="418795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7105" y="2438705"/>
            <a:ext cx="4197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38605" y="2400300"/>
            <a:ext cx="32388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동의 기반 수집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67105" y="3105302"/>
            <a:ext cx="3810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목적·항목을 사전 고지하고 동의받습니다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28793" y="2095805"/>
            <a:ext cx="4400093" cy="1923898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34202" y="2342693"/>
            <a:ext cx="418795" cy="418795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34202" y="2438705"/>
            <a:ext cx="4197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5702" y="2400300"/>
            <a:ext cx="32388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수집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734202" y="3105302"/>
            <a:ext cx="3810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신호만 — 과잉 수집하지 않음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95890" y="2095805"/>
            <a:ext cx="4400093" cy="1923898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01300" y="2342693"/>
            <a:ext cx="418795" cy="418795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01300" y="2438705"/>
            <a:ext cx="4197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2400300"/>
            <a:ext cx="32388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통제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0401300" y="3105302"/>
            <a:ext cx="3810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본인과 담당 상담사만 열람합니다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1695" y="4190695"/>
            <a:ext cx="4400093" cy="1923898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7105" y="4438498"/>
            <a:ext cx="418795" cy="418795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7105" y="4533595"/>
            <a:ext cx="4197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38605" y="4496105"/>
            <a:ext cx="32388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 제공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1067105" y="5200193"/>
            <a:ext cx="3810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등급마다 SHAP 근거를 함께 제시합니다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28793" y="4190695"/>
            <a:ext cx="4400093" cy="1923898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34202" y="4438498"/>
            <a:ext cx="418795" cy="418795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34202" y="4533595"/>
            <a:ext cx="4197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305702" y="4496105"/>
            <a:ext cx="32388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판단은 사람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5734202" y="5200193"/>
            <a:ext cx="3810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우선순위 제안, 결정은 상담사가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95890" y="4190695"/>
            <a:ext cx="4400093" cy="1923898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01300" y="4438498"/>
            <a:ext cx="418795" cy="418795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01300" y="4533595"/>
            <a:ext cx="4197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0" y="4496105"/>
            <a:ext cx="32388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모니터링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10401300" y="5200193"/>
            <a:ext cx="3810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성능·형평성을 정기 점검합니다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1695" y="6381598"/>
            <a:ext cx="13735202" cy="1352398"/>
          </a:xfrm>
          <a:prstGeom prst="roundRect">
            <a:avLst>
              <a:gd name="adj" fmla="val 112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67105" y="6571793"/>
            <a:ext cx="131070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원칙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67105" y="6819595"/>
            <a:ext cx="131070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낙인효과 방지</a:t>
            </a:r>
            <a:r>
              <a:rPr lang="en-US" sz="14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등급은 '꼬리표'가 아니라 개입을 여는 트리거일 뿐입니다.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CVD-safe 설계</a:t>
            </a:r>
            <a:r>
              <a:rPr lang="en-US" sz="14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Okabe-Ito 팔레트 + 색·라벨·위치 삼중 인코딩으로 색만으로 판단하지 않게 했습니다.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61695" y="7905902"/>
            <a:ext cx="13716000" cy="476402"/>
          </a:xfrm>
          <a:prstGeom prst="roundRect">
            <a:avLst>
              <a:gd name="adj" fmla="val 23992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52805" y="8038490"/>
            <a:ext cx="1333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서비스의 엔진이지, 주인공이 아닙니다</a:t>
            </a:r>
            <a:r>
              <a:rPr lang="en-US" sz="13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신뢰가 먼저입니다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OVERVIEW · STORYBOARD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근거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실행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8주는 5개 </a:t>
            </a:r>
            <a:r>
              <a:rPr lang="en-US" sz="3700" b="1" kern="0" spc="-76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1752905"/>
            <a:ext cx="1371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무엇을·언제·누가 하는지가 한 장에 보이도록 — 각 액션은 이후 슬라이드에서 </a:t>
            </a:r>
            <a:r>
              <a:rPr lang="en-US" sz="1300" b="1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/ WHAT / HOW / SO-WHAT</a:t>
            </a:r>
            <a:r>
              <a:rPr lang="en-US" sz="13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상세화됩니다.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1695" y="2667305"/>
            <a:ext cx="2667305" cy="1904695"/>
          </a:xfrm>
          <a:prstGeom prst="roundRect">
            <a:avLst>
              <a:gd name="adj" fmla="val 9986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0295" y="2876702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 · 계약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90295" y="3124505"/>
            <a:ext cx="2286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SCOPE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90295" y="3570732"/>
            <a:ext cx="22860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200" b="1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300명 · 8주</a:t>
            </a:r>
            <a:endParaRPr lang="en-US" sz="12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200" b="1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5역할 · 상담 30슬롯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81705" y="2667305"/>
            <a:ext cx="2667305" cy="1904695"/>
          </a:xfrm>
          <a:prstGeom prst="roundRect">
            <a:avLst>
              <a:gd name="adj" fmla="val 9986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10305" y="2876702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W1-2 · SHADOW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10305" y="3124505"/>
            <a:ext cx="2286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QUEUE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810305" y="3570732"/>
            <a:ext cx="22860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200" b="1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 24h · Amber 72h</a:t>
            </a:r>
            <a:endParaRPr lang="en-US" sz="12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200" b="1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 7d SLA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667305"/>
            <a:ext cx="2667305" cy="1904695"/>
          </a:xfrm>
          <a:prstGeom prst="roundRect">
            <a:avLst>
              <a:gd name="adj" fmla="val 9986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876702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W3-6 · LIVE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124505"/>
            <a:ext cx="2286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BEHAVIOR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570732"/>
            <a:ext cx="22860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200" b="1" kern="0" spc="-12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신호 → 메시지</a:t>
            </a:r>
            <a:endParaRPr lang="en-US" sz="12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200" b="1" kern="0" spc="-12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D1 · D7 이행 확인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19895" y="2667305"/>
            <a:ext cx="2667305" cy="1904695"/>
          </a:xfrm>
          <a:prstGeom prst="roundRect">
            <a:avLst>
              <a:gd name="adj" fmla="val 998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48495" y="2876702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W3-6 · PIPELINE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448495" y="3124505"/>
            <a:ext cx="2286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HOW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9448495" y="3570732"/>
            <a:ext cx="22860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2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수집→검증→추론</a:t>
            </a:r>
            <a:endParaRPr lang="en-US" sz="12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2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→설명→연결→학습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038990" y="2667305"/>
            <a:ext cx="2438705" cy="1904695"/>
          </a:xfrm>
          <a:prstGeom prst="roundRect">
            <a:avLst>
              <a:gd name="adj" fmla="val 9986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267590" y="2876702"/>
            <a:ext cx="20574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W7-8 · GATE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2267590" y="3124505"/>
            <a:ext cx="20574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A/S+결정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12267590" y="3570732"/>
            <a:ext cx="20574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200" b="1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절차 · 5개 지표</a:t>
            </a:r>
            <a:endParaRPr lang="en-US" sz="12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200" b="1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</a:t>
            </a:r>
            <a:endParaRPr lang="en-US" sz="1200" dirty="0"/>
          </a:p>
        </p:txBody>
      </p:sp>
      <p:pic>
        <p:nvPicPr>
          <p:cNvPr id="26" name="Image 0" descr="gen-dedup-9b95c5d50ae7476a19b5f5fe31149d9a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4857293"/>
            <a:ext cx="13716000" cy="914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61695" y="5143500"/>
            <a:ext cx="137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9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액션 슬라이드는 4단 프레임을 따릅니다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61695" y="5524805"/>
            <a:ext cx="3257093" cy="2152498"/>
          </a:xfrm>
          <a:prstGeom prst="roundRect">
            <a:avLst>
              <a:gd name="adj" fmla="val 70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1695" y="5524805"/>
            <a:ext cx="3257093" cy="47549"/>
          </a:xfrm>
          <a:prstGeom prst="roundRect">
            <a:avLst>
              <a:gd name="adj" fmla="val 321152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67105" y="5753405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WHY · 왜 지금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7105" y="6019495"/>
            <a:ext cx="26673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이걸 안 하면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 무너지나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1067105" y="6838798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병목·리스크·기회비용을 명시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190695" y="5524805"/>
            <a:ext cx="3257093" cy="2152498"/>
          </a:xfrm>
          <a:prstGeom prst="roundRect">
            <a:avLst>
              <a:gd name="adj" fmla="val 70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190695" y="5524805"/>
            <a:ext cx="3257093" cy="47549"/>
          </a:xfrm>
          <a:prstGeom prst="roundRect">
            <a:avLst>
              <a:gd name="adj" fmla="val 32115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496105" y="5753405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WHAT · 무엇을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496105" y="6019495"/>
            <a:ext cx="26673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배정할 대상 ·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제공할 지원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4496105" y="6838798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 · SLA · 콘텐츠·프로그램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619695" y="5524805"/>
            <a:ext cx="3257093" cy="2152498"/>
          </a:xfrm>
          <a:prstGeom prst="roundRect">
            <a:avLst>
              <a:gd name="adj" fmla="val 70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619695" y="5524805"/>
            <a:ext cx="3257093" cy="47549"/>
          </a:xfrm>
          <a:prstGeom prst="roundRect">
            <a:avLst>
              <a:gd name="adj" fmla="val 32115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924190" y="5753405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HOW · 누가 · 언제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7924190" y="6019495"/>
            <a:ext cx="26673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 · SLA ·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· 완료 조건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7924190" y="6838798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RACI + 도구 + DONE 정의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48695" y="5524805"/>
            <a:ext cx="3429000" cy="2143354"/>
          </a:xfrm>
          <a:prstGeom prst="roundRect">
            <a:avLst>
              <a:gd name="adj" fmla="val 7125"/>
            </a:avLst>
          </a:prstGeom>
          <a:solidFill>
            <a:srgbClr val="0F172A"/>
          </a:solidFill>
          <a:ln/>
        </p:spPr>
      </p:sp>
      <p:sp>
        <p:nvSpPr>
          <p:cNvPr id="44" name="Shape 41"/>
          <p:cNvSpPr/>
          <p:nvPr/>
        </p:nvSpPr>
        <p:spPr>
          <a:xfrm>
            <a:off x="11048695" y="5524805"/>
            <a:ext cx="3429000" cy="47549"/>
          </a:xfrm>
          <a:prstGeom prst="roundRect">
            <a:avLst>
              <a:gd name="adj" fmla="val 321152"/>
            </a:avLst>
          </a:prstGeom>
          <a:solidFill>
            <a:srgbClr val="5EEAD4"/>
          </a:solidFill>
          <a:ln w="12700">
            <a:solidFill>
              <a:srgbClr val="5EEAD4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1353190" y="5753405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SO-WHAT · 결과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11353190" y="6019495"/>
            <a:ext cx="26673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가능한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· 다음 액션</a:t>
            </a:r>
            <a:endParaRPr lang="en-US" sz="1700" dirty="0"/>
          </a:p>
        </p:txBody>
      </p:sp>
      <p:sp>
        <p:nvSpPr>
          <p:cNvPr id="47" name="Text 44"/>
          <p:cNvSpPr txBox="1"/>
          <p:nvPr/>
        </p:nvSpPr>
        <p:spPr>
          <a:xfrm>
            <a:off x="11353190" y="6838798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· KPI · Next-Step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761695" y="8001000"/>
            <a:ext cx="137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액션 · 8주 파일럿 · 5개 확대 결정 지표까지 — 이 슬라이드 이후 각 액션이 상세화됩니다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1 · SCOPE × PEOPLE × CAPACITY × TOOL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근거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실행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300명 · 8주 파일럿을 기존 인력과 도구로 </a:t>
            </a:r>
            <a:r>
              <a:rPr lang="en-US" sz="3300" b="1" kern="0" spc="-68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바로</a:t>
            </a: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300" b="1" kern="0" spc="-68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61695" y="1962302"/>
            <a:ext cx="13772693" cy="705002"/>
          </a:xfrm>
          <a:prstGeom prst="roundRect">
            <a:avLst>
              <a:gd name="adj" fmla="val 16213"/>
            </a:avLst>
          </a:prstGeom>
          <a:solidFill>
            <a:srgbClr val="FEF3C7"/>
          </a:solidFill>
          <a:ln/>
        </p:spPr>
      </p:sp>
      <p:sp>
        <p:nvSpPr>
          <p:cNvPr id="6" name="Shape 4"/>
          <p:cNvSpPr/>
          <p:nvPr/>
        </p:nvSpPr>
        <p:spPr>
          <a:xfrm>
            <a:off x="761695" y="1962302"/>
            <a:ext cx="56693" cy="705002"/>
          </a:xfrm>
          <a:prstGeom prst="roundRect">
            <a:avLst>
              <a:gd name="adj" fmla="val 201612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7105" y="2114093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WHY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7105" y="2342693"/>
            <a:ext cx="1333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성능만으로는 실행되지 않는다</a:t>
            </a:r>
            <a:r>
              <a:rPr lang="en-US" sz="14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대상·인력·처리량·도구를 먼저 고정해야 이후 4개 액션이 맞물린다.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2876702"/>
            <a:ext cx="1371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WHAT · 무엇을 확정하나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1695" y="3181198"/>
            <a:ext cx="3371393" cy="2819095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695" y="3181198"/>
            <a:ext cx="3371393" cy="47549"/>
          </a:xfrm>
          <a:prstGeom prst="roundRect">
            <a:avLst>
              <a:gd name="adj" fmla="val 280768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0295" y="3353105"/>
            <a:ext cx="2857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 · 기준안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90295" y="3599993"/>
            <a:ext cx="285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동의자 300명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8주</a:t>
            </a:r>
            <a:endParaRPr lang="en-US" sz="2100" dirty="0"/>
          </a:p>
        </p:txBody>
      </p:sp>
      <p:pic>
        <p:nvPicPr>
          <p:cNvPr id="14" name="Image 0" descr="gen-dedup-15c395130f22083900dde33cc0594f19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990295" y="4496105"/>
            <a:ext cx="2895905" cy="91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90295" y="4572000"/>
            <a:ext cx="2895905" cy="820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 1회 13개 신호 수집</a:t>
            </a:r>
            <a:endParaRPr lang="en-US" sz="11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LMS 설문 링크 + 암호화 ID</a:t>
            </a:r>
            <a:endParaRPr lang="en-US" sz="11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DONE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8회 입력·판정·후속 로그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29100" y="3181198"/>
            <a:ext cx="3371393" cy="2819095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29100" y="3181198"/>
            <a:ext cx="3371393" cy="47549"/>
          </a:xfrm>
          <a:prstGeom prst="roundRect">
            <a:avLst>
              <a:gd name="adj" fmla="val 28076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57700" y="3353105"/>
            <a:ext cx="2857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PEOPLE · 내부 투입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457700" y="3599993"/>
            <a:ext cx="285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역할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</a:t>
            </a:r>
            <a:endParaRPr lang="en-US" sz="2100" dirty="0"/>
          </a:p>
        </p:txBody>
      </p:sp>
      <p:pic>
        <p:nvPicPr>
          <p:cNvPr id="20" name="Image 1" descr="gen-dedup-15c395130f22083900dde33cc0594f19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4457700" y="4496105"/>
            <a:ext cx="2895905" cy="91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457700" y="4572000"/>
            <a:ext cx="2895905" cy="820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PO·데이터·MLOps·상담·개인정보</a:t>
            </a:r>
            <a:endParaRPr lang="en-US" sz="11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0.2·0.2·0.1 FTE + 상담사 2명</a:t>
            </a:r>
            <a:endParaRPr lang="en-US" sz="11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DONE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RACI · 대체 담당자 서명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695590" y="3181198"/>
            <a:ext cx="3371393" cy="2819095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695590" y="3181198"/>
            <a:ext cx="3371393" cy="47549"/>
          </a:xfrm>
          <a:prstGeom prst="roundRect">
            <a:avLst>
              <a:gd name="adj" fmla="val 280768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924190" y="3353105"/>
            <a:ext cx="2857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CAPACITY · 주간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7924190" y="3599993"/>
            <a:ext cx="285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30슬롯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endParaRPr lang="en-US" sz="2100" dirty="0"/>
          </a:p>
        </p:txBody>
      </p:sp>
      <p:pic>
        <p:nvPicPr>
          <p:cNvPr id="26" name="Image 2" descr="gen-dedup-15c395130f22083900dde33cc0594f19.png"/>
          <p:cNvPicPr>
            <a:picLocks noChangeAspect="1"/>
          </p:cNvPicPr>
          <p:nvPr/>
        </p:nvPicPr>
        <p:blipFill>
          <a:blip r:embed="rId3"/>
          <a:srcRect l="-2089" r="-2089"/>
          <a:stretch/>
        </p:blipFill>
        <p:spPr>
          <a:xfrm>
            <a:off x="7924190" y="4496105"/>
            <a:ext cx="2895905" cy="914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924190" y="4572000"/>
            <a:ext cx="2895905" cy="820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Red 우선 · Amber 셀프미션</a:t>
            </a:r>
            <a:endParaRPr lang="en-US" sz="11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min(Red, 잔여슬롯) 즉시 배정</a:t>
            </a:r>
            <a:endParaRPr lang="en-US" sz="11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DONE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대기열·대기시간 매주 공개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11162995" y="3181198"/>
            <a:ext cx="3333902" cy="2819095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162995" y="3181198"/>
            <a:ext cx="3333902" cy="47549"/>
          </a:xfrm>
          <a:prstGeom prst="roundRect">
            <a:avLst>
              <a:gd name="adj" fmla="val 28076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1391595" y="3353105"/>
            <a:ext cx="2857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· 신규비 최소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11391595" y="3599993"/>
            <a:ext cx="28575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시스템에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얹기</a:t>
            </a:r>
            <a:endParaRPr lang="en-US" sz="2100" dirty="0"/>
          </a:p>
        </p:txBody>
      </p:sp>
      <p:pic>
        <p:nvPicPr>
          <p:cNvPr id="32" name="Image 3" descr="gen-dedup-edc853c73a155d4fa09a3c1021f4d715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391595" y="4496105"/>
            <a:ext cx="2857500" cy="914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1391595" y="4572000"/>
            <a:ext cx="2857500" cy="820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LMS · Python · PostgreSQL</a:t>
            </a:r>
            <a:endParaRPr lang="en-US" sz="11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 1회 배치 + 상담 웹 큐</a:t>
            </a:r>
            <a:endParaRPr lang="en-US" sz="1100" dirty="0"/>
          </a:p>
          <a:p>
            <a:pPr marL="0" indent="0" algn="l">
              <a:lnSpc>
                <a:spcPts val="204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DONE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유료 신규도구 0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761695" y="6191402"/>
            <a:ext cx="1371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HOW · 이번 주 무엇이 일어나나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61695" y="6476695"/>
            <a:ext cx="13735202" cy="933602"/>
          </a:xfrm>
          <a:prstGeom prst="roundRect">
            <a:avLst>
              <a:gd name="adj" fmla="val 143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1009498" y="6591910"/>
            <a:ext cx="133356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2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</a:t>
            </a:r>
            <a:r>
              <a:rPr lang="en-US" sz="12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LMS 설문 전송 (학사팀) → </a:t>
            </a:r>
            <a:r>
              <a:rPr lang="en-US" sz="12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</a:t>
            </a:r>
            <a:r>
              <a:rPr lang="en-US" sz="12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응답 수집·검증 (데이터팀) → </a:t>
            </a:r>
            <a:r>
              <a:rPr lang="en-US" sz="12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</a:t>
            </a:r>
            <a:r>
              <a:rPr lang="en-US" sz="12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등급 산출·SHAP 첨부 (MLOps)</a:t>
            </a:r>
            <a:endParaRPr lang="en-US" sz="1200" dirty="0"/>
          </a:p>
          <a:p>
            <a:pPr marL="0" indent="0" algn="l">
              <a:lnSpc>
                <a:spcPts val="2145"/>
              </a:lnSpc>
              <a:buNone/>
            </a:pPr>
            <a:r>
              <a:rPr lang="en-US" sz="12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</a:t>
            </a:r>
            <a:r>
              <a:rPr lang="en-US" sz="12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Red 우선 배정·전화 확인 (상담사) → </a:t>
            </a:r>
            <a:r>
              <a:rPr lang="en-US" sz="12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</a:t>
            </a:r>
            <a:r>
              <a:rPr lang="en-US" sz="12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주간 리포트·다음 주 미션 (PO)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761695" y="7619695"/>
            <a:ext cx="13716000" cy="705002"/>
          </a:xfrm>
          <a:prstGeom prst="roundRect">
            <a:avLst>
              <a:gd name="adj" fmla="val 16213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1067105" y="7772400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SO-WHAT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1067105" y="8001000"/>
            <a:ext cx="1333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 뒤</a:t>
            </a:r>
            <a:r>
              <a:rPr lang="en-US" sz="1400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300명의 선별률·실제 연결률·D14 개선율·운영시간을 근거로 </a:t>
            </a:r>
            <a:r>
              <a:rPr lang="en-US" sz="14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전교 확대 비용</a:t>
            </a:r>
            <a:r>
              <a:rPr lang="en-US" sz="1400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계산할 수 있다.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2 · TRIGGER × SLA × OWNER × DONE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근거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실행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등급별 지원을 배정하고 '실제 </a:t>
            </a:r>
            <a:r>
              <a:rPr lang="en-US" sz="3300" b="1" kern="0" spc="-68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연결'까지</a:t>
            </a: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300" b="1" kern="0" spc="-68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61695" y="1867205"/>
            <a:ext cx="13772693" cy="5715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6" name="Shape 4"/>
          <p:cNvSpPr/>
          <p:nvPr/>
        </p:nvSpPr>
        <p:spPr>
          <a:xfrm>
            <a:off x="761695" y="1867205"/>
            <a:ext cx="56693" cy="571500"/>
          </a:xfrm>
          <a:prstGeom prst="roundRect">
            <a:avLst>
              <a:gd name="adj" fmla="val 201612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7105" y="2009851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WHY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7105" y="2190902"/>
            <a:ext cx="1333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알림을 보냈다고 끝나지 않는다</a:t>
            </a:r>
            <a:r>
              <a:rPr lang="en-US" sz="13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신호마다 응답·연결·재악화까지 상태로 남지 않으면 다음 개입이 무너진다.</a:t>
            </a:r>
            <a:endParaRPr lang="en-US" sz="1300" dirty="0"/>
          </a:p>
        </p:txBody>
      </p:sp>
      <p:pic>
        <p:nvPicPr>
          <p:cNvPr id="9" name="Image 0" descr="gen-dedup-74415fd7a4cc954f3c1c819423484e24.png"/>
          <p:cNvPicPr>
            <a:picLocks noChangeAspect="1"/>
          </p:cNvPicPr>
          <p:nvPr/>
        </p:nvPicPr>
        <p:blipFill>
          <a:blip r:embed="rId3"/>
          <a:srcRect l="-36" r="-36"/>
          <a:stretch/>
        </p:blipFill>
        <p:spPr>
          <a:xfrm>
            <a:off x="761695" y="2667305"/>
            <a:ext cx="13716000" cy="4187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90295" y="2799893"/>
            <a:ext cx="952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4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큐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095805" y="2799893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4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트리거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914900" y="2799893"/>
            <a:ext cx="952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4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096305" y="2799893"/>
            <a:ext cx="4381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4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학생에게 하는 일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629900" y="2799893"/>
            <a:ext cx="1143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4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924690" y="2799893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4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DONE 기준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1695" y="3086100"/>
            <a:ext cx="13716000" cy="952805"/>
          </a:xfrm>
          <a:prstGeom prst="rect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90295" y="3409798"/>
            <a:ext cx="952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2095805" y="3381451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unhealthy 또는 자해·응급 문항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914900" y="3438144"/>
            <a:ext cx="952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24시간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096305" y="3381451"/>
            <a:ext cx="438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앱+문자 즉시 안내 → 전화 확인 → 상담/의료 연결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629900" y="3438144"/>
            <a:ext cx="1143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상담사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1924690" y="3381451"/>
            <a:ext cx="2477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접촉 결과·연결기관·예약일 기록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61695" y="4038905"/>
            <a:ext cx="13716000" cy="952805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90295" y="4362602"/>
            <a:ext cx="952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AMBER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2095805" y="4333342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at-risk + 수면/스트레스/활동 위험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914900" y="4390949"/>
            <a:ext cx="952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72시간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096305" y="4333342"/>
            <a:ext cx="438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원인별 14일 미션 배정 → D7 리마인드 → D14 재설문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629900" y="4390949"/>
            <a:ext cx="1143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학생지원팀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1924690" y="4333342"/>
            <a:ext cx="2477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미션 수락·이행률·재점수 기록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61695" y="4990795"/>
            <a:ext cx="13716000" cy="952805"/>
          </a:xfrm>
          <a:prstGeom prst="rect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90295" y="5314493"/>
            <a:ext cx="952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2095805" y="5286146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fit + 위험 문항 없음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914900" y="5343754"/>
            <a:ext cx="952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7일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6096305" y="5286146"/>
            <a:ext cx="438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리포트·자기관리 콘텐츠 → 다음 정기 체크인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0629900" y="5343754"/>
            <a:ext cx="1143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자동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1924690" y="5286146"/>
            <a:ext cx="2477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 열람 또는 수신거부 기록</a:t>
            </a:r>
            <a:endParaRPr lang="en-US" sz="1100" dirty="0"/>
          </a:p>
        </p:txBody>
      </p:sp>
      <p:pic>
        <p:nvPicPr>
          <p:cNvPr id="37" name="Image 1" descr="gen-dedup-00882a0bf4e0ce6072cbe8c9f7457c9c.png"/>
          <p:cNvPicPr>
            <a:picLocks noChangeAspect="1"/>
          </p:cNvPicPr>
          <p:nvPr/>
        </p:nvPicPr>
        <p:blipFill>
          <a:blip r:embed="rId4"/>
          <a:srcRect t="-16" b="-16"/>
          <a:stretch/>
        </p:blipFill>
        <p:spPr>
          <a:xfrm>
            <a:off x="761695" y="5943600"/>
            <a:ext cx="13716000" cy="952805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990295" y="6267298"/>
            <a:ext cx="9528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MANUAL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2095805" y="6238951"/>
            <a:ext cx="30495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 과다 · 확률차 &lt; 0.05 · 규칙 충돌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4914900" y="6295644"/>
            <a:ext cx="952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2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48시간</a:t>
            </a:r>
            <a:endParaRPr lang="en-US" sz="1700" dirty="0"/>
          </a:p>
        </p:txBody>
      </p:sp>
      <p:sp>
        <p:nvSpPr>
          <p:cNvPr id="41" name="Text 37"/>
          <p:cNvSpPr txBox="1"/>
          <p:nvPr/>
        </p:nvSpPr>
        <p:spPr>
          <a:xfrm>
            <a:off x="6096305" y="6238951"/>
            <a:ext cx="438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행동 중지 → 원자료 확인 → 상담사 재분류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10629900" y="6295644"/>
            <a:ext cx="1143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보건소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11924690" y="6238951"/>
            <a:ext cx="2477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판정·사유·승인자 기록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761695" y="7086600"/>
            <a:ext cx="13735202" cy="552298"/>
          </a:xfrm>
          <a:prstGeom prst="roundRect">
            <a:avLst>
              <a:gd name="adj" fmla="val 172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990295" y="7257593"/>
            <a:ext cx="1333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저장값</a:t>
            </a: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모델버전 · 등급/확률 · SHAP 상위 3개 · 접촉채널 · 수락/거절 · 담당자 · 다음 점검일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761695" y="7772400"/>
            <a:ext cx="13716000" cy="628193"/>
          </a:xfrm>
          <a:prstGeom prst="roundRect">
            <a:avLst>
              <a:gd name="adj" fmla="val 18195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067105" y="7924190"/>
            <a:ext cx="12390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SO-WHAT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1067105" y="8134502"/>
            <a:ext cx="1333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발송 = DONE 아님</a:t>
            </a:r>
            <a:r>
              <a:rPr lang="en-US" sz="1300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이행·접촉·재측정 중 하나가 기록되어야 다음 단계로 넘어간다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3 · SIGNAL → MESSAGE → SUPPORT → DONE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근거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실행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수면·스트레스·활동 신호를 오늘 </a:t>
            </a:r>
            <a:r>
              <a:rPr lang="en-US" sz="3300" b="1" kern="0" spc="-68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실행할</a:t>
            </a: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300" b="1" kern="0" spc="-68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61695" y="1962302"/>
            <a:ext cx="13772693" cy="5715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6" name="Shape 4"/>
          <p:cNvSpPr/>
          <p:nvPr/>
        </p:nvSpPr>
        <p:spPr>
          <a:xfrm>
            <a:off x="761695" y="1962302"/>
            <a:ext cx="56693" cy="571500"/>
          </a:xfrm>
          <a:prstGeom prst="roundRect">
            <a:avLst>
              <a:gd name="adj" fmla="val 201612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7105" y="2104949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WHY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7105" y="2286000"/>
            <a:ext cx="1333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'주의' 안내만으로는 행동이 바뀌지 않는다</a:t>
            </a:r>
            <a:r>
              <a:rPr lang="en-US" sz="13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신호별로 오늘 할 수 있는 구체 행동과 검증 방법이 있어야 한다.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1695" y="2762402"/>
            <a:ext cx="4561942" cy="3161995"/>
          </a:xfrm>
          <a:prstGeom prst="roundRect">
            <a:avLst>
              <a:gd name="adj" fmla="val 4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1695" y="2762402"/>
            <a:ext cx="56693" cy="3161995"/>
          </a:xfrm>
          <a:prstGeom prst="roundRect">
            <a:avLst>
              <a:gd name="adj" fmla="val 23548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7105" y="2952598"/>
            <a:ext cx="4000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TRIGGER · 수면 &lt; 6h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7105" y="3238805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kern="0" spc="-20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"오늘 23:30 알림을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kern="0" spc="-20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예약할까요?"</a:t>
            </a:r>
            <a:endParaRPr lang="en-US" sz="1900" dirty="0"/>
          </a:p>
        </p:txBody>
      </p:sp>
      <p:pic>
        <p:nvPicPr>
          <p:cNvPr id="13" name="Image 0" descr="gen-dedup-716510c79a9957cd434f47eea93f45c4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067105" y="4114800"/>
            <a:ext cx="4000500" cy="914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67105" y="4187038"/>
            <a:ext cx="4000500" cy="842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7일 수면일지 + 카페인 컷오프</a:t>
            </a:r>
            <a:endParaRPr lang="en-US" sz="11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앱 알림·체크박스·D7 리마인드</a:t>
            </a:r>
            <a:endParaRPr lang="en-US" sz="11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DONE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5/7일 이행 + D14 수면 재측정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72100" y="2762402"/>
            <a:ext cx="4561942" cy="3161995"/>
          </a:xfrm>
          <a:prstGeom prst="roundRect">
            <a:avLst>
              <a:gd name="adj" fmla="val 4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72100" y="2762402"/>
            <a:ext cx="56693" cy="3161995"/>
          </a:xfrm>
          <a:prstGeom prst="roundRect">
            <a:avLst>
              <a:gd name="adj" fmla="val 235483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76595" y="2952598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TRIGGER · stress = high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676595" y="3238805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kern="0" spc="-20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"3분 체크인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kern="0" spc="-20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상담예약"</a:t>
            </a:r>
            <a:endParaRPr lang="en-US" sz="1900" dirty="0"/>
          </a:p>
        </p:txBody>
      </p:sp>
      <p:pic>
        <p:nvPicPr>
          <p:cNvPr id="19" name="Image 1" descr="gen-dedup-716510c79a9957cd434f47eea93f45c4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5676595" y="4114800"/>
            <a:ext cx="4000500" cy="91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676595" y="4187038"/>
            <a:ext cx="4000500" cy="842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자가체크·호흡·상담 중 선택</a:t>
            </a:r>
            <a:endParaRPr lang="en-US" sz="11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앱 응답·고위험이면 상담사 큐</a:t>
            </a:r>
            <a:endParaRPr lang="en-US" sz="11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DONE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D1 접촉결과 + D7 상태 기록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9981590" y="2762402"/>
            <a:ext cx="4561942" cy="3161995"/>
          </a:xfrm>
          <a:prstGeom prst="roundRect">
            <a:avLst>
              <a:gd name="adj" fmla="val 4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981590" y="2762402"/>
            <a:ext cx="56693" cy="3161995"/>
          </a:xfrm>
          <a:prstGeom prst="roundRect">
            <a:avLst>
              <a:gd name="adj" fmla="val 235483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287000" y="2952598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TRIGGER · sedentary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0287000" y="3238805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kern="0" spc="-20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"빈 시간에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kern="0" spc="-20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 걷기 5회"</a:t>
            </a:r>
            <a:endParaRPr lang="en-US" sz="1900" dirty="0"/>
          </a:p>
        </p:txBody>
      </p:sp>
      <p:pic>
        <p:nvPicPr>
          <p:cNvPr id="25" name="Image 2" descr="gen-dedup-716510c79a9957cd434f47eea93f45c4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0287000" y="4114800"/>
            <a:ext cx="4000500" cy="91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0287000" y="4187038"/>
            <a:ext cx="4000500" cy="842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시간표 기반 걷기 미션 배정</a:t>
            </a:r>
            <a:endParaRPr lang="en-US" sz="11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캘린더 등록·걸음수 자동 확인</a:t>
            </a:r>
            <a:endParaRPr lang="en-US" sz="11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1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DONE</a:t>
            </a:r>
            <a:r>
              <a:rPr lang="en-US" sz="1100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5회 완료 또는 대체미션 승인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761695" y="6172200"/>
            <a:ext cx="1371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예외 처리 · 미응답 / 재악화 / 동의 철회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61695" y="6476695"/>
            <a:ext cx="4496105" cy="1238098"/>
          </a:xfrm>
          <a:prstGeom prst="roundRect">
            <a:avLst>
              <a:gd name="adj" fmla="val 10783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067105" y="6648602"/>
            <a:ext cx="4000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8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미응답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1067105" y="6877202"/>
            <a:ext cx="431139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앱→문자→전화 3채널 후 '연락실패'로 닫고 다음 주 재시도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372100" y="6476695"/>
            <a:ext cx="4496105" cy="1238098"/>
          </a:xfrm>
          <a:prstGeom prst="roundRect">
            <a:avLst>
              <a:gd name="adj" fmla="val 10783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676595" y="6648602"/>
            <a:ext cx="4000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8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재악화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5676595" y="6877202"/>
            <a:ext cx="4000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Amber→Red 또는 Red 2회 연속이면 상담사 수동 검토·개별 계획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9981590" y="6476695"/>
            <a:ext cx="4496105" cy="1238098"/>
          </a:xfrm>
          <a:prstGeom prst="roundRect">
            <a:avLst>
              <a:gd name="adj" fmla="val 1078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0287000" y="6648602"/>
            <a:ext cx="4000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8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동의 철회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10287000" y="6877202"/>
            <a:ext cx="4331513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알림·스코어링 중단, 운영 데이터와 후속 큐에서 제외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761695" y="7905902"/>
            <a:ext cx="13716000" cy="495605"/>
          </a:xfrm>
          <a:prstGeom prst="roundRect">
            <a:avLst>
              <a:gd name="adj" fmla="val 23063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952805" y="8057693"/>
            <a:ext cx="1333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SO-WHAT</a:t>
            </a:r>
            <a:r>
              <a:rPr lang="en-US" sz="13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신호마다 오늘 할 행동·검증 방법·다음 확인일이 이미 정해져 있다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4 · DATA → MODEL → CARE → LEARNING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근거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실행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37160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LMS에서 상담 작업 큐까지 6단계를 주 1회 자동화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61695" y="1962302"/>
            <a:ext cx="13772693" cy="5715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6" name="Shape 4"/>
          <p:cNvSpPr/>
          <p:nvPr/>
        </p:nvSpPr>
        <p:spPr>
          <a:xfrm>
            <a:off x="761695" y="1962302"/>
            <a:ext cx="56693" cy="571500"/>
          </a:xfrm>
          <a:prstGeom prst="roundRect">
            <a:avLst>
              <a:gd name="adj" fmla="val 201612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7105" y="2104949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WHY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7105" y="2286000"/>
            <a:ext cx="1333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 배치는 실행 순간마다 무너진다</a:t>
            </a:r>
            <a:r>
              <a:rPr lang="en-US" sz="13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검증 실패 시 자동으로 멈추고, 결과가 다시 다음 판단에 쓰이도록 잇는다.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2762402"/>
            <a:ext cx="1371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WHAT · 6단계 배포 묶음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1695" y="3105302"/>
            <a:ext cx="2210105" cy="2781605"/>
          </a:xfrm>
          <a:prstGeom prst="roundRect">
            <a:avLst>
              <a:gd name="adj" fmla="val 6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9498" y="335310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9498" y="3457346"/>
            <a:ext cx="4572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009498" y="3981298"/>
            <a:ext cx="1905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09498" y="4259275"/>
            <a:ext cx="1905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LMS·설문 API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암호화 학생키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9498" y="5333695"/>
            <a:ext cx="1904695" cy="304495"/>
          </a:xfrm>
          <a:prstGeom prst="roundRect">
            <a:avLst>
              <a:gd name="adj" fmla="val 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9498" y="5410505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학사·데이터팀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991002" y="4304995"/>
            <a:ext cx="191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3219602" y="3105302"/>
            <a:ext cx="2210105" cy="2781605"/>
          </a:xfrm>
          <a:prstGeom prst="roundRect">
            <a:avLst>
              <a:gd name="adj" fmla="val 6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67405" y="335310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67405" y="3457346"/>
            <a:ext cx="4572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3467405" y="3981298"/>
            <a:ext cx="1905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467405" y="4259275"/>
            <a:ext cx="1905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Pandera 스키마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범위·중복·결측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67405" y="5333695"/>
            <a:ext cx="1904695" cy="304495"/>
          </a:xfrm>
          <a:prstGeom prst="roundRect">
            <a:avLst>
              <a:gd name="adj" fmla="val 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67405" y="5410505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데이터팀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47995" y="4304995"/>
            <a:ext cx="191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5676595" y="3105302"/>
            <a:ext cx="2228393" cy="2799893"/>
          </a:xfrm>
          <a:prstGeom prst="roundRect">
            <a:avLst>
              <a:gd name="adj" fmla="val 5991"/>
            </a:avLst>
          </a:prstGeom>
          <a:solidFill>
            <a:srgbClr val="ECFDF5"/>
          </a:solidFill>
          <a:ln w="25399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24398" y="335310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24398" y="3457346"/>
            <a:ext cx="4572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5924398" y="3981298"/>
            <a:ext cx="1905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924398" y="4259275"/>
            <a:ext cx="1905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주 1회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모델·임계값 버전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24398" y="5333695"/>
            <a:ext cx="1904695" cy="304495"/>
          </a:xfrm>
          <a:prstGeom prst="roundRect">
            <a:avLst>
              <a:gd name="adj" fmla="val 50150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24398" y="5410505"/>
            <a:ext cx="1905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905902" y="4304995"/>
            <a:ext cx="191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8134502" y="3105302"/>
            <a:ext cx="2210105" cy="2781605"/>
          </a:xfrm>
          <a:prstGeom prst="roundRect">
            <a:avLst>
              <a:gd name="adj" fmla="val 6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81390" y="335310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81390" y="3457346"/>
            <a:ext cx="4572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8381390" y="3981298"/>
            <a:ext cx="19056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8381390" y="4259275"/>
            <a:ext cx="1905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상위 3개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행동문구 매핑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81390" y="5333695"/>
            <a:ext cx="1904695" cy="304495"/>
          </a:xfrm>
          <a:prstGeom prst="roundRect">
            <a:avLst>
              <a:gd name="adj" fmla="val 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81390" y="5410505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서비스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362895" y="4304995"/>
            <a:ext cx="191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10591495" y="3105302"/>
            <a:ext cx="1733702" cy="2781605"/>
          </a:xfrm>
          <a:prstGeom prst="roundRect">
            <a:avLst>
              <a:gd name="adj" fmla="val 77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39298" y="335310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839298" y="3457346"/>
            <a:ext cx="4572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-1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900" dirty="0"/>
          </a:p>
        </p:txBody>
      </p:sp>
      <p:sp>
        <p:nvSpPr>
          <p:cNvPr id="45" name="Text 43"/>
          <p:cNvSpPr txBox="1"/>
          <p:nvPr/>
        </p:nvSpPr>
        <p:spPr>
          <a:xfrm>
            <a:off x="10839298" y="3981298"/>
            <a:ext cx="142920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10839298" y="4259275"/>
            <a:ext cx="14292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 웹 큐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앱·문자·전화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839298" y="5333695"/>
            <a:ext cx="1428293" cy="304495"/>
          </a:xfrm>
          <a:prstGeom prst="roundRect">
            <a:avLst>
              <a:gd name="adj" fmla="val 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839298" y="5410505"/>
            <a:ext cx="14292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보건소·학생지원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2344400" y="4304995"/>
            <a:ext cx="191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900" dirty="0"/>
          </a:p>
        </p:txBody>
      </p:sp>
      <p:sp>
        <p:nvSpPr>
          <p:cNvPr id="50" name="Shape 48"/>
          <p:cNvSpPr/>
          <p:nvPr/>
        </p:nvSpPr>
        <p:spPr>
          <a:xfrm>
            <a:off x="12573000" y="3105302"/>
            <a:ext cx="1904695" cy="2762402"/>
          </a:xfrm>
          <a:prstGeom prst="roundRect">
            <a:avLst>
              <a:gd name="adj" fmla="val 7009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820802" y="335310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5EEA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2820802" y="3457346"/>
            <a:ext cx="4572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900" dirty="0"/>
          </a:p>
        </p:txBody>
      </p:sp>
      <p:sp>
        <p:nvSpPr>
          <p:cNvPr id="53" name="Text 51"/>
          <p:cNvSpPr txBox="1"/>
          <p:nvPr/>
        </p:nvSpPr>
        <p:spPr>
          <a:xfrm>
            <a:off x="12820802" y="3981298"/>
            <a:ext cx="161940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18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</a:t>
            </a:r>
            <a:endParaRPr lang="en-US" sz="1700" dirty="0"/>
          </a:p>
        </p:txBody>
      </p:sp>
      <p:sp>
        <p:nvSpPr>
          <p:cNvPr id="54" name="Text 52"/>
          <p:cNvSpPr txBox="1"/>
          <p:nvPr/>
        </p:nvSpPr>
        <p:spPr>
          <a:xfrm>
            <a:off x="12820802" y="4259275"/>
            <a:ext cx="1619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SLA·효과·형평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2820802" y="5333695"/>
            <a:ext cx="1619402" cy="304495"/>
          </a:xfrm>
          <a:prstGeom prst="roundRect">
            <a:avLst>
              <a:gd name="adj" fmla="val 50150"/>
            </a:avLst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2820802" y="5410505"/>
            <a:ext cx="16194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운영위원회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61695" y="6096305"/>
            <a:ext cx="13716000" cy="533095"/>
          </a:xfrm>
          <a:prstGeom prst="roundRect">
            <a:avLst>
              <a:gd name="adj" fmla="val 21441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90295" y="6267298"/>
            <a:ext cx="1333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권한·보존</a:t>
            </a: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가명 ID · 역할기반 접근 · 상담사는 큐/SHAP만 조회 · 원자료 90일 후 폐기 · 전 작업 감사로그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61695" y="6724498"/>
            <a:ext cx="13716000" cy="533095"/>
          </a:xfrm>
          <a:prstGeom prst="roundRect">
            <a:avLst>
              <a:gd name="adj" fmla="val 21441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90295" y="6896405"/>
            <a:ext cx="1333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묶음</a:t>
            </a: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schema + validator + preprocessor + model + class order + threshold + SHAP + action rule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61695" y="7524598"/>
            <a:ext cx="13716000" cy="705002"/>
          </a:xfrm>
          <a:prstGeom prst="roundRect">
            <a:avLst>
              <a:gd name="adj" fmla="val 16213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67105" y="7677302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SO-WHAT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1067105" y="7905902"/>
            <a:ext cx="1333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실패 시 추론하지 않는다</a:t>
            </a:r>
            <a:r>
              <a:rPr lang="en-US" sz="1400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지원 결과는 다시 성과 DB로 돌아와 다음 </a:t>
            </a:r>
            <a:r>
              <a:rPr lang="en-US" sz="1400" kern="0" spc="-12" dirty="0" err="1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r>
              <a:rPr lang="en-US" sz="1400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kern="0" spc="-12" dirty="0" err="1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판단에</a:t>
            </a:r>
            <a:r>
              <a:rPr lang="en-US" sz="1400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kern="0" spc="-12" dirty="0" err="1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쓰인다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495605"/>
            <a:ext cx="8572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5 · A/S + 8-WEEK DECISION GATE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87000" y="495605"/>
            <a:ext cx="4191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배경 서비스 근거 </a:t>
            </a:r>
            <a:r>
              <a:rPr lang="en-US" sz="10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실행</a:t>
            </a:r>
            <a:r>
              <a:rPr lang="en-US" sz="1000" b="1" kern="0" spc="-12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 / 30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047902"/>
            <a:ext cx="16941089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문제가 생기면 멈추고 복구하고, 8주 뒤 5개 지표로 </a:t>
            </a:r>
            <a:r>
              <a:rPr lang="en-US" sz="3300" b="1" kern="0" spc="-68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확대를</a:t>
            </a:r>
            <a:r>
              <a:rPr lang="en-US" sz="3300" b="1" kern="0" spc="-68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300" b="1" kern="0" spc="-68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61695" y="1962302"/>
            <a:ext cx="13772693" cy="5715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6" name="Shape 4"/>
          <p:cNvSpPr/>
          <p:nvPr/>
        </p:nvSpPr>
        <p:spPr>
          <a:xfrm>
            <a:off x="761695" y="1962302"/>
            <a:ext cx="56693" cy="571500"/>
          </a:xfrm>
          <a:prstGeom prst="roundRect">
            <a:avLst>
              <a:gd name="adj" fmla="val 201612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7105" y="2104949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WHY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7105" y="2286000"/>
            <a:ext cx="1333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 결정은 근거로 한다</a:t>
            </a:r>
            <a:r>
              <a:rPr lang="en-US" sz="13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성능·SLA·효과·형평·안전 5개 지표가 통과할 때만 다음 학기 전교로 넘어간다.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2762402"/>
            <a:ext cx="6667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A/S · 중단 → 복구 → 재승인</a:t>
            </a:r>
            <a:endParaRPr lang="en-US" sz="1000" dirty="0"/>
          </a:p>
        </p:txBody>
      </p:sp>
      <p:pic>
        <p:nvPicPr>
          <p:cNvPr id="10" name="Image 0" descr="gen-dedup-3c44627cac58de7aaeccfe533df9697a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761695" y="3047695"/>
            <a:ext cx="6667805" cy="3429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52805" y="3142793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A/S 트리거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857500" y="3142793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ACTION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524805" y="3142793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SLA · OWNER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61695" y="3390595"/>
            <a:ext cx="6667805" cy="628193"/>
          </a:xfrm>
          <a:prstGeom prst="rect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52805" y="3599993"/>
            <a:ext cx="223662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BA&lt;0.93 or PSI&gt;0.20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857500" y="3599993"/>
            <a:ext cx="293888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배치 중지 → 직전 승인 모델 롤백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524805" y="3599993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영업일 · MLOps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1695" y="4019702"/>
            <a:ext cx="6667805" cy="628193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52805" y="4229100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 24h 처리율 &lt; 90%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857500" y="4229100"/>
            <a:ext cx="2667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인입 제한 → Red 우선 → 대기 ETA 공개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524805" y="4229100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영업일 · PO·보건소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61695" y="4647895"/>
            <a:ext cx="6667805" cy="628193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52805" y="4857293"/>
            <a:ext cx="205099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집단 recall gap ≥ 0.05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857500" y="4857293"/>
            <a:ext cx="299374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집단 자동라우팅 중지 → 수동 검토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524805" y="4857293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영업일 · 운영위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61695" y="5277002"/>
            <a:ext cx="6667805" cy="628193"/>
          </a:xfrm>
          <a:prstGeom prst="rect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2805" y="5486400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오발송 · 권한 · 사고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2857500" y="5486400"/>
            <a:ext cx="2667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즉시 OFF → 책임자 통보 → 로그 보존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524805" y="5486400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· 개인정보책임자</a:t>
            </a:r>
            <a:endParaRPr lang="en-US" sz="1100" dirty="0"/>
          </a:p>
        </p:txBody>
      </p:sp>
      <p:pic>
        <p:nvPicPr>
          <p:cNvPr id="30" name="Image 1" descr="gen-dedup-38f4b9155dd4a282ed9118c96abd6557.png"/>
          <p:cNvPicPr>
            <a:picLocks noChangeAspect="1"/>
          </p:cNvPicPr>
          <p:nvPr/>
        </p:nvPicPr>
        <p:blipFill>
          <a:blip r:embed="rId4"/>
          <a:srcRect l="-39" r="-39"/>
          <a:stretch/>
        </p:blipFill>
        <p:spPr>
          <a:xfrm>
            <a:off x="761695" y="5905195"/>
            <a:ext cx="6667805" cy="628193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952805" y="6114593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D14 무개선 · 미응답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2857500" y="6114593"/>
            <a:ext cx="2667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상담사 수동검토 → 대체 지원·외부기관 연결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5524805" y="6114593"/>
            <a:ext cx="1905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 시간 · 상담센터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7619695" y="2762402"/>
            <a:ext cx="685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8주 GATE · 5개 지표 모두 통과 = 전교 확대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7619695" y="3047695"/>
            <a:ext cx="2190902" cy="1619402"/>
          </a:xfrm>
          <a:prstGeom prst="roundRect">
            <a:avLst>
              <a:gd name="adj" fmla="val 824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48295" y="3238805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4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7848295" y="3504895"/>
            <a:ext cx="1905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 ≥ .95</a:t>
            </a:r>
            <a:endParaRPr lang="en-US" sz="2100" dirty="0"/>
          </a:p>
        </p:txBody>
      </p:sp>
      <p:sp>
        <p:nvSpPr>
          <p:cNvPr id="38" name="Text 34"/>
          <p:cNvSpPr txBox="1"/>
          <p:nvPr/>
        </p:nvSpPr>
        <p:spPr>
          <a:xfrm>
            <a:off x="7848295" y="4114800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meta-fold OOF + 실운영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9944100" y="3047695"/>
            <a:ext cx="2190902" cy="1619402"/>
          </a:xfrm>
          <a:prstGeom prst="roundRect">
            <a:avLst>
              <a:gd name="adj" fmla="val 824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172700" y="3238805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4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10172700" y="3504895"/>
            <a:ext cx="19056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 24h ≥ 90%</a:t>
            </a:r>
            <a:endParaRPr lang="en-US" sz="2100" dirty="0"/>
          </a:p>
        </p:txBody>
      </p:sp>
      <p:sp>
        <p:nvSpPr>
          <p:cNvPr id="42" name="Text 38"/>
          <p:cNvSpPr txBox="1"/>
          <p:nvPr/>
        </p:nvSpPr>
        <p:spPr>
          <a:xfrm>
            <a:off x="10172700" y="4114800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 내 처리율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12267590" y="3047695"/>
            <a:ext cx="2210105" cy="1619402"/>
          </a:xfrm>
          <a:prstGeom prst="roundRect">
            <a:avLst>
              <a:gd name="adj" fmla="val 824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2496190" y="3238805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4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2496190" y="3504895"/>
            <a:ext cx="1905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D14 개선</a:t>
            </a:r>
            <a:endParaRPr lang="en-US" sz="2100" dirty="0"/>
          </a:p>
        </p:txBody>
      </p:sp>
      <p:sp>
        <p:nvSpPr>
          <p:cNvPr id="46" name="Text 42"/>
          <p:cNvSpPr txBox="1"/>
          <p:nvPr/>
        </p:nvSpPr>
        <p:spPr>
          <a:xfrm>
            <a:off x="12496190" y="4114800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Amber→Green 전환률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7619695" y="4819802"/>
            <a:ext cx="2190902" cy="1619402"/>
          </a:xfrm>
          <a:prstGeom prst="roundRect">
            <a:avLst>
              <a:gd name="adj" fmla="val 824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7848295" y="5009998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4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형평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7848295" y="5277002"/>
            <a:ext cx="1905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gap &lt; .05</a:t>
            </a:r>
            <a:endParaRPr lang="en-US" sz="2100" dirty="0"/>
          </a:p>
        </p:txBody>
      </p:sp>
      <p:sp>
        <p:nvSpPr>
          <p:cNvPr id="50" name="Text 46"/>
          <p:cNvSpPr txBox="1"/>
          <p:nvPr/>
        </p:nvSpPr>
        <p:spPr>
          <a:xfrm>
            <a:off x="7848295" y="5885993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집단별 recall 차이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9944100" y="4819802"/>
            <a:ext cx="2190902" cy="1619402"/>
          </a:xfrm>
          <a:prstGeom prst="roundRect">
            <a:avLst>
              <a:gd name="adj" fmla="val 8244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10172700" y="5009998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4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10172700" y="5277002"/>
            <a:ext cx="1905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 0 건</a:t>
            </a:r>
            <a:endParaRPr lang="en-US" sz="2100" dirty="0"/>
          </a:p>
        </p:txBody>
      </p:sp>
      <p:sp>
        <p:nvSpPr>
          <p:cNvPr id="54" name="Text 50"/>
          <p:cNvSpPr txBox="1"/>
          <p:nvPr/>
        </p:nvSpPr>
        <p:spPr>
          <a:xfrm>
            <a:off x="10172700" y="5885993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개인정보·오발송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12267590" y="4819802"/>
            <a:ext cx="2210105" cy="1619402"/>
          </a:xfrm>
          <a:prstGeom prst="roundRect">
            <a:avLst>
              <a:gd name="adj" fmla="val 8244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12496190" y="5009998"/>
            <a:ext cx="1905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4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규칙</a:t>
            </a:r>
            <a:endParaRPr lang="en-US" sz="1000" dirty="0"/>
          </a:p>
        </p:txBody>
      </p:sp>
      <p:sp>
        <p:nvSpPr>
          <p:cNvPr id="57" name="Text 53"/>
          <p:cNvSpPr txBox="1"/>
          <p:nvPr/>
        </p:nvSpPr>
        <p:spPr>
          <a:xfrm>
            <a:off x="12496190" y="5277002"/>
            <a:ext cx="19056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kern="0" spc="-18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모두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kern="0" spc="-18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통과 = 확대</a:t>
            </a:r>
            <a:endParaRPr lang="en-US" sz="1700" dirty="0"/>
          </a:p>
        </p:txBody>
      </p:sp>
      <p:sp>
        <p:nvSpPr>
          <p:cNvPr id="58" name="Text 54"/>
          <p:cNvSpPr txBox="1"/>
          <p:nvPr/>
        </p:nvSpPr>
        <p:spPr>
          <a:xfrm>
            <a:off x="12496190" y="5994806"/>
            <a:ext cx="190561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5"/>
              </a:lnSpc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 미달 = 2주 보완</a:t>
            </a:r>
            <a:endParaRPr lang="en-US" sz="1000" dirty="0"/>
          </a:p>
          <a:p>
            <a:pPr marL="0" indent="0" algn="l">
              <a:lnSpc>
                <a:spcPts val="1705"/>
              </a:lnSpc>
              <a:buNone/>
            </a:pPr>
            <a:r>
              <a:rPr lang="en-US" sz="1000" kern="0" spc="-12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2개 이상 = 중단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761695" y="6724498"/>
            <a:ext cx="13716000" cy="761695"/>
          </a:xfrm>
          <a:prstGeom prst="roundRect">
            <a:avLst>
              <a:gd name="adj" fmla="val 15006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1067105" y="6877202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98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SO-WHAT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1067105" y="7105802"/>
            <a:ext cx="1333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승인하면 8주 뒤 확대 여부가 5개 지표로 결정된다</a:t>
            </a:r>
            <a:r>
              <a:rPr lang="en-US" sz="1400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KPI 미달 시 확대 없이 중단 — </a:t>
            </a:r>
            <a:r>
              <a:rPr lang="en-US" sz="14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확대의 자동화</a:t>
            </a:r>
            <a:r>
              <a:rPr lang="en-US" sz="1400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아니라 </a:t>
            </a:r>
            <a:r>
              <a:rPr lang="en-US" sz="1400" b="1" kern="0" spc="-12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중단의 자동화</a:t>
            </a:r>
            <a:endParaRPr lang="en-US" sz="1400" dirty="0"/>
          </a:p>
        </p:txBody>
      </p:sp>
      <p:sp>
        <p:nvSpPr>
          <p:cNvPr id="62" name="Shape 58"/>
          <p:cNvSpPr/>
          <p:nvPr/>
        </p:nvSpPr>
        <p:spPr>
          <a:xfrm>
            <a:off x="761695" y="7677302"/>
            <a:ext cx="13735202" cy="742493"/>
          </a:xfrm>
          <a:prstGeom prst="roundRect">
            <a:avLst>
              <a:gd name="adj" fmla="val 1798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1067105" y="7829093"/>
            <a:ext cx="1905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76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 ASK</a:t>
            </a:r>
            <a:endParaRPr lang="en-US" sz="1000" dirty="0"/>
          </a:p>
        </p:txBody>
      </p:sp>
      <p:sp>
        <p:nvSpPr>
          <p:cNvPr id="64" name="Text 60"/>
          <p:cNvSpPr txBox="1"/>
          <p:nvPr/>
        </p:nvSpPr>
        <p:spPr>
          <a:xfrm>
            <a:off x="1067105" y="8057693"/>
            <a:ext cx="13335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동의자 300명 · 8주 · 상담 30슬롯/주 · 담당자 5역할 · Go/No-Go 기준 적용을 </a:t>
            </a:r>
            <a:r>
              <a:rPr lang="en-US" sz="1500" b="1" kern="0" spc="-12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승인</a:t>
            </a:r>
            <a:r>
              <a:rPr lang="en-US" sz="1500" b="1" kern="0" spc="-12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61695"/>
            <a:ext cx="5715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64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HEALTH SIGNAL · THANK YOU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1430000" cy="152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0" b="1" kern="0" spc="-48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11900" dirty="0"/>
          </a:p>
        </p:txBody>
      </p:sp>
      <p:sp>
        <p:nvSpPr>
          <p:cNvPr id="4" name="Text 2"/>
          <p:cNvSpPr txBox="1"/>
          <p:nvPr/>
        </p:nvSpPr>
        <p:spPr>
          <a:xfrm>
            <a:off x="952805" y="4000500"/>
            <a:ext cx="95253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kern="0" spc="-26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Health Signal Platform</a:t>
            </a:r>
            <a:endParaRPr lang="en-US" sz="2500" dirty="0"/>
          </a:p>
        </p:txBody>
      </p:sp>
      <p:pic>
        <p:nvPicPr>
          <p:cNvPr id="5" name="Image 0" descr="gen-dedup-dd8d8fc2846d5716b988e912aa421cff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914400" y="4953305"/>
            <a:ext cx="9524390" cy="9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333695"/>
            <a:ext cx="95253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kern="0" spc="-12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학생의 작은 생활신호를 필요한 </a:t>
            </a:r>
            <a:r>
              <a:rPr lang="en-US" sz="19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건강지원</a:t>
            </a:r>
            <a:r>
              <a:rPr lang="en-US" sz="1900" kern="0" spc="-12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연결합니다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914400" y="6286500"/>
            <a:ext cx="3066898" cy="437998"/>
          </a:xfrm>
          <a:prstGeom prst="roundRect">
            <a:avLst>
              <a:gd name="adj" fmla="val 47808"/>
            </a:avLst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3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47902" y="6390742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3등급 신호등 자동 분류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0" y="6286500"/>
            <a:ext cx="3638398" cy="437998"/>
          </a:xfrm>
          <a:prstGeom prst="roundRect">
            <a:avLst>
              <a:gd name="adj" fmla="val 47808"/>
            </a:avLst>
          </a:prstGeom>
          <a:solidFill>
            <a:srgbClr val="5EEAD4">
              <a:alpha val="12000"/>
            </a:srgbClr>
          </a:solidFill>
          <a:ln w="12700">
            <a:solidFill>
              <a:srgbClr val="5EEAD4">
                <a:alpha val="3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48302" y="6390742"/>
            <a:ext cx="3429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-12" dirty="0">
                <a:solidFill>
                  <a:srgbClr val="5EEA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Balanced Accuracy 0.95104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7334402"/>
            <a:ext cx="9525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kern="0" spc="-12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ML캐글_5팀 · 정소미 박종형 최용우 오헌제 오준석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7677302"/>
            <a:ext cx="9525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-12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2026.07.15 · v5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1620195" y="1333195"/>
            <a:ext cx="2704795" cy="6324905"/>
          </a:xfrm>
          <a:prstGeom prst="roundRect">
            <a:avLst>
              <a:gd name="adj" fmla="val 21129"/>
            </a:avLst>
          </a:prstGeom>
          <a:solidFill>
            <a:srgbClr val="111827"/>
          </a:solidFill>
          <a:ln w="25399">
            <a:solidFill>
              <a:srgbClr val="1F2937"/>
            </a:solidFill>
            <a:prstDash val="solid"/>
          </a:ln>
        </p:spPr>
      </p:sp>
      <p:pic>
        <p:nvPicPr>
          <p:cNvPr id="14" name="Image 1" descr="gen-dedup-43da5867d81662f493e071e5948b200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91695" y="1904695"/>
            <a:ext cx="1524305" cy="1524305"/>
          </a:xfrm>
          <a:prstGeom prst="rect">
            <a:avLst/>
          </a:prstGeom>
        </p:spPr>
      </p:pic>
      <p:pic>
        <p:nvPicPr>
          <p:cNvPr id="15" name="Image 2" descr="gen-dedup-1f3657d864d90aa5cf89e6bed742af7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191695" y="3714293"/>
            <a:ext cx="1524305" cy="1524305"/>
          </a:xfrm>
          <a:prstGeom prst="rect">
            <a:avLst/>
          </a:prstGeom>
        </p:spPr>
      </p:pic>
      <p:pic>
        <p:nvPicPr>
          <p:cNvPr id="16" name="Image 3" descr="gen-dedup-ec978e2ce234cec953467a2e0f809b5b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191695" y="5524805"/>
            <a:ext cx="1524305" cy="15243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75" b="1">
                <a:solidFill>
                  <a:srgbClr val="00A67D"/>
                </a:solidFill>
                <a:latin typeface="Malgun Gothic"/>
              </a:rPr>
              <a:t>APPENDIX · 근거 원장</a:t>
            </a:r>
          </a:p>
        </p:txBody>
      </p:sp>
      <p:sp>
        <p:nvSpPr>
          <p:cNvPr id="3" name="Text 1"/>
          <p:cNvSpPr/>
          <p:nvPr/>
        </p:nvSpPr>
        <p:spPr>
          <a:xfrm>
            <a:off x="1028700" y="3886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부록: 데이터·시각화·실험 기록</a:t>
            </a:r>
          </a:p>
        </p:txBody>
      </p:sp>
      <p:sp>
        <p:nvSpPr>
          <p:cNvPr id="4" name="Text 2"/>
          <p:cNvSpPr/>
          <p:nvPr/>
        </p:nvSpPr>
        <p:spPr>
          <a:xfrm>
            <a:off x="1028700" y="4800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75">
                <a:solidFill>
                  <a:srgbClr val="D2DCE4"/>
                </a:solidFill>
                <a:latin typeface="Malgun Gothic"/>
              </a:rPr>
              <a:t>EDA · 데이터 정합성 · 피처 역할 · 압축 실험 매트릭스 · 추가 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21740" y="7953504"/>
            <a:ext cx="628650" cy="163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63">
                <a:solidFill>
                  <a:srgbClr val="A0AEB9"/>
                </a:solidFill>
                <a:latin typeface="Malgun Gothi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58700" y="365760"/>
            <a:ext cx="2205990" cy="388620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 sz="2250"/>
          </a:p>
        </p:txBody>
      </p:sp>
      <p:sp>
        <p:nvSpPr>
          <p:cNvPr id="3" name="Text 1"/>
          <p:cNvSpPr/>
          <p:nvPr/>
        </p:nvSpPr>
        <p:spPr>
          <a:xfrm>
            <a:off x="12458700" y="365760"/>
            <a:ext cx="220599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1500" y="480060"/>
            <a:ext cx="1028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125" dirty="0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부록 A1 · EDA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500" y="800100"/>
            <a:ext cx="11772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50" b="1" dirty="0">
                <a:solidFill>
                  <a:srgbClr val="222325"/>
                </a:solidFill>
                <a:latin typeface="Malgun Gothic" pitchFamily="34" charset="0"/>
                <a:ea typeface="Arial" pitchFamily="34" charset="-122"/>
                <a:cs typeface="Arial" pitchFamily="34" charset="-120"/>
              </a:rPr>
              <a:t>범주형 피처별 건강등급 분포</a:t>
            </a:r>
            <a:endParaRPr lang="en-US" sz="2750" dirty="0"/>
          </a:p>
        </p:txBody>
      </p:sp>
      <p:pic>
        <p:nvPicPr>
          <p:cNvPr id="8" name="Image 0" descr="assets/categorical_by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367" y="1678310"/>
            <a:ext cx="12602634" cy="65284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921740" y="7953504"/>
            <a:ext cx="628650" cy="163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63">
                <a:solidFill>
                  <a:srgbClr val="5B6773"/>
                </a:solidFill>
                <a:latin typeface="Malgun Gothi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58700" y="365760"/>
            <a:ext cx="2205990" cy="388620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 sz="2250"/>
          </a:p>
        </p:txBody>
      </p:sp>
      <p:sp>
        <p:nvSpPr>
          <p:cNvPr id="3" name="Text 1"/>
          <p:cNvSpPr/>
          <p:nvPr/>
        </p:nvSpPr>
        <p:spPr>
          <a:xfrm>
            <a:off x="12458700" y="365760"/>
            <a:ext cx="220599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1500" y="480060"/>
            <a:ext cx="1028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125" dirty="0" err="1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500" b="1" kern="0" spc="125" dirty="0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 A2 · 데이터 정합성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500" y="800100"/>
            <a:ext cx="11772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50" b="1" dirty="0">
                <a:solidFill>
                  <a:srgbClr val="222325"/>
                </a:solidFill>
                <a:latin typeface="Malgun Gothic" pitchFamily="34" charset="0"/>
                <a:ea typeface="Arial" pitchFamily="34" charset="-122"/>
                <a:cs typeface="Arial" pitchFamily="34" charset="-120"/>
              </a:rPr>
              <a:t>Train vs Test 분포 일치 검증</a:t>
            </a:r>
            <a:endParaRPr lang="en-US" sz="2750" dirty="0"/>
          </a:p>
        </p:txBody>
      </p:sp>
      <p:pic>
        <p:nvPicPr>
          <p:cNvPr id="8" name="Image 0" descr="assets/train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00251"/>
            <a:ext cx="13144500" cy="39514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8700" y="6043166"/>
            <a:ext cx="1314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i="1" dirty="0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bmi · step_count · heart_rate (synthetic data sanity check)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28700" y="6172200"/>
            <a:ext cx="13144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50">
                <a:latin typeface="Malgun Gothic"/>
              </a:rPr>
              <a:t>큰 공변량 이동이 보이지 않음을 확인했습니다. 다만 실세계 성능을 보장하지 않으므로 PoC에서 외부 타당성을 별도로 검증합니다.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21740" y="7953504"/>
            <a:ext cx="628650" cy="163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63">
                <a:solidFill>
                  <a:srgbClr val="5B6773"/>
                </a:solidFill>
                <a:latin typeface="Malgun Gothi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2940" y="422835"/>
            <a:ext cx="6743700" cy="20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500" b="1" kern="0" spc="125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ko-KR" altLang="en-US" dirty="0"/>
              <a:t>부록</a:t>
            </a:r>
            <a:r>
              <a:rPr dirty="0"/>
              <a:t> A3 · FEATURE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08916"/>
            <a:ext cx="13601700" cy="53675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r>
              <a:rPr sz="3188" b="1">
                <a:solidFill>
                  <a:srgbClr val="222A36"/>
                </a:solidFill>
                <a:latin typeface="Malgun Gothic"/>
              </a:rPr>
              <a:t>핵심 3개가 규칙을 만들고, 나머지 10개는 결측에서 보완한다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" y="1892528"/>
            <a:ext cx="2628900" cy="215444"/>
          </a:xfrm>
          <a:prstGeom prst="rect">
            <a:avLst/>
          </a:prstGeom>
          <a:noFill/>
        </p:spPr>
        <p:txBody>
          <a:bodyPr wrap="square" lIns="11430" tIns="11430" rIns="11430" bIns="11430" anchor="ctr">
            <a:spAutoFit/>
          </a:bodyPr>
          <a:lstStyle/>
          <a:p>
            <a:r>
              <a:rPr sz="1250" b="1">
                <a:solidFill>
                  <a:srgbClr val="5B6773"/>
                </a:solidFill>
                <a:latin typeface="Malgun Gothic"/>
              </a:rPr>
              <a:t>Balanced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" y="2444791"/>
            <a:ext cx="2228850" cy="253916"/>
          </a:xfrm>
          <a:prstGeom prst="rect">
            <a:avLst/>
          </a:prstGeom>
          <a:noFill/>
        </p:spPr>
        <p:txBody>
          <a:bodyPr wrap="square" lIns="11430" tIns="11430" rIns="11430" bIns="11430" anchor="ctr">
            <a:spAutoFit/>
          </a:bodyPr>
          <a:lstStyle/>
          <a:p>
            <a:r>
              <a:rPr sz="1500" b="1">
                <a:solidFill>
                  <a:srgbClr val="222A36"/>
                </a:solidFill>
                <a:latin typeface="Malgun Gothic"/>
              </a:rPr>
              <a:t>핵심 3개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6150" y="2388869"/>
            <a:ext cx="10001250" cy="411480"/>
          </a:xfrm>
          <a:prstGeom prst="rect">
            <a:avLst/>
          </a:prstGeom>
          <a:solidFill>
            <a:srgbClr val="EF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50"/>
          </a:p>
        </p:txBody>
      </p:sp>
      <p:sp>
        <p:nvSpPr>
          <p:cNvPr id="8" name="Rectangle 7"/>
          <p:cNvSpPr/>
          <p:nvPr/>
        </p:nvSpPr>
        <p:spPr>
          <a:xfrm>
            <a:off x="3486151" y="2388869"/>
            <a:ext cx="9434179" cy="411480"/>
          </a:xfrm>
          <a:prstGeom prst="rect">
            <a:avLst/>
          </a:prstGeom>
          <a:solidFill>
            <a:srgbClr val="1E8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50"/>
          </a:p>
        </p:txBody>
      </p:sp>
      <p:sp>
        <p:nvSpPr>
          <p:cNvPr id="9" name="TextBox 8"/>
          <p:cNvSpPr txBox="1"/>
          <p:nvPr/>
        </p:nvSpPr>
        <p:spPr>
          <a:xfrm>
            <a:off x="13544550" y="2461109"/>
            <a:ext cx="891540" cy="2212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38" b="1">
                <a:solidFill>
                  <a:srgbClr val="1E8BCD"/>
                </a:solidFill>
                <a:latin typeface="Malgun Gothic"/>
              </a:rPr>
              <a:t>0.9433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" y="3382051"/>
            <a:ext cx="2228850" cy="253916"/>
          </a:xfrm>
          <a:prstGeom prst="rect">
            <a:avLst/>
          </a:prstGeom>
          <a:noFill/>
        </p:spPr>
        <p:txBody>
          <a:bodyPr wrap="square" lIns="11430" tIns="11430" rIns="11430" bIns="11430" anchor="ctr">
            <a:spAutoFit/>
          </a:bodyPr>
          <a:lstStyle/>
          <a:p>
            <a:r>
              <a:rPr sz="1500" b="1">
                <a:solidFill>
                  <a:srgbClr val="222A36"/>
                </a:solidFill>
                <a:latin typeface="Malgun Gothic"/>
              </a:rPr>
              <a:t>13개 전체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6150" y="3326129"/>
            <a:ext cx="10001250" cy="411480"/>
          </a:xfrm>
          <a:prstGeom prst="rect">
            <a:avLst/>
          </a:prstGeom>
          <a:solidFill>
            <a:srgbClr val="EF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50"/>
          </a:p>
        </p:txBody>
      </p:sp>
      <p:sp>
        <p:nvSpPr>
          <p:cNvPr id="12" name="Rectangle 11"/>
          <p:cNvSpPr/>
          <p:nvPr/>
        </p:nvSpPr>
        <p:spPr>
          <a:xfrm>
            <a:off x="3486150" y="3326129"/>
            <a:ext cx="9489185" cy="411480"/>
          </a:xfrm>
          <a:prstGeom prst="rect">
            <a:avLst/>
          </a:prstGeom>
          <a:solidFill>
            <a:srgbClr val="00A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50"/>
          </a:p>
        </p:txBody>
      </p:sp>
      <p:sp>
        <p:nvSpPr>
          <p:cNvPr id="13" name="TextBox 12"/>
          <p:cNvSpPr txBox="1"/>
          <p:nvPr/>
        </p:nvSpPr>
        <p:spPr>
          <a:xfrm>
            <a:off x="13544550" y="3398369"/>
            <a:ext cx="891540" cy="2212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38" b="1">
                <a:solidFill>
                  <a:srgbClr val="00A67D"/>
                </a:solidFill>
                <a:latin typeface="Malgun Gothic"/>
              </a:rPr>
              <a:t>0.9488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" y="4319311"/>
            <a:ext cx="2228850" cy="253916"/>
          </a:xfrm>
          <a:prstGeom prst="rect">
            <a:avLst/>
          </a:prstGeom>
          <a:noFill/>
        </p:spPr>
        <p:txBody>
          <a:bodyPr wrap="square" lIns="11430" tIns="11430" rIns="11430" bIns="11430" anchor="ctr">
            <a:spAutoFit/>
          </a:bodyPr>
          <a:lstStyle/>
          <a:p>
            <a:r>
              <a:rPr sz="1500" b="1">
                <a:solidFill>
                  <a:srgbClr val="222A36"/>
                </a:solidFill>
                <a:latin typeface="Malgun Gothic"/>
              </a:rPr>
              <a:t>완전 관측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86150" y="4263389"/>
            <a:ext cx="10001250" cy="411480"/>
          </a:xfrm>
          <a:prstGeom prst="rect">
            <a:avLst/>
          </a:prstGeom>
          <a:solidFill>
            <a:srgbClr val="EF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50"/>
          </a:p>
        </p:txBody>
      </p:sp>
      <p:sp>
        <p:nvSpPr>
          <p:cNvPr id="16" name="Rectangle 15"/>
          <p:cNvSpPr/>
          <p:nvPr/>
        </p:nvSpPr>
        <p:spPr>
          <a:xfrm>
            <a:off x="3486151" y="4263389"/>
            <a:ext cx="9716214" cy="411480"/>
          </a:xfrm>
          <a:prstGeom prst="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50"/>
          </a:p>
        </p:txBody>
      </p:sp>
      <p:sp>
        <p:nvSpPr>
          <p:cNvPr id="17" name="TextBox 16"/>
          <p:cNvSpPr txBox="1"/>
          <p:nvPr/>
        </p:nvSpPr>
        <p:spPr>
          <a:xfrm>
            <a:off x="13544550" y="4335629"/>
            <a:ext cx="891540" cy="2212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38" b="1">
                <a:solidFill>
                  <a:srgbClr val="222A36"/>
                </a:solidFill>
                <a:latin typeface="Malgun Gothic"/>
              </a:rPr>
              <a:t>0.9715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" y="5256572"/>
            <a:ext cx="2228850" cy="253916"/>
          </a:xfrm>
          <a:prstGeom prst="rect">
            <a:avLst/>
          </a:prstGeom>
          <a:noFill/>
        </p:spPr>
        <p:txBody>
          <a:bodyPr wrap="square" lIns="11430" tIns="11430" rIns="11430" bIns="11430" anchor="ctr">
            <a:spAutoFit/>
          </a:bodyPr>
          <a:lstStyle/>
          <a:p>
            <a:r>
              <a:rPr sz="1500" b="1">
                <a:solidFill>
                  <a:srgbClr val="222A36"/>
                </a:solidFill>
                <a:latin typeface="Malgun Gothic"/>
              </a:rPr>
              <a:t>핵심 결측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6150" y="5200650"/>
            <a:ext cx="10001250" cy="411480"/>
          </a:xfrm>
          <a:prstGeom prst="rect">
            <a:avLst/>
          </a:prstGeom>
          <a:solidFill>
            <a:srgbClr val="EF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50"/>
          </a:p>
        </p:txBody>
      </p:sp>
      <p:sp>
        <p:nvSpPr>
          <p:cNvPr id="20" name="Rectangle 19"/>
          <p:cNvSpPr/>
          <p:nvPr/>
        </p:nvSpPr>
        <p:spPr>
          <a:xfrm>
            <a:off x="3486150" y="5200650"/>
            <a:ext cx="9024128" cy="411480"/>
          </a:xfrm>
          <a:prstGeom prst="rect">
            <a:avLst/>
          </a:prstGeom>
          <a:solidFill>
            <a:srgbClr val="F2A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50"/>
          </a:p>
        </p:txBody>
      </p:sp>
      <p:sp>
        <p:nvSpPr>
          <p:cNvPr id="21" name="TextBox 20"/>
          <p:cNvSpPr txBox="1"/>
          <p:nvPr/>
        </p:nvSpPr>
        <p:spPr>
          <a:xfrm>
            <a:off x="13544550" y="5272891"/>
            <a:ext cx="891540" cy="2212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38" b="1">
                <a:solidFill>
                  <a:srgbClr val="F2A621"/>
                </a:solidFill>
                <a:latin typeface="Malgun Gothic"/>
              </a:rPr>
              <a:t>0.9023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" y="6229350"/>
            <a:ext cx="6515100" cy="708660"/>
          </a:xfrm>
          <a:prstGeom prst="roundRect">
            <a:avLst/>
          </a:prstGeom>
          <a:solidFill>
            <a:srgbClr val="E7F4FC"/>
          </a:solidFill>
          <a:ln w="10160">
            <a:solidFill>
              <a:srgbClr val="1E8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50"/>
          </a:p>
        </p:txBody>
      </p:sp>
      <p:sp>
        <p:nvSpPr>
          <p:cNvPr id="23" name="TextBox 22"/>
          <p:cNvSpPr txBox="1"/>
          <p:nvPr/>
        </p:nvSpPr>
        <p:spPr>
          <a:xfrm>
            <a:off x="1234440" y="6401384"/>
            <a:ext cx="2400300" cy="273152"/>
          </a:xfrm>
          <a:prstGeom prst="rect">
            <a:avLst/>
          </a:prstGeom>
          <a:noFill/>
        </p:spPr>
        <p:txBody>
          <a:bodyPr wrap="square" lIns="11430" tIns="11430" rIns="11430" bIns="11430" anchor="ctr">
            <a:spAutoFit/>
          </a:bodyPr>
          <a:lstStyle/>
          <a:p>
            <a:r>
              <a:rPr sz="1625" b="1">
                <a:solidFill>
                  <a:srgbClr val="1E8BCD"/>
                </a:solidFill>
                <a:latin typeface="Malgun Gothic"/>
              </a:rPr>
              <a:t>전체 평균  +0.006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6425397"/>
            <a:ext cx="3543300" cy="225126"/>
          </a:xfrm>
          <a:prstGeom prst="rect">
            <a:avLst/>
          </a:prstGeom>
          <a:noFill/>
        </p:spPr>
        <p:txBody>
          <a:bodyPr wrap="square" lIns="11430" tIns="11430" rIns="11430" bIns="11430" anchor="ctr">
            <a:spAutoFit/>
          </a:bodyPr>
          <a:lstStyle/>
          <a:p>
            <a:r>
              <a:rPr sz="1313">
                <a:solidFill>
                  <a:srgbClr val="222A36"/>
                </a:solidFill>
                <a:latin typeface="Malgun Gothic"/>
              </a:rPr>
              <a:t>프록시 10개 추가 이득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6229350"/>
            <a:ext cx="6515100" cy="70866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F2A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50"/>
          </a:p>
        </p:txBody>
      </p:sp>
      <p:sp>
        <p:nvSpPr>
          <p:cNvPr id="26" name="TextBox 25"/>
          <p:cNvSpPr txBox="1"/>
          <p:nvPr/>
        </p:nvSpPr>
        <p:spPr>
          <a:xfrm>
            <a:off x="7978140" y="6401384"/>
            <a:ext cx="2857500" cy="273152"/>
          </a:xfrm>
          <a:prstGeom prst="rect">
            <a:avLst/>
          </a:prstGeom>
          <a:noFill/>
        </p:spPr>
        <p:txBody>
          <a:bodyPr wrap="square" lIns="11430" tIns="11430" rIns="11430" bIns="11430" anchor="ctr">
            <a:spAutoFit/>
          </a:bodyPr>
          <a:lstStyle/>
          <a:p>
            <a:r>
              <a:rPr sz="1625" b="1">
                <a:solidFill>
                  <a:srgbClr val="F2A621"/>
                </a:solidFill>
                <a:latin typeface="Malgun Gothic"/>
              </a:rPr>
              <a:t>핵심 결측  +0.022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95610" y="6425397"/>
            <a:ext cx="3143250" cy="225126"/>
          </a:xfrm>
          <a:prstGeom prst="rect">
            <a:avLst/>
          </a:prstGeom>
          <a:noFill/>
        </p:spPr>
        <p:txBody>
          <a:bodyPr wrap="square" lIns="11430" tIns="11430" rIns="11430" bIns="11430" anchor="ctr">
            <a:spAutoFit/>
          </a:bodyPr>
          <a:lstStyle/>
          <a:p>
            <a:r>
              <a:rPr sz="1313">
                <a:solidFill>
                  <a:srgbClr val="222A36"/>
                </a:solidFill>
                <a:latin typeface="Malgun Gothic"/>
              </a:rPr>
              <a:t>결측 구간에서 보완 가치 4배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7040880"/>
            <a:ext cx="13864590" cy="640080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50"/>
          </a:p>
        </p:txBody>
      </p:sp>
      <p:sp>
        <p:nvSpPr>
          <p:cNvPr id="29" name="TextBox 28"/>
          <p:cNvSpPr txBox="1"/>
          <p:nvPr/>
        </p:nvSpPr>
        <p:spPr>
          <a:xfrm>
            <a:off x="914400" y="7217691"/>
            <a:ext cx="13407390" cy="263598"/>
          </a:xfrm>
          <a:prstGeom prst="rect">
            <a:avLst/>
          </a:prstGeom>
          <a:noFill/>
        </p:spPr>
        <p:txBody>
          <a:bodyPr wrap="square" lIns="11430" tIns="11430" rIns="11430" bIns="11430" anchor="ctr">
            <a:spAutoFit/>
          </a:bodyPr>
          <a:lstStyle/>
          <a:p>
            <a:pPr algn="ctr"/>
            <a:r>
              <a:rPr sz="1563" b="1">
                <a:solidFill>
                  <a:srgbClr val="FFFFFF"/>
                </a:solidFill>
                <a:latin typeface="Malgun Gothic"/>
              </a:rPr>
              <a:t>13개를 모두 쓰되 역할을 분리했다 — 3개는 주 신호, 10개는 결측 보완 프록시이며 인과효과로 해석하지 않는다.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21740" y="7953504"/>
            <a:ext cx="628650" cy="163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63">
                <a:solidFill>
                  <a:srgbClr val="5B6773"/>
                </a:solidFill>
                <a:latin typeface="Malgun Gothic"/>
              </a:rPr>
              <a:t>34</a:t>
            </a:r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9CA8E7E5-3AD5-41EC-B314-F82201D0AA0D}"/>
              </a:ext>
            </a:extLst>
          </p:cNvPr>
          <p:cNvSpPr/>
          <p:nvPr/>
        </p:nvSpPr>
        <p:spPr>
          <a:xfrm>
            <a:off x="12458700" y="365760"/>
            <a:ext cx="2205990" cy="388620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 sz="225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348DCF35-748D-43A8-9F72-0784AF5EBC8E}"/>
              </a:ext>
            </a:extLst>
          </p:cNvPr>
          <p:cNvSpPr/>
          <p:nvPr/>
        </p:nvSpPr>
        <p:spPr>
          <a:xfrm>
            <a:off x="12458700" y="365760"/>
            <a:ext cx="220599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2940" y="422835"/>
            <a:ext cx="6743700" cy="20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500" b="1" kern="0" spc="125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dirty="0" err="1"/>
              <a:t>부록</a:t>
            </a:r>
            <a:r>
              <a:rPr dirty="0"/>
              <a:t> A4-1 ·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매트릭스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908916"/>
            <a:ext cx="13601700" cy="53675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r>
              <a:rPr sz="3188" b="1">
                <a:solidFill>
                  <a:srgbClr val="222A36"/>
                </a:solidFill>
                <a:latin typeface="Malgun Gothic"/>
              </a:rPr>
              <a:t>대표 실험 — 동일 검증 체계에서 개선·실패·최종 선택을 함께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23060"/>
          <a:ext cx="1306449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실험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인코딩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피처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불균형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검증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BalancedAcc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PublicLB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학습시간(s)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zoo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OHE+Scale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기본13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100k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holdout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0.91995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0.8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zoo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HistGradientBoosting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OHE+Scale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기본13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100k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holdout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0.95183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4.2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zoo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CatBoost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OHE+Scale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기본13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100k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holdout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0.94934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38.9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N1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LightGBM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네이티브 범주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기본13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전체×5fold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0.94962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0.94952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335.0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V2-C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HistGB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서수+수치TE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+규칙피처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전체×5fold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0.95028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225.0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N2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HistGB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서수+수치TE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+규칙피처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전체×5fold×5seed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0.95051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0.94982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1200.0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N5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HistGB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서수+수치TE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+규칙피처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전체×10fold×7seed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0.95045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0.95007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3361.0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N3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HGB 3시드 보팅(폴백)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서수+수치TE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+규칙피처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전체×5fold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중첩검증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0.95026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0.95015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E7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V2-H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HistGB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서수+다중해상도TE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+거친구간 6종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전체×5fold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0.95036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500.0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V2-K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HistGB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서수+다중해상도TE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H+J 결합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전체×5fold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0.95039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541.0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Optuna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HistGB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서수+TE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K피처 (25트라이얼)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가중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20만→전체 재검증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0.95039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1500.0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N7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N5+RealMLP 블렌드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가중 0.40/0.60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중첩검증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0.95084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189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N9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3중 블렌드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N5·RMLP·K 0.15/0.57/0.28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중첩검증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0.95088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0.95089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7178040"/>
            <a:ext cx="13864590" cy="640080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50"/>
          </a:p>
        </p:txBody>
      </p:sp>
      <p:sp>
        <p:nvSpPr>
          <p:cNvPr id="7" name="TextBox 6"/>
          <p:cNvSpPr txBox="1"/>
          <p:nvPr/>
        </p:nvSpPr>
        <p:spPr>
          <a:xfrm>
            <a:off x="914400" y="7374087"/>
            <a:ext cx="13407390" cy="225126"/>
          </a:xfrm>
          <a:prstGeom prst="rect">
            <a:avLst/>
          </a:prstGeom>
          <a:noFill/>
        </p:spPr>
        <p:txBody>
          <a:bodyPr wrap="square" lIns="11430" tIns="11430" rIns="11430" bIns="11430" anchor="ctr">
            <a:spAutoFit/>
          </a:bodyPr>
          <a:lstStyle/>
          <a:p>
            <a:pPr algn="ctr"/>
            <a:r>
              <a:rPr sz="1313" b="1">
                <a:solidFill>
                  <a:srgbClr val="FFFFFF"/>
                </a:solidFill>
                <a:latin typeface="Malgun Gothic"/>
              </a:rPr>
              <a:t>40+ 전체 실험 원장은 GitHub에 보존 · 본문에는 의사결정을 바꾼 대표 실험만 압축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21740" y="7953504"/>
            <a:ext cx="628650" cy="163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63">
                <a:solidFill>
                  <a:srgbClr val="5B6773"/>
                </a:solidFill>
                <a:latin typeface="Malgun Gothic"/>
              </a:rPr>
              <a:t>35</a:t>
            </a: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D01BF6A5-1B5B-4AC9-BC98-A337E8C96029}"/>
              </a:ext>
            </a:extLst>
          </p:cNvPr>
          <p:cNvSpPr/>
          <p:nvPr/>
        </p:nvSpPr>
        <p:spPr>
          <a:xfrm>
            <a:off x="12458700" y="365760"/>
            <a:ext cx="2205990" cy="388620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 sz="225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0F75D737-DA8F-46E4-BCAB-5C6EADA29497}"/>
              </a:ext>
            </a:extLst>
          </p:cNvPr>
          <p:cNvSpPr/>
          <p:nvPr/>
        </p:nvSpPr>
        <p:spPr>
          <a:xfrm>
            <a:off x="12458700" y="365760"/>
            <a:ext cx="220599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644768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2940" y="422835"/>
            <a:ext cx="6743700" cy="20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500" b="1" kern="0" spc="125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dirty="0" err="1"/>
              <a:t>부록</a:t>
            </a:r>
            <a:r>
              <a:rPr dirty="0"/>
              <a:t> A4-2 · Kaggle </a:t>
            </a:r>
            <a:r>
              <a:rPr dirty="0" err="1"/>
              <a:t>제출</a:t>
            </a:r>
            <a:r>
              <a:rPr dirty="0"/>
              <a:t> </a:t>
            </a:r>
            <a:r>
              <a:rPr dirty="0" err="1"/>
              <a:t>원장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908916"/>
            <a:ext cx="13601700" cy="53675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r>
              <a:rPr sz="3188" b="1">
                <a:solidFill>
                  <a:srgbClr val="222A36"/>
                </a:solidFill>
                <a:latin typeface="Malgun Gothic"/>
              </a:rPr>
              <a:t>Public 결과와 출처 — 독립 성과·보정 실패·외부 제공을 구분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23060"/>
          <a:ext cx="1306449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20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실험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인코딩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피처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불균형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검증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BalancedAcc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PublicLB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학습시간(s)</a:t>
                      </a:r>
                    </a:p>
                  </a:txBody>
                  <a:tcPr marL="28575" marR="28575" marT="17145" marB="17145">
                    <a:solidFill>
                      <a:srgbClr val="22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N9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3중 블렌드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TE+표준화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N5·RMLP·K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nested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OOF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0.95088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0.95089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E8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Co_1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XGB+specialist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TE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결측 라우팅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prior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0.95009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Co_F1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dual router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TE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고위험 라우팅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calib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0.95081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Co_2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precision router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TE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소수 정밀도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calib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0.95080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Co_3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RealMLP router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TE+scale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독립 다양성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weighted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0.95092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Co_5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HGB pipeline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exact TE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수면·물·활동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balanced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0.95104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Co_6</a:t>
                      </a:r>
                    </a:p>
                  </a:txBody>
                  <a:tcPr marL="28575" marR="28575" marT="17145" marB="17145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prior diversity</a:t>
                      </a:r>
                    </a:p>
                  </a:txBody>
                  <a:tcPr marL="28575" marR="28575" marT="17145" marB="17145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TE</a:t>
                      </a:r>
                    </a:p>
                  </a:txBody>
                  <a:tcPr marL="28575" marR="28575" marT="17145" marB="17145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class prior</a:t>
                      </a:r>
                    </a:p>
                  </a:txBody>
                  <a:tcPr marL="28575" marR="28575" marT="17145" marB="17145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prior</a:t>
                      </a:r>
                    </a:p>
                  </a:txBody>
                  <a:tcPr marL="28575" marR="28575" marT="17145" marB="17145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8575" marR="28575" marT="17145" marB="17145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8575" marR="28575" marT="17145" marB="17145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0.95098</a:t>
                      </a:r>
                    </a:p>
                  </a:txBody>
                  <a:tcPr marL="28575" marR="28575" marT="17145" marB="17145">
                    <a:solidFill>
                      <a:srgbClr val="FFF7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FF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Co_9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minority recovery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exact TE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소수 회수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0.95104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Co_10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5-fold consensus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exact TE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강한 합의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nested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0.95104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00A6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Co_17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wide calibration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TE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광역 보정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calib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0.95057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Co_L1~4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강공 4종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혼합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class attack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aggressive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전체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best 0.95085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best 0.95063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FD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20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A36"/>
                          </a:solidFill>
                          <a:latin typeface="Malgun Gothic"/>
                        </a:rPr>
                        <a:t>Co_16</a:t>
                      </a:r>
                    </a:p>
                  </a:txBody>
                  <a:tcPr marL="28575" marR="28575" marT="17145" marB="17145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A_F 동일</a:t>
                      </a:r>
                    </a:p>
                  </a:txBody>
                  <a:tcPr marL="28575" marR="28575" marT="17145" marB="17145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외부 제공</a:t>
                      </a:r>
                    </a:p>
                  </a:txBody>
                  <a:tcPr marL="28575" marR="28575" marT="17145" marB="17145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외부</a:t>
                      </a:r>
                    </a:p>
                  </a:txBody>
                  <a:tcPr marL="28575" marR="28575" marT="17145" marB="17145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8575" marR="28575" marT="17145" marB="17145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0.95114</a:t>
                      </a:r>
                    </a:p>
                  </a:txBody>
                  <a:tcPr marL="28575" marR="28575" marT="17145" marB="17145">
                    <a:solidFill>
                      <a:srgbClr val="EFF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A36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28575" marR="28575" marT="17145" marB="17145">
                    <a:solidFill>
                      <a:srgbClr val="EF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7178040"/>
            <a:ext cx="13864590" cy="640080"/>
          </a:xfrm>
          <a:prstGeom prst="roundRect">
            <a:avLst/>
          </a:prstGeom>
          <a:solidFill>
            <a:srgbClr val="22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50"/>
          </a:p>
        </p:txBody>
      </p:sp>
      <p:sp>
        <p:nvSpPr>
          <p:cNvPr id="7" name="TextBox 6"/>
          <p:cNvSpPr txBox="1"/>
          <p:nvPr/>
        </p:nvSpPr>
        <p:spPr>
          <a:xfrm>
            <a:off x="914400" y="7374087"/>
            <a:ext cx="13407390" cy="225126"/>
          </a:xfrm>
          <a:prstGeom prst="rect">
            <a:avLst/>
          </a:prstGeom>
          <a:noFill/>
        </p:spPr>
        <p:txBody>
          <a:bodyPr wrap="square" lIns="11430" tIns="11430" rIns="11430" bIns="11430" anchor="ctr">
            <a:spAutoFit/>
          </a:bodyPr>
          <a:lstStyle/>
          <a:p>
            <a:pPr algn="ctr"/>
            <a:r>
              <a:rPr sz="1313" b="1">
                <a:solidFill>
                  <a:srgbClr val="FFFFFF"/>
                </a:solidFill>
                <a:latin typeface="Malgun Gothic"/>
              </a:rPr>
              <a:t>발표 대표 성적 Co_10 = 0.95104 · Co_16 = 0.95114는 외부 제공물과 동일하여 성과 집계에서 제외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21740" y="7953504"/>
            <a:ext cx="628650" cy="163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63">
                <a:solidFill>
                  <a:srgbClr val="5B6773"/>
                </a:solidFill>
                <a:latin typeface="Malgun Gothic"/>
              </a:rPr>
              <a:t>36</a:t>
            </a: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66A21F03-E0DF-4C53-972A-C2B4ACA0B80C}"/>
              </a:ext>
            </a:extLst>
          </p:cNvPr>
          <p:cNvSpPr/>
          <p:nvPr/>
        </p:nvSpPr>
        <p:spPr>
          <a:xfrm>
            <a:off x="12458700" y="365760"/>
            <a:ext cx="2205990" cy="388620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 sz="225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A3FCB78C-A086-4389-AEC6-FC26F6AA2C97}"/>
              </a:ext>
            </a:extLst>
          </p:cNvPr>
          <p:cNvSpPr/>
          <p:nvPr/>
        </p:nvSpPr>
        <p:spPr>
          <a:xfrm>
            <a:off x="12458700" y="365760"/>
            <a:ext cx="220599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58700" y="365760"/>
            <a:ext cx="2205990" cy="388620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 sz="2250"/>
          </a:p>
        </p:txBody>
      </p:sp>
      <p:sp>
        <p:nvSpPr>
          <p:cNvPr id="3" name="Text 1"/>
          <p:cNvSpPr/>
          <p:nvPr/>
        </p:nvSpPr>
        <p:spPr>
          <a:xfrm>
            <a:off x="12458700" y="365760"/>
            <a:ext cx="220599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1500" y="480060"/>
            <a:ext cx="1028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125" dirty="0" err="1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500" b="1" kern="0" spc="125" dirty="0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 A5 · SHAP 상세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500" y="800100"/>
            <a:ext cx="11772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50" b="1" dirty="0">
                <a:solidFill>
                  <a:srgbClr val="222325"/>
                </a:solidFill>
                <a:latin typeface="Malgun Gothic" pitchFamily="34" charset="0"/>
                <a:ea typeface="Arial" pitchFamily="34" charset="-122"/>
                <a:cs typeface="Arial" pitchFamily="34" charset="-120"/>
              </a:rPr>
              <a:t>SHAP Beeswarm: Fit vs Unhealthy 클래스</a:t>
            </a:r>
            <a:endParaRPr lang="en-US" sz="2750" dirty="0"/>
          </a:p>
        </p:txBody>
      </p:sp>
      <p:pic>
        <p:nvPicPr>
          <p:cNvPr id="8" name="Image 0" descr="assets/shap_beeswarm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000251"/>
            <a:ext cx="6743700" cy="5711661"/>
          </a:xfrm>
          <a:prstGeom prst="rect">
            <a:avLst/>
          </a:prstGeom>
        </p:spPr>
      </p:pic>
      <p:pic>
        <p:nvPicPr>
          <p:cNvPr id="9" name="Image 1" descr="assets/shap_beeswarm_unhealt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0" y="2000251"/>
            <a:ext cx="6743700" cy="57116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0100" y="7711911"/>
            <a:ext cx="13658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i="1" dirty="0">
                <a:solidFill>
                  <a:srgbClr val="6B7280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'fit' 방향 SHAP 분포 (좌) vs 'unhealthy' 방향 SHAP 분포 (우) — 색: 피처 값 크기</a:t>
            </a:r>
            <a:endParaRPr lang="en-US" sz="1250" dirty="0"/>
          </a:p>
        </p:txBody>
      </p:sp>
      <p:sp>
        <p:nvSpPr>
          <p:cNvPr id="11" name="TextBox 10"/>
          <p:cNvSpPr txBox="1"/>
          <p:nvPr/>
        </p:nvSpPr>
        <p:spPr>
          <a:xfrm>
            <a:off x="13921740" y="7953504"/>
            <a:ext cx="628650" cy="163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63">
                <a:solidFill>
                  <a:srgbClr val="5B6773"/>
                </a:solidFill>
                <a:latin typeface="Malgun Gothic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2940" y="422835"/>
            <a:ext cx="6743700" cy="205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500" b="1" kern="0" spc="125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dirty="0" err="1"/>
              <a:t>부록</a:t>
            </a:r>
            <a:r>
              <a:rPr dirty="0"/>
              <a:t> A6 · SHAP </a:t>
            </a:r>
            <a:r>
              <a:rPr dirty="0" err="1"/>
              <a:t>상세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908915"/>
            <a:ext cx="13601700" cy="536750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r>
              <a:rPr sz="3188" b="1" dirty="0">
                <a:solidFill>
                  <a:srgbClr val="222A36"/>
                </a:solidFill>
                <a:latin typeface="Malgun Gothic"/>
              </a:rPr>
              <a:t>SHAP Summary Plot — At-risk </a:t>
            </a:r>
            <a:r>
              <a:rPr sz="3188" b="1" dirty="0" err="1">
                <a:solidFill>
                  <a:srgbClr val="222A36"/>
                </a:solidFill>
                <a:latin typeface="Malgun Gothic"/>
              </a:rPr>
              <a:t>클래스</a:t>
            </a:r>
            <a:r>
              <a:rPr sz="3188" b="1" dirty="0">
                <a:solidFill>
                  <a:srgbClr val="222A36"/>
                </a:solidFill>
                <a:latin typeface="Malgun Gothic"/>
              </a:rPr>
              <a:t> </a:t>
            </a:r>
            <a:r>
              <a:rPr sz="3188" b="1" dirty="0" err="1">
                <a:solidFill>
                  <a:srgbClr val="222A36"/>
                </a:solidFill>
                <a:latin typeface="Malgun Gothic"/>
              </a:rPr>
              <a:t>상세</a:t>
            </a:r>
            <a:r>
              <a:rPr sz="3188" b="1" dirty="0">
                <a:solidFill>
                  <a:srgbClr val="222A36"/>
                </a:solidFill>
                <a:latin typeface="Malgun Gothic"/>
              </a:rPr>
              <a:t> </a:t>
            </a:r>
            <a:r>
              <a:rPr sz="3188" b="1" dirty="0" err="1">
                <a:solidFill>
                  <a:srgbClr val="222A36"/>
                </a:solidFill>
                <a:latin typeface="Malgun Gothic"/>
              </a:rPr>
              <a:t>분포</a:t>
            </a:r>
            <a:endParaRPr sz="3188" b="1" dirty="0">
              <a:solidFill>
                <a:srgbClr val="222A36"/>
              </a:solidFill>
              <a:latin typeface="Malgun Gothic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450" y="1657350"/>
            <a:ext cx="10344150" cy="5600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8750" y="7335020"/>
            <a:ext cx="12401550" cy="234680"/>
          </a:xfrm>
          <a:prstGeom prst="rect">
            <a:avLst/>
          </a:prstGeom>
          <a:noFill/>
        </p:spPr>
        <p:txBody>
          <a:bodyPr wrap="square" lIns="11430" tIns="11430" rIns="11430" bIns="11430" anchor="ctr">
            <a:spAutoFit/>
          </a:bodyPr>
          <a:lstStyle/>
          <a:p>
            <a:pPr algn="ctr"/>
            <a:r>
              <a:rPr sz="1375" b="1">
                <a:solidFill>
                  <a:srgbClr val="222A36"/>
                </a:solidFill>
                <a:latin typeface="Malgun Gothic"/>
              </a:rPr>
              <a:t>physical_activity_level · sleep_duration · stress_level이 at-risk 판정을 주도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21740" y="7953504"/>
            <a:ext cx="628650" cy="163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63">
                <a:solidFill>
                  <a:srgbClr val="5B6773"/>
                </a:solidFill>
                <a:latin typeface="Malgun Gothic"/>
              </a:rPr>
              <a:t>38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0213556F-4068-4D05-8CA3-5AB6E3735A51}"/>
              </a:ext>
            </a:extLst>
          </p:cNvPr>
          <p:cNvSpPr/>
          <p:nvPr/>
        </p:nvSpPr>
        <p:spPr>
          <a:xfrm>
            <a:off x="12458700" y="365760"/>
            <a:ext cx="2205990" cy="388620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 sz="225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1E322A3-803E-4806-BBFF-2E65DFEA57E5}"/>
              </a:ext>
            </a:extLst>
          </p:cNvPr>
          <p:cNvSpPr/>
          <p:nvPr/>
        </p:nvSpPr>
        <p:spPr>
          <a:xfrm>
            <a:off x="12458700" y="365760"/>
            <a:ext cx="220599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708660" y="502920"/>
            <a:ext cx="7543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b="1" kern="0" spc="125" dirty="0" err="1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altLang="ko-KR" sz="1500" b="1" kern="0" spc="125" dirty="0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 A7 · </a:t>
            </a:r>
            <a:r>
              <a:rPr lang="en-US" sz="1500" b="1" kern="0" spc="125" dirty="0">
                <a:solidFill>
                  <a:srgbClr val="2E93D6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EVIDENCE</a:t>
            </a:r>
          </a:p>
        </p:txBody>
      </p:sp>
      <p:sp>
        <p:nvSpPr>
          <p:cNvPr id="11" name="Text 9"/>
          <p:cNvSpPr/>
          <p:nvPr/>
        </p:nvSpPr>
        <p:spPr>
          <a:xfrm>
            <a:off x="685800" y="891540"/>
            <a:ext cx="1303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수면이 짧을수록 </a:t>
            </a:r>
            <a:r>
              <a:rPr lang="en-US" sz="425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r>
              <a:rPr lang="en-US" sz="4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425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</a:t>
            </a:r>
            <a:endParaRPr lang="en-US" sz="425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numeric_by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2902"/>
            <a:ext cx="9258300" cy="4429596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9944100" y="1965960"/>
            <a:ext cx="46291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75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수면 시간</a:t>
            </a:r>
            <a:endParaRPr lang="en-US" sz="1875" dirty="0"/>
          </a:p>
        </p:txBody>
      </p:sp>
      <p:sp>
        <p:nvSpPr>
          <p:cNvPr id="15" name="Shape 12"/>
          <p:cNvSpPr/>
          <p:nvPr/>
        </p:nvSpPr>
        <p:spPr>
          <a:xfrm>
            <a:off x="9944100" y="2457450"/>
            <a:ext cx="4629150" cy="1051560"/>
          </a:xfrm>
          <a:prstGeom prst="roundRect">
            <a:avLst>
              <a:gd name="adj" fmla="val 9783"/>
            </a:avLst>
          </a:prstGeom>
          <a:solidFill>
            <a:srgbClr val="E1F3ED"/>
          </a:solidFill>
          <a:ln/>
        </p:spPr>
        <p:txBody>
          <a:bodyPr/>
          <a:lstStyle/>
          <a:p>
            <a:endParaRPr sz="2250"/>
          </a:p>
        </p:txBody>
      </p:sp>
      <p:sp>
        <p:nvSpPr>
          <p:cNvPr id="16" name="Shape 13"/>
          <p:cNvSpPr/>
          <p:nvPr/>
        </p:nvSpPr>
        <p:spPr>
          <a:xfrm>
            <a:off x="10229850" y="2846070"/>
            <a:ext cx="251460" cy="251460"/>
          </a:xfrm>
          <a:prstGeom prst="ellipse">
            <a:avLst/>
          </a:prstGeom>
          <a:solidFill>
            <a:srgbClr val="009E73"/>
          </a:solidFill>
          <a:ln/>
        </p:spPr>
        <p:txBody>
          <a:bodyPr/>
          <a:lstStyle/>
          <a:p>
            <a:endParaRPr sz="2250"/>
          </a:p>
        </p:txBody>
      </p:sp>
      <p:sp>
        <p:nvSpPr>
          <p:cNvPr id="17" name="Text 14"/>
          <p:cNvSpPr/>
          <p:nvPr/>
        </p:nvSpPr>
        <p:spPr>
          <a:xfrm>
            <a:off x="10572750" y="2594610"/>
            <a:ext cx="2743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8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</a:t>
            </a:r>
            <a:endParaRPr lang="en-US" sz="1688" dirty="0"/>
          </a:p>
        </p:txBody>
      </p:sp>
      <p:sp>
        <p:nvSpPr>
          <p:cNvPr id="18" name="Text 15"/>
          <p:cNvSpPr/>
          <p:nvPr/>
        </p:nvSpPr>
        <p:spPr>
          <a:xfrm>
            <a:off x="10572750" y="293751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7.95h</a:t>
            </a:r>
            <a:endParaRPr lang="en-US" sz="2750" dirty="0"/>
          </a:p>
        </p:txBody>
      </p:sp>
      <p:sp>
        <p:nvSpPr>
          <p:cNvPr id="19" name="Shape 16"/>
          <p:cNvSpPr/>
          <p:nvPr/>
        </p:nvSpPr>
        <p:spPr>
          <a:xfrm>
            <a:off x="9944100" y="3646170"/>
            <a:ext cx="4629150" cy="1051560"/>
          </a:xfrm>
          <a:prstGeom prst="roundRect">
            <a:avLst>
              <a:gd name="adj" fmla="val 9783"/>
            </a:avLst>
          </a:prstGeom>
          <a:solidFill>
            <a:srgbClr val="FBEFD9"/>
          </a:solidFill>
          <a:ln/>
        </p:spPr>
        <p:txBody>
          <a:bodyPr/>
          <a:lstStyle/>
          <a:p>
            <a:endParaRPr sz="2250"/>
          </a:p>
        </p:txBody>
      </p:sp>
      <p:sp>
        <p:nvSpPr>
          <p:cNvPr id="20" name="Shape 17"/>
          <p:cNvSpPr/>
          <p:nvPr/>
        </p:nvSpPr>
        <p:spPr>
          <a:xfrm>
            <a:off x="10229850" y="4034790"/>
            <a:ext cx="251460" cy="251460"/>
          </a:xfrm>
          <a:prstGeom prst="ellipse">
            <a:avLst/>
          </a:prstGeom>
          <a:solidFill>
            <a:srgbClr val="E69F00"/>
          </a:solidFill>
          <a:ln/>
        </p:spPr>
        <p:txBody>
          <a:bodyPr/>
          <a:lstStyle/>
          <a:p>
            <a:endParaRPr sz="2250"/>
          </a:p>
        </p:txBody>
      </p:sp>
      <p:sp>
        <p:nvSpPr>
          <p:cNvPr id="21" name="Text 18"/>
          <p:cNvSpPr/>
          <p:nvPr/>
        </p:nvSpPr>
        <p:spPr>
          <a:xfrm>
            <a:off x="10572750" y="3783330"/>
            <a:ext cx="2743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8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</a:t>
            </a:r>
            <a:endParaRPr lang="en-US" sz="1688" dirty="0"/>
          </a:p>
        </p:txBody>
      </p:sp>
      <p:sp>
        <p:nvSpPr>
          <p:cNvPr id="22" name="Text 19"/>
          <p:cNvSpPr/>
          <p:nvPr/>
        </p:nvSpPr>
        <p:spPr>
          <a:xfrm>
            <a:off x="10572750" y="412623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7.09h</a:t>
            </a:r>
            <a:endParaRPr lang="en-US" sz="2750" dirty="0"/>
          </a:p>
        </p:txBody>
      </p:sp>
      <p:sp>
        <p:nvSpPr>
          <p:cNvPr id="23" name="Shape 20"/>
          <p:cNvSpPr/>
          <p:nvPr/>
        </p:nvSpPr>
        <p:spPr>
          <a:xfrm>
            <a:off x="9944100" y="4834890"/>
            <a:ext cx="4629150" cy="1051560"/>
          </a:xfrm>
          <a:prstGeom prst="roundRect">
            <a:avLst>
              <a:gd name="adj" fmla="val 9783"/>
            </a:avLst>
          </a:prstGeom>
          <a:solidFill>
            <a:srgbClr val="FBE9DD"/>
          </a:solidFill>
          <a:ln/>
        </p:spPr>
        <p:txBody>
          <a:bodyPr/>
          <a:lstStyle/>
          <a:p>
            <a:endParaRPr sz="2250"/>
          </a:p>
        </p:txBody>
      </p:sp>
      <p:sp>
        <p:nvSpPr>
          <p:cNvPr id="24" name="Shape 21"/>
          <p:cNvSpPr/>
          <p:nvPr/>
        </p:nvSpPr>
        <p:spPr>
          <a:xfrm>
            <a:off x="10229850" y="5223510"/>
            <a:ext cx="251460" cy="251460"/>
          </a:xfrm>
          <a:prstGeom prst="ellipse">
            <a:avLst/>
          </a:prstGeom>
          <a:solidFill>
            <a:srgbClr val="D55E00"/>
          </a:solidFill>
          <a:ln/>
        </p:spPr>
        <p:txBody>
          <a:bodyPr/>
          <a:lstStyle/>
          <a:p>
            <a:endParaRPr sz="2250"/>
          </a:p>
        </p:txBody>
      </p:sp>
      <p:sp>
        <p:nvSpPr>
          <p:cNvPr id="25" name="Text 22"/>
          <p:cNvSpPr/>
          <p:nvPr/>
        </p:nvSpPr>
        <p:spPr>
          <a:xfrm>
            <a:off x="10572750" y="4972050"/>
            <a:ext cx="2743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8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</a:t>
            </a:r>
            <a:endParaRPr lang="en-US" sz="1688" dirty="0"/>
          </a:p>
        </p:txBody>
      </p:sp>
      <p:sp>
        <p:nvSpPr>
          <p:cNvPr id="26" name="Text 23"/>
          <p:cNvSpPr/>
          <p:nvPr/>
        </p:nvSpPr>
        <p:spPr>
          <a:xfrm>
            <a:off x="10572750" y="531495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5.37h</a:t>
            </a:r>
            <a:endParaRPr lang="en-US" sz="2750" dirty="0"/>
          </a:p>
        </p:txBody>
      </p:sp>
      <p:sp>
        <p:nvSpPr>
          <p:cNvPr id="27" name="Shape 24"/>
          <p:cNvSpPr/>
          <p:nvPr/>
        </p:nvSpPr>
        <p:spPr>
          <a:xfrm>
            <a:off x="9944100" y="6057900"/>
            <a:ext cx="4629150" cy="1143000"/>
          </a:xfrm>
          <a:prstGeom prst="roundRect">
            <a:avLst>
              <a:gd name="adj" fmla="val 9000"/>
            </a:avLst>
          </a:prstGeom>
          <a:solidFill>
            <a:srgbClr val="FBEFD9"/>
          </a:solidFill>
          <a:ln/>
        </p:spPr>
        <p:txBody>
          <a:bodyPr/>
          <a:lstStyle/>
          <a:p>
            <a:endParaRPr sz="2250"/>
          </a:p>
        </p:txBody>
      </p:sp>
      <p:sp>
        <p:nvSpPr>
          <p:cNvPr id="28" name="Text 25"/>
          <p:cNvSpPr/>
          <p:nvPr/>
        </p:nvSpPr>
        <p:spPr>
          <a:xfrm>
            <a:off x="10229850" y="61950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63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 = medium → at-risk  </a:t>
            </a:r>
            <a:r>
              <a:rPr lang="en-US" sz="25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99.4%</a:t>
            </a:r>
            <a:endParaRPr lang="en-US" sz="1563" dirty="0"/>
          </a:p>
        </p:txBody>
      </p:sp>
      <p:sp>
        <p:nvSpPr>
          <p:cNvPr id="29" name="Text 26"/>
          <p:cNvSpPr/>
          <p:nvPr/>
        </p:nvSpPr>
        <p:spPr>
          <a:xfrm>
            <a:off x="10229850" y="6697980"/>
            <a:ext cx="4114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38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 등급만으로 거의 완벽히 분리</a:t>
            </a:r>
            <a:endParaRPr lang="en-US" sz="1438" dirty="0"/>
          </a:p>
        </p:txBody>
      </p:sp>
      <p:sp>
        <p:nvSpPr>
          <p:cNvPr id="30" name="Text 27"/>
          <p:cNvSpPr/>
          <p:nvPr/>
        </p:nvSpPr>
        <p:spPr>
          <a:xfrm>
            <a:off x="457200" y="7086600"/>
            <a:ext cx="925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63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 평균 수면은 5.4시간 — fit(8.0h)과 뚜렷이 갈립니다. 생활 신호가 등급을 가릅니다.</a:t>
            </a:r>
            <a:endParaRPr lang="en-US" sz="1563" dirty="0"/>
          </a:p>
        </p:txBody>
      </p:sp>
      <p:sp>
        <p:nvSpPr>
          <p:cNvPr id="31" name="TextBox 30"/>
          <p:cNvSpPr txBox="1"/>
          <p:nvPr/>
        </p:nvSpPr>
        <p:spPr>
          <a:xfrm>
            <a:off x="13921740" y="7953504"/>
            <a:ext cx="628650" cy="163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63">
                <a:solidFill>
                  <a:srgbClr val="5B6773"/>
                </a:solidFill>
                <a:latin typeface="Malgun Gothic"/>
              </a:rPr>
              <a:t>39</a:t>
            </a:r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546CE1A5-AB53-417D-AC18-0532E6CC5C59}"/>
              </a:ext>
            </a:extLst>
          </p:cNvPr>
          <p:cNvSpPr/>
          <p:nvPr/>
        </p:nvSpPr>
        <p:spPr>
          <a:xfrm>
            <a:off x="12458700" y="365760"/>
            <a:ext cx="2205990" cy="388620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 sz="225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BF5FB214-82AF-4201-9F05-CA47465994E3}"/>
              </a:ext>
            </a:extLst>
          </p:cNvPr>
          <p:cNvSpPr/>
          <p:nvPr/>
        </p:nvSpPr>
        <p:spPr>
          <a:xfrm>
            <a:off x="12458700" y="365760"/>
            <a:ext cx="220599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81433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4803</Words>
  <Application>Microsoft Office PowerPoint</Application>
  <PresentationFormat>사용자 지정</PresentationFormat>
  <Paragraphs>1133</Paragraphs>
  <Slides>39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5" baseType="lpstr">
      <vt:lpstr>Noto Sans KR</vt:lpstr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중진공23</cp:lastModifiedBy>
  <cp:revision>2</cp:revision>
  <dcterms:created xsi:type="dcterms:W3CDTF">2026-07-15T05:08:45Z</dcterms:created>
  <dcterms:modified xsi:type="dcterms:W3CDTF">2026-07-15T05:21:21Z</dcterms:modified>
</cp:coreProperties>
</file>