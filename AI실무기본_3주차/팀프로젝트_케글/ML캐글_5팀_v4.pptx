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86" r:id="rId3"/>
    <p:sldId id="258" r:id="rId4"/>
    <p:sldId id="259" r:id="rId5"/>
    <p:sldId id="260" r:id="rId6"/>
    <p:sldId id="261" r:id="rId7"/>
    <p:sldId id="288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89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90" r:id="rId32"/>
    <p:sldId id="291" r:id="rId33"/>
    <p:sldId id="292" r:id="rId34"/>
    <p:sldId id="293" r:id="rId35"/>
    <p:sldId id="296" r:id="rId36"/>
    <p:sldId id="300" r:id="rId48"/>
    <p:sldId id="295" r:id="rId37"/>
    <p:sldId id="287" r:id="rId38"/>
    <p:sldId id="269" r:id="rId3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43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40.xml"/><Relationship Id="rId38" Type="http://schemas.openxmlformats.org/officeDocument/2006/relationships/slide" Target="slides/slide41.xml"/><Relationship Id="rId39" Type="http://schemas.openxmlformats.org/officeDocument/2006/relationships/slide" Target="slides/slide42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8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34479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8616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61266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29854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55681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github.com/yw8837/kaggle-student-health-risk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8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9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0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39428" y="978408"/>
            <a:ext cx="1746504" cy="5312664"/>
          </a:xfrm>
          <a:prstGeom prst="roundRect">
            <a:avLst>
              <a:gd name="adj" fmla="val 9424"/>
            </a:avLst>
          </a:prstGeom>
          <a:solidFill>
            <a:srgbClr val="2B313E"/>
          </a:solidFill>
          <a:ln w="15875">
            <a:solidFill>
              <a:srgbClr val="3B4354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395460" y="1234440"/>
            <a:ext cx="1234440" cy="1234440"/>
          </a:xfrm>
          <a:prstGeom prst="ellipse">
            <a:avLst/>
          </a:prstGeom>
          <a:solidFill>
            <a:srgbClr val="D55E00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395460" y="3017520"/>
            <a:ext cx="1234440" cy="1234440"/>
          </a:xfrm>
          <a:prstGeom prst="ellipse">
            <a:avLst/>
          </a:prstGeom>
          <a:solidFill>
            <a:srgbClr val="E69F00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395460" y="4800600"/>
            <a:ext cx="1234440" cy="1234440"/>
          </a:xfrm>
          <a:prstGeom prst="ellipse">
            <a:avLst/>
          </a:prstGeom>
          <a:solidFill>
            <a:srgbClr val="009E73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13258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69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 SIGNAL  ·  플랫폼 제안서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86384" y="18288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건강신호등</a:t>
            </a:r>
            <a:endParaRPr lang="en-US" sz="6200" dirty="0"/>
          </a:p>
        </p:txBody>
      </p:sp>
      <p:sp>
        <p:nvSpPr>
          <p:cNvPr id="8" name="Text 6"/>
          <p:cNvSpPr/>
          <p:nvPr/>
        </p:nvSpPr>
        <p:spPr>
          <a:xfrm>
            <a:off x="822960" y="29992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 Signal Platform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36758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8EB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학생의 작은 생활신호를 필요한 건강지원으로 연결합니다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422452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Malgun Gothic"/>
              </a:rPr>
              <a:t>3등급 신호등 자동 분류   ·   Public Balanced Accuracy 0.95104</a:t>
            </a:r>
          </a:p>
        </p:txBody>
      </p:sp>
      <p:sp>
        <p:nvSpPr>
          <p:cNvPr id="11" name="Shape 9"/>
          <p:cNvSpPr/>
          <p:nvPr/>
        </p:nvSpPr>
        <p:spPr>
          <a:xfrm>
            <a:off x="859536" y="5120640"/>
            <a:ext cx="3657600" cy="0"/>
          </a:xfrm>
          <a:prstGeom prst="line">
            <a:avLst/>
          </a:prstGeom>
          <a:noFill/>
          <a:ln w="19050">
            <a:solidFill>
              <a:srgbClr val="3B4354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532180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D7E0E7"/>
                </a:solidFill>
                <a:latin typeface="Malgun Gothic"/>
              </a:rPr>
              <a:t>[ML캐글_5팀 / 정소미, 박종형, 최용우, 오헌제, 오준석]</a:t>
            </a:r>
          </a:p>
        </p:txBody>
      </p:sp>
      <p:sp>
        <p:nvSpPr>
          <p:cNvPr id="13" name="Text 11"/>
          <p:cNvSpPr/>
          <p:nvPr/>
        </p:nvSpPr>
        <p:spPr>
          <a:xfrm>
            <a:off x="822960" y="574243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2026. 07. 15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92608"/>
            <a:ext cx="5394960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07E62"/>
                </a:solidFill>
                <a:latin typeface="Malgun Gothic"/>
              </a:rPr>
              <a:t>EXECUTIVE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603504"/>
            <a:ext cx="10881360" cy="6766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222A36"/>
                </a:solidFill>
                <a:latin typeface="Malgun Gothic"/>
              </a:rPr>
              <a:t>전수 확인을 멈추고, 위험 신호를 24시간 안에 지원으로 연결한다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53312"/>
            <a:ext cx="11018520" cy="4389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B6773"/>
                </a:solidFill>
                <a:latin typeface="Malgun Gothic"/>
              </a:rPr>
              <a:t>건강신호등은 13개 생활 데이터를 3등급 작업 큐로 바꾸고, 상담이 끝날 때까지 D1·D7·D14로 추적한다.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920240"/>
            <a:ext cx="3493008" cy="22494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F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20240"/>
            <a:ext cx="64008" cy="2249424"/>
          </a:xfrm>
          <a:prstGeom prst="rect">
            <a:avLst/>
          </a:prstGeom>
          <a:solidFill>
            <a:srgbClr val="F2A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2011680"/>
            <a:ext cx="3218688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2A621"/>
                </a:solidFill>
                <a:latin typeface="Malgun Gothic"/>
              </a:rPr>
              <a:t>사람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2286000"/>
            <a:ext cx="3218688" cy="4389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22A36"/>
                </a:solidFill>
                <a:latin typeface="Malgun Gothic"/>
              </a:rPr>
              <a:t>전수 검토 → 우선순위 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2761488"/>
            <a:ext cx="3218688" cy="12984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5B6773"/>
                </a:solidFill>
                <a:latin typeface="Malgun Gothic"/>
              </a:rPr>
              <a:t>상담사는 Red부터 처리하고, 위험 근거는 SHAP 상위 3개로 함께 확인한다.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920240"/>
            <a:ext cx="3493008" cy="22494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F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920240"/>
            <a:ext cx="64008" cy="2249424"/>
          </a:xfrm>
          <a:prstGeom prst="rect">
            <a:avLst/>
          </a:prstGeom>
          <a:solidFill>
            <a:srgbClr val="00A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3128" y="2011680"/>
            <a:ext cx="3218688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A67D"/>
                </a:solidFill>
                <a:latin typeface="Malgun Gothic"/>
              </a:rPr>
              <a:t>학생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2286000"/>
            <a:ext cx="3218688" cy="4389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22A36"/>
                </a:solidFill>
                <a:latin typeface="Malgun Gothic"/>
              </a:rPr>
              <a:t>사후 방문 → 선제 지원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3128" y="2761488"/>
            <a:ext cx="3218688" cy="12984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5B6773"/>
                </a:solidFill>
                <a:latin typeface="Malgun Gothic"/>
              </a:rPr>
              <a:t>수면·스트레스·활동 신호에 맞춘 행동을 바로 배정하고 14일 뒤 변화를 재측정한다.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1" y="1920240"/>
            <a:ext cx="3493008" cy="22494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F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28431" y="1920240"/>
            <a:ext cx="64008" cy="2249424"/>
          </a:xfrm>
          <a:prstGeom prst="rect">
            <a:avLst/>
          </a:prstGeom>
          <a:solidFill>
            <a:srgbClr val="1E8B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79" y="2011680"/>
            <a:ext cx="3218688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E8BCD"/>
                </a:solidFill>
                <a:latin typeface="Malgun Gothic"/>
              </a:rPr>
              <a:t>운영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286000"/>
            <a:ext cx="3218688" cy="4389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22A36"/>
                </a:solidFill>
                <a:latin typeface="Malgun Gothic"/>
              </a:rPr>
              <a:t>일회성 판정 → 닫힌 루프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2761488"/>
            <a:ext cx="3218688" cy="12984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5B6773"/>
                </a:solidFill>
                <a:latin typeface="Malgun Gothic"/>
              </a:rPr>
              <a:t>미응답·재악화·동의 철회까지 상태값으로 남겨 다음 행동과 A/S를 자동 갱신한다.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462272"/>
            <a:ext cx="11018520" cy="804672"/>
          </a:xfrm>
          <a:prstGeom prst="roundRect">
            <a:avLst/>
          </a:prstGeom>
          <a:solidFill>
            <a:srgbClr val="E8F7F1"/>
          </a:solidFill>
          <a:ln w="10160">
            <a:solidFill>
              <a:srgbClr val="00A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4590288"/>
            <a:ext cx="1417320" cy="29260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7E62"/>
                </a:solidFill>
                <a:latin typeface="Malgun Gothic"/>
              </a:rPr>
              <a:t>의사결정 요청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4517136"/>
            <a:ext cx="9006840" cy="4389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22A36"/>
                </a:solidFill>
                <a:latin typeface="Malgun Gothic"/>
              </a:rPr>
              <a:t>동의자 대상 8주 파일럿 승인  ·  상담 수용량 기반 운영  ·  KPI 미달 시 확대 중단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632704"/>
            <a:ext cx="11091672" cy="512064"/>
          </a:xfrm>
          <a:prstGeom prst="roundRect">
            <a:avLst/>
          </a:prstGeom>
          <a:solidFill>
            <a:srgbClr val="22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660136"/>
            <a:ext cx="10725912" cy="4389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algun Gothic"/>
              </a:rPr>
              <a:t>예측이 끝이 아니다 — 누가·언제·무엇을 하고, 효과가 없을 때 어떻게 다시 연결할지까지 운영한다.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37392" y="6318504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B6773"/>
                </a:solidFill>
                <a:latin typeface="Malgun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92608"/>
            <a:ext cx="5394960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07E62"/>
                </a:solidFill>
                <a:latin typeface="Malgun Gothic"/>
              </a:rPr>
              <a:t>WHY NOW · CAPACITY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603504"/>
            <a:ext cx="10881360" cy="6766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222A36"/>
                </a:solidFill>
                <a:latin typeface="Malgun Gothic"/>
              </a:rPr>
              <a:t>병목은 학생 수가 아니라 ‘누구를 먼저 볼 것인가’다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1481328"/>
            <a:ext cx="5349240" cy="3822191"/>
          </a:xfrm>
          <a:prstGeom prst="roundRect">
            <a:avLst/>
          </a:prstGeom>
          <a:solidFill>
            <a:srgbClr val="F8F9FA"/>
          </a:solidFill>
          <a:ln w="10160">
            <a:solidFill>
              <a:srgbClr val="EF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1737360"/>
            <a:ext cx="2194560" cy="32004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7E62"/>
                </a:solidFill>
                <a:latin typeface="Malgun Gothic"/>
              </a:rPr>
              <a:t>전수 검토 업무량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130552"/>
            <a:ext cx="4663440" cy="50292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22A36"/>
                </a:solidFill>
                <a:latin typeface="Malgun Gothic"/>
              </a:rPr>
              <a:t>대상 학생 수 × 1인 검토시간 × 조사 빈도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761488"/>
            <a:ext cx="4617720" cy="73152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3"/>
                </a:solidFill>
                <a:latin typeface="Malgun Gothic"/>
              </a:rPr>
              <a:t>학생 수가 늘수록 반복 검토·초과근무·대기시간이 함께 늘지만, 실제 우선 개입 대상은 전체가 아니다.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49039"/>
            <a:ext cx="4617720" cy="1115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2A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3886200"/>
            <a:ext cx="1143000" cy="27432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2A621"/>
                </a:solidFill>
                <a:latin typeface="Malgun Gothic"/>
              </a:rPr>
              <a:t>운영 전환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4187952"/>
            <a:ext cx="4160520" cy="4389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22A36"/>
                </a:solidFill>
                <a:latin typeface="Malgun Gothic"/>
              </a:rPr>
              <a:t>전수 검토 시간을 Red·Amber 대응 시간으로 재배분</a:t>
            </a:r>
          </a:p>
        </p:txBody>
      </p:sp>
      <p:pic>
        <p:nvPicPr>
          <p:cNvPr id="20" name="Picture 19" descr="class_bal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1508760"/>
            <a:ext cx="5120640" cy="307238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36792" y="4663440"/>
            <a:ext cx="4892040" cy="32004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22A36"/>
                </a:solidFill>
                <a:latin typeface="Malgun Gothic"/>
              </a:rPr>
              <a:t>약 86% at-risk · 약 8% unhealthy · 약 6% fit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6792" y="4983480"/>
            <a:ext cx="4892040" cy="38404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773"/>
                </a:solidFill>
                <a:latin typeface="Malgun Gothic"/>
              </a:rPr>
              <a:t>불균형이 크므로 정확도 대신 Balanced Accuracy와 클래스별 recall로 운영 품질을 확인한다.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632704"/>
            <a:ext cx="11091672" cy="512064"/>
          </a:xfrm>
          <a:prstGeom prst="roundRect">
            <a:avLst/>
          </a:prstGeom>
          <a:solidFill>
            <a:srgbClr val="22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660136"/>
            <a:ext cx="10725912" cy="4389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algun Gothic"/>
              </a:rPr>
              <a:t>인력을 바로 늘릴 수 없다면, 같은 인력으로 위험 신호를 먼저 보는 배분 체계를 바꿔야 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37392" y="6318504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B6773"/>
                </a:solidFill>
                <a:latin typeface="Malgun Gothic"/>
              </a:rPr>
              <a:t>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60920" y="137160"/>
            <a:ext cx="107899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1">
                <a:solidFill>
                  <a:srgbClr val="222A36"/>
                </a:solidFill>
                <a:latin typeface="Malgun Gothic"/>
              </a:rPr>
              <a:t>1. 제안 배경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06640" y="448056"/>
            <a:ext cx="987551" cy="41148"/>
          </a:xfrm>
          <a:prstGeom prst="rect">
            <a:avLst/>
          </a:prstGeom>
          <a:solidFill>
            <a:srgbClr val="00A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531352" y="137160"/>
            <a:ext cx="932688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5B6773"/>
                </a:solidFill>
                <a:latin typeface="Malgun Gothic"/>
              </a:rPr>
              <a:t>2. 서비스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77072" y="448056"/>
            <a:ext cx="841248" cy="41148"/>
          </a:xfrm>
          <a:prstGeom prst="rect">
            <a:avLst/>
          </a:prstGeom>
          <a:solidFill>
            <a:srgbClr val="C7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55480" y="137160"/>
            <a:ext cx="1133856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5B6773"/>
                </a:solidFill>
                <a:latin typeface="Malgun Gothic"/>
              </a:rPr>
              <a:t>3. 검증·근거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01200" y="448056"/>
            <a:ext cx="1042415" cy="41148"/>
          </a:xfrm>
          <a:prstGeom prst="rect">
            <a:avLst/>
          </a:prstGeom>
          <a:solidFill>
            <a:srgbClr val="C7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780776" y="137160"/>
            <a:ext cx="107899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5B6773"/>
                </a:solidFill>
                <a:latin typeface="Malgun Gothic"/>
              </a:rPr>
              <a:t>4. 도입 계획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826496" y="448056"/>
            <a:ext cx="987551" cy="41148"/>
          </a:xfrm>
          <a:prstGeom prst="rect">
            <a:avLst/>
          </a:prstGeom>
          <a:solidFill>
            <a:srgbClr val="C7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 DATA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쌓이는 생활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데이터가</a:t>
            </a: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출발점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548640" y="1417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설문·웨어러블로 이미 수집되는 생활 신호 </a:t>
            </a:r>
            <a:r>
              <a:rPr lang="en-US" sz="14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새 인프라 없이 바로 활용 가능한 13개 변수를 3등급 분류의 </a:t>
            </a:r>
            <a:r>
              <a:rPr lang="en-US" sz="1400" dirty="0" err="1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입력으로</a:t>
            </a:r>
            <a:r>
              <a:rPr lang="en-US" sz="14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1874520"/>
            <a:ext cx="2688336" cy="786384"/>
          </a:xfrm>
          <a:prstGeom prst="roundRect">
            <a:avLst>
              <a:gd name="adj" fmla="val 10465"/>
            </a:avLst>
          </a:prstGeom>
          <a:solidFill>
            <a:srgbClr val="F3F5F7"/>
          </a:solidFill>
          <a:ln w="12700">
            <a:solidFill>
              <a:srgbClr val="DCE1E7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49808" y="1947672"/>
            <a:ext cx="2322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690,088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58952" y="2331720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train 행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355848" y="1874520"/>
            <a:ext cx="2688336" cy="786384"/>
          </a:xfrm>
          <a:prstGeom prst="roundRect">
            <a:avLst>
              <a:gd name="adj" fmla="val 10465"/>
            </a:avLst>
          </a:prstGeom>
          <a:solidFill>
            <a:srgbClr val="F3F5F7"/>
          </a:solidFill>
          <a:ln w="12700">
            <a:solidFill>
              <a:srgbClr val="DCE1E7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557016" y="1947672"/>
            <a:ext cx="2322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295,753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566160" y="2331720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 행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63056" y="1874520"/>
            <a:ext cx="2688336" cy="786384"/>
          </a:xfrm>
          <a:prstGeom prst="roundRect">
            <a:avLst>
              <a:gd name="adj" fmla="val 10465"/>
            </a:avLst>
          </a:prstGeom>
          <a:solidFill>
            <a:srgbClr val="F3F5F7"/>
          </a:solidFill>
          <a:ln w="12700">
            <a:solidFill>
              <a:srgbClr val="DCE1E7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364224" y="1947672"/>
            <a:ext cx="2322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373368" y="2331720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피처 (수치 7 · 범주 6)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970264" y="1874520"/>
            <a:ext cx="2688336" cy="786384"/>
          </a:xfrm>
          <a:prstGeom prst="roundRect">
            <a:avLst>
              <a:gd name="adj" fmla="val 10465"/>
            </a:avLst>
          </a:prstGeom>
          <a:solidFill>
            <a:srgbClr val="F3F5F7"/>
          </a:solidFill>
          <a:ln w="12700">
            <a:solidFill>
              <a:srgbClr val="DCE1E7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171432" y="1947672"/>
            <a:ext cx="2322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180576" y="2331720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 등급 (fit·at-risk·unhealthy)</a:t>
            </a:r>
            <a:endParaRPr lang="en-US" sz="10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6423738"/>
              </p:ext>
            </p:extLst>
          </p:nvPr>
        </p:nvGraphicFramePr>
        <p:xfrm>
          <a:off x="548640" y="2898649"/>
          <a:ext cx="10652760" cy="3008376"/>
        </p:xfrm>
        <a:graphic>
          <a:graphicData uri="http://schemas.openxmlformats.org/drawingml/2006/table">
            <a:tbl>
              <a:tblPr/>
              <a:tblGrid>
                <a:gridCol w="3063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4884">
                <a:tc>
                  <a:txBody>
                    <a:bodyPr wrap="square" anchor="ctr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영문 변수명 / 한글명</a:t>
                      </a:r>
                    </a:p>
                  </a:txBody>
                  <a:tcPr marL="73152" marR="54864" marT="27432" marB="27432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A3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유형</a:t>
                      </a:r>
                    </a:p>
                  </a:txBody>
                  <a:tcPr marL="73152" marR="54864" marT="27432" marB="27432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A3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범위·범주</a:t>
                      </a:r>
                    </a:p>
                  </a:txBody>
                  <a:tcPr marL="73152" marR="54864" marT="27432" marB="27432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A3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결측률</a:t>
                      </a:r>
                    </a:p>
                  </a:txBody>
                  <a:tcPr marL="73152" marR="54864" marT="27432" marB="27432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A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884"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1">
                          <a:solidFill>
                            <a:srgbClr val="222A36"/>
                          </a:solidFill>
                          <a:latin typeface="Malgun Gothic"/>
                        </a:rPr>
                        <a:t>stress_level / 스트레스 수준</a:t>
                      </a:r>
                    </a:p>
                  </a:txBody>
                  <a:tcPr marL="73152" marR="54864" marT="27432" marB="27432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22A36"/>
                          </a:solidFill>
                          <a:latin typeface="Malgun Gothic"/>
                        </a:rPr>
                        <a:t>범주</a:t>
                      </a:r>
                    </a:p>
                  </a:txBody>
                  <a:tcPr marL="73152" marR="54864" marT="27432" marB="27432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22A36"/>
                          </a:solidFill>
                          <a:latin typeface="Malgun Gothic"/>
                        </a:rPr>
                        <a:t>스트레스 (low·med·high)</a:t>
                      </a:r>
                    </a:p>
                  </a:txBody>
                  <a:tcPr marL="73152" marR="54864" marT="27432" marB="27432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22A36"/>
                          </a:solidFill>
                          <a:latin typeface="Malgun Gothic"/>
                        </a:rPr>
                        <a:t>12.0%</a:t>
                      </a:r>
                    </a:p>
                  </a:txBody>
                  <a:tcPr marL="73152" marR="54864" marT="27432" marB="27432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884"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1">
                          <a:solidFill>
                            <a:srgbClr val="222A36"/>
                          </a:solidFill>
                          <a:latin typeface="Malgun Gothic"/>
                        </a:rPr>
                        <a:t>sleep_duration / 수면 시간</a:t>
                      </a:r>
                    </a:p>
                  </a:txBody>
                  <a:tcPr marL="73152" marR="54864" marT="27432" marB="27432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22A36"/>
                          </a:solidFill>
                          <a:latin typeface="Malgun Gothic"/>
                        </a:rPr>
                        <a:t>수치</a:t>
                      </a:r>
                    </a:p>
                  </a:txBody>
                  <a:tcPr marL="73152" marR="54864" marT="27432" marB="27432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22A36"/>
                          </a:solidFill>
                          <a:latin typeface="Malgun Gothic"/>
                        </a:rPr>
                        <a:t>수면 시간  3~10h</a:t>
                      </a:r>
                    </a:p>
                  </a:txBody>
                  <a:tcPr marL="73152" marR="54864" marT="27432" marB="27432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22A36"/>
                          </a:solidFill>
                          <a:latin typeface="Malgun Gothic"/>
                        </a:rPr>
                        <a:t>11.0%</a:t>
                      </a:r>
                    </a:p>
                  </a:txBody>
                  <a:tcPr marL="73152" marR="54864" marT="27432" marB="27432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84"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1">
                          <a:solidFill>
                            <a:srgbClr val="222A36"/>
                          </a:solidFill>
                          <a:latin typeface="Malgun Gothic"/>
                        </a:rPr>
                        <a:t>calorie_expenditure / 칼로리 소모량</a:t>
                      </a:r>
                    </a:p>
                  </a:txBody>
                  <a:tcPr marL="73152" marR="54864" marT="27432" marB="27432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22A36"/>
                          </a:solidFill>
                          <a:latin typeface="Malgun Gothic"/>
                        </a:rPr>
                        <a:t>수치</a:t>
                      </a:r>
                    </a:p>
                  </a:txBody>
                  <a:tcPr marL="73152" marR="54864" marT="27432" marB="27432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22A36"/>
                          </a:solidFill>
                          <a:latin typeface="Malgun Gothic"/>
                        </a:rPr>
                        <a:t>칼로리 소모  1200~3580</a:t>
                      </a:r>
                    </a:p>
                  </a:txBody>
                  <a:tcPr marL="73152" marR="54864" marT="27432" marB="27432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22A36"/>
                          </a:solidFill>
                          <a:latin typeface="Malgun Gothic"/>
                        </a:rPr>
                        <a:t>8.0%</a:t>
                      </a:r>
                    </a:p>
                  </a:txBody>
                  <a:tcPr marL="73152" marR="54864" marT="27432" marB="27432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884"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1">
                          <a:solidFill>
                            <a:srgbClr val="222A36"/>
                          </a:solidFill>
                          <a:latin typeface="Malgun Gothic"/>
                        </a:rPr>
                        <a:t>sleep_quality / 수면의 질</a:t>
                      </a:r>
                    </a:p>
                  </a:txBody>
                  <a:tcPr marL="73152" marR="54864" marT="27432" marB="27432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22A36"/>
                          </a:solidFill>
                          <a:latin typeface="Malgun Gothic"/>
                        </a:rPr>
                        <a:t>범주</a:t>
                      </a:r>
                    </a:p>
                  </a:txBody>
                  <a:tcPr marL="73152" marR="54864" marT="27432" marB="27432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22A36"/>
                          </a:solidFill>
                          <a:latin typeface="Malgun Gothic"/>
                        </a:rPr>
                        <a:t>수면 질</a:t>
                      </a:r>
                    </a:p>
                  </a:txBody>
                  <a:tcPr marL="73152" marR="54864" marT="27432" marB="27432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22A36"/>
                          </a:solidFill>
                          <a:latin typeface="Malgun Gothic"/>
                        </a:rPr>
                        <a:t>8.0%</a:t>
                      </a:r>
                    </a:p>
                  </a:txBody>
                  <a:tcPr marL="73152" marR="54864" marT="27432" marB="27432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4884"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1">
                          <a:solidFill>
                            <a:srgbClr val="222A36"/>
                          </a:solidFill>
                          <a:latin typeface="Malgun Gothic"/>
                        </a:rPr>
                        <a:t>water_intake / 수분 섭취량</a:t>
                      </a:r>
                    </a:p>
                  </a:txBody>
                  <a:tcPr marL="73152" marR="54864" marT="27432" marB="27432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22A36"/>
                          </a:solidFill>
                          <a:latin typeface="Malgun Gothic"/>
                        </a:rPr>
                        <a:t>수치</a:t>
                      </a:r>
                    </a:p>
                  </a:txBody>
                  <a:tcPr marL="73152" marR="54864" marT="27432" marB="27432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22A36"/>
                          </a:solidFill>
                          <a:latin typeface="Malgun Gothic"/>
                        </a:rPr>
                        <a:t>물 섭취  0.5~4.7L</a:t>
                      </a:r>
                    </a:p>
                  </a:txBody>
                  <a:tcPr marL="73152" marR="54864" marT="27432" marB="27432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22A36"/>
                          </a:solidFill>
                          <a:latin typeface="Malgun Gothic"/>
                        </a:rPr>
                        <a:t>6.0%</a:t>
                      </a:r>
                    </a:p>
                  </a:txBody>
                  <a:tcPr marL="73152" marR="54864" marT="27432" marB="27432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4884"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1">
                          <a:solidFill>
                            <a:srgbClr val="222A36"/>
                          </a:solidFill>
                          <a:latin typeface="Malgun Gothic"/>
                        </a:rPr>
                        <a:t>physical_activity_level / 신체 활동 수준</a:t>
                      </a:r>
                    </a:p>
                  </a:txBody>
                  <a:tcPr marL="73152" marR="54864" marT="27432" marB="27432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22A36"/>
                          </a:solidFill>
                          <a:latin typeface="Malgun Gothic"/>
                        </a:rPr>
                        <a:t>범주</a:t>
                      </a:r>
                    </a:p>
                  </a:txBody>
                  <a:tcPr marL="73152" marR="54864" marT="27432" marB="27432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22A36"/>
                          </a:solidFill>
                          <a:latin typeface="Malgun Gothic"/>
                        </a:rPr>
                        <a:t>활동 수준</a:t>
                      </a:r>
                    </a:p>
                  </a:txBody>
                  <a:tcPr marL="73152" marR="54864" marT="27432" marB="27432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22A36"/>
                          </a:solidFill>
                          <a:latin typeface="Malgun Gothic"/>
                        </a:rPr>
                        <a:t>5.0%</a:t>
                      </a:r>
                    </a:p>
                  </a:txBody>
                  <a:tcPr marL="73152" marR="54864" marT="27432" marB="27432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4884"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1">
                          <a:solidFill>
                            <a:srgbClr val="222A36"/>
                          </a:solidFill>
                          <a:latin typeface="Malgun Gothic"/>
                        </a:rPr>
                        <a:t>smoking_alcohol / 흡연·음주 여부</a:t>
                      </a:r>
                    </a:p>
                  </a:txBody>
                  <a:tcPr marL="73152" marR="54864" marT="27432" marB="27432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22A36"/>
                          </a:solidFill>
                          <a:latin typeface="Malgun Gothic"/>
                        </a:rPr>
                        <a:t>범주</a:t>
                      </a:r>
                    </a:p>
                  </a:txBody>
                  <a:tcPr marL="73152" marR="54864" marT="27432" marB="27432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22A36"/>
                          </a:solidFill>
                          <a:latin typeface="Malgun Gothic"/>
                        </a:rPr>
                        <a:t>흡연·음주</a:t>
                      </a:r>
                    </a:p>
                  </a:txBody>
                  <a:tcPr marL="73152" marR="54864" marT="27432" marB="27432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22A36"/>
                          </a:solidFill>
                          <a:latin typeface="Malgun Gothic"/>
                        </a:rPr>
                        <a:t>4.0%</a:t>
                      </a:r>
                    </a:p>
                  </a:txBody>
                  <a:tcPr marL="73152" marR="54864" marT="27432" marB="27432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4884"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1">
                          <a:solidFill>
                            <a:srgbClr val="222A36"/>
                          </a:solidFill>
                          <a:latin typeface="Malgun Gothic"/>
                        </a:rPr>
                        <a:t>gender / 성별</a:t>
                      </a:r>
                    </a:p>
                  </a:txBody>
                  <a:tcPr marL="73152" marR="54864" marT="27432" marB="27432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22A36"/>
                          </a:solidFill>
                          <a:latin typeface="Malgun Gothic"/>
                        </a:rPr>
                        <a:t>범주</a:t>
                      </a:r>
                    </a:p>
                  </a:txBody>
                  <a:tcPr marL="73152" marR="54864" marT="27432" marB="27432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22A36"/>
                          </a:solidFill>
                          <a:latin typeface="Malgun Gothic"/>
                        </a:rPr>
                        <a:t>성별</a:t>
                      </a:r>
                    </a:p>
                  </a:txBody>
                  <a:tcPr marL="73152" marR="54864" marT="27432" marB="27432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22A36"/>
                          </a:solidFill>
                          <a:latin typeface="Malgun Gothic"/>
                        </a:rPr>
                        <a:t>3.0%</a:t>
                      </a:r>
                    </a:p>
                  </a:txBody>
                  <a:tcPr marL="73152" marR="54864" marT="27432" marB="27432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4884"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1">
                          <a:solidFill>
                            <a:srgbClr val="222A36"/>
                          </a:solidFill>
                          <a:latin typeface="Malgun Gothic"/>
                        </a:rPr>
                        <a:t>bmi / 체질량지수</a:t>
                      </a:r>
                    </a:p>
                  </a:txBody>
                  <a:tcPr marL="73152" marR="54864" marT="27432" marB="27432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22A36"/>
                          </a:solidFill>
                          <a:latin typeface="Malgun Gothic"/>
                        </a:rPr>
                        <a:t>수치</a:t>
                      </a:r>
                    </a:p>
                  </a:txBody>
                  <a:tcPr marL="73152" marR="54864" marT="27432" marB="27432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22A36"/>
                          </a:solidFill>
                          <a:latin typeface="Malgun Gothic"/>
                        </a:rPr>
                        <a:t>체질량지수  16~35</a:t>
                      </a:r>
                    </a:p>
                  </a:txBody>
                  <a:tcPr marL="73152" marR="54864" marT="27432" marB="27432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22A36"/>
                          </a:solidFill>
                          <a:latin typeface="Malgun Gothic"/>
                        </a:rPr>
                        <a:t>2.0%</a:t>
                      </a:r>
                    </a:p>
                  </a:txBody>
                  <a:tcPr marL="73152" marR="54864" marT="27432" marB="27432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4884"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1">
                          <a:solidFill>
                            <a:srgbClr val="222A36"/>
                          </a:solidFill>
                          <a:latin typeface="Malgun Gothic"/>
                        </a:rPr>
                        <a:t>step_count / 걸음 수</a:t>
                      </a:r>
                    </a:p>
                  </a:txBody>
                  <a:tcPr marL="73152" marR="54864" marT="27432" marB="27432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22A36"/>
                          </a:solidFill>
                          <a:latin typeface="Malgun Gothic"/>
                        </a:rPr>
                        <a:t>수치</a:t>
                      </a:r>
                    </a:p>
                  </a:txBody>
                  <a:tcPr marL="73152" marR="54864" marT="27432" marB="27432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22A36"/>
                          </a:solidFill>
                          <a:latin typeface="Malgun Gothic"/>
                        </a:rPr>
                        <a:t>걸음 수  1k~15k</a:t>
                      </a:r>
                    </a:p>
                  </a:txBody>
                  <a:tcPr marL="73152" marR="54864" marT="27432" marB="27432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22A36"/>
                          </a:solidFill>
                          <a:latin typeface="Malgun Gothic"/>
                        </a:rPr>
                        <a:t>2.0%</a:t>
                      </a:r>
                    </a:p>
                  </a:txBody>
                  <a:tcPr marL="73152" marR="54864" marT="27432" marB="27432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4884"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1">
                          <a:solidFill>
                            <a:srgbClr val="222A36"/>
                          </a:solidFill>
                          <a:latin typeface="Malgun Gothic"/>
                        </a:rPr>
                        <a:t>heart_rate / 심박수</a:t>
                      </a:r>
                    </a:p>
                  </a:txBody>
                  <a:tcPr marL="73152" marR="54864" marT="27432" marB="27432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22A36"/>
                          </a:solidFill>
                          <a:latin typeface="Malgun Gothic"/>
                        </a:rPr>
                        <a:t>수치</a:t>
                      </a:r>
                    </a:p>
                  </a:txBody>
                  <a:tcPr marL="73152" marR="54864" marT="27432" marB="27432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22A36"/>
                          </a:solidFill>
                          <a:latin typeface="Malgun Gothic"/>
                        </a:rPr>
                        <a:t>심박수  50~108</a:t>
                      </a:r>
                    </a:p>
                  </a:txBody>
                  <a:tcPr marL="73152" marR="54864" marT="27432" marB="27432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22A36"/>
                          </a:solidFill>
                          <a:latin typeface="Malgun Gothic"/>
                        </a:rPr>
                        <a:t>1.0%</a:t>
                      </a:r>
                    </a:p>
                  </a:txBody>
                  <a:tcPr marL="73152" marR="54864" marT="27432" marB="27432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4884"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1">
                          <a:solidFill>
                            <a:srgbClr val="222A36"/>
                          </a:solidFill>
                          <a:latin typeface="Malgun Gothic"/>
                        </a:rPr>
                        <a:t>exercise_duration / 운동 시간</a:t>
                      </a:r>
                    </a:p>
                  </a:txBody>
                  <a:tcPr marL="73152" marR="54864" marT="27432" marB="27432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22A36"/>
                          </a:solidFill>
                          <a:latin typeface="Malgun Gothic"/>
                        </a:rPr>
                        <a:t>수치</a:t>
                      </a:r>
                    </a:p>
                  </a:txBody>
                  <a:tcPr marL="73152" marR="54864" marT="27432" marB="27432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22A36"/>
                          </a:solidFill>
                          <a:latin typeface="Malgun Gothic"/>
                        </a:rPr>
                        <a:t>운동 시간  0~100분</a:t>
                      </a:r>
                    </a:p>
                  </a:txBody>
                  <a:tcPr marL="73152" marR="54864" marT="27432" marB="27432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22A36"/>
                          </a:solidFill>
                          <a:latin typeface="Malgun Gothic"/>
                        </a:rPr>
                        <a:t>1.0%</a:t>
                      </a:r>
                    </a:p>
                  </a:txBody>
                  <a:tcPr marL="73152" marR="54864" marT="27432" marB="27432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4884"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1">
                          <a:solidFill>
                            <a:srgbClr val="222A36"/>
                          </a:solidFill>
                          <a:latin typeface="Malgun Gothic"/>
                        </a:rPr>
                        <a:t>diet_type / 식단 유형</a:t>
                      </a:r>
                    </a:p>
                  </a:txBody>
                  <a:tcPr marL="73152" marR="54864" marT="27432" marB="27432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22A36"/>
                          </a:solidFill>
                          <a:latin typeface="Malgun Gothic"/>
                        </a:rPr>
                        <a:t>범주</a:t>
                      </a:r>
                    </a:p>
                  </a:txBody>
                  <a:tcPr marL="73152" marR="54864" marT="27432" marB="27432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22A36"/>
                          </a:solidFill>
                          <a:latin typeface="Malgun Gothic"/>
                        </a:rPr>
                        <a:t>식단 유형</a:t>
                      </a:r>
                    </a:p>
                  </a:txBody>
                  <a:tcPr marL="73152" marR="54864" marT="27432" marB="27432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22A36"/>
                          </a:solidFill>
                          <a:latin typeface="Malgun Gothic"/>
                        </a:rPr>
                        <a:t>1.0%</a:t>
                      </a:r>
                    </a:p>
                  </a:txBody>
                  <a:tcPr marL="73152" marR="54864" marT="27432" marB="27432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27" name="Text 24"/>
          <p:cNvSpPr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0"/>
              </a:spcAft>
            </a:pPr>
            <a:r>
              <a:rPr sz="1050">
                <a:solidFill>
                  <a:srgbClr val="5B6773"/>
                </a:solidFill>
                <a:latin typeface="Malgun Gothic"/>
              </a:rPr>
              <a:t>핵심 3개(수면 시간·스트레스·신체 활동)는 생성 규칙의 중심, 나머지 10개는 결측 구간의 보완 프록시로 활용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37392" y="6318504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B6773"/>
                </a:solidFill>
                <a:latin typeface="Malgun Gothic"/>
              </a:rPr>
              <a:t>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60920" y="137160"/>
            <a:ext cx="107899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1">
                <a:solidFill>
                  <a:srgbClr val="222A36"/>
                </a:solidFill>
                <a:latin typeface="Malgun Gothic"/>
              </a:rPr>
              <a:t>1. 제안 배경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06640" y="448056"/>
            <a:ext cx="987551" cy="41148"/>
          </a:xfrm>
          <a:prstGeom prst="rect">
            <a:avLst/>
          </a:prstGeom>
          <a:solidFill>
            <a:srgbClr val="00A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531352" y="137160"/>
            <a:ext cx="932688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5B6773"/>
                </a:solidFill>
                <a:latin typeface="Malgun Gothic"/>
              </a:rPr>
              <a:t>2. 서비스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77072" y="448056"/>
            <a:ext cx="841248" cy="41148"/>
          </a:xfrm>
          <a:prstGeom prst="rect">
            <a:avLst/>
          </a:prstGeom>
          <a:solidFill>
            <a:srgbClr val="C7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555480" y="137160"/>
            <a:ext cx="1133856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5B6773"/>
                </a:solidFill>
                <a:latin typeface="Malgun Gothic"/>
              </a:rPr>
              <a:t>3. 검증·근거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601200" y="448056"/>
            <a:ext cx="1042415" cy="41148"/>
          </a:xfrm>
          <a:prstGeom prst="rect">
            <a:avLst/>
          </a:prstGeom>
          <a:solidFill>
            <a:srgbClr val="C7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780776" y="137160"/>
            <a:ext cx="107899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5B6773"/>
                </a:solidFill>
                <a:latin typeface="Malgun Gothic"/>
              </a:rPr>
              <a:t>4. 도입 계획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826496" y="448056"/>
            <a:ext cx="987551" cy="41148"/>
          </a:xfrm>
          <a:prstGeom prst="rect">
            <a:avLst/>
          </a:prstGeom>
          <a:solidFill>
            <a:srgbClr val="C7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92608"/>
            <a:ext cx="5394960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07E62"/>
                </a:solidFill>
                <a:latin typeface="Malgun Gothic"/>
              </a:rPr>
              <a:t>SCQA · DECISION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603504"/>
            <a:ext cx="10881360" cy="6766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222A36"/>
                </a:solidFill>
                <a:latin typeface="Malgun Gothic"/>
              </a:rPr>
              <a:t>데이터를 모으는 조직에서, 위험 신호를 행동으로 바꾸는 조직으로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1408176"/>
            <a:ext cx="640080" cy="841248"/>
          </a:xfrm>
          <a:prstGeom prst="roundRect">
            <a:avLst/>
          </a:prstGeom>
          <a:solidFill>
            <a:srgbClr val="1E8B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408176"/>
            <a:ext cx="640080" cy="84124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algun Gothic"/>
              </a:rPr>
              <a:t>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1453896"/>
            <a:ext cx="2011680" cy="27432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E8BCD"/>
                </a:solidFill>
                <a:latin typeface="Malgun Gothic"/>
              </a:rPr>
              <a:t>Situation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1700784"/>
            <a:ext cx="9738360" cy="47548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22A36"/>
                </a:solidFill>
                <a:latin typeface="Malgun Gothic"/>
              </a:rPr>
              <a:t>대학은 정기 설문·웨어러블로 13개 생활 신호를 수집하고 보건·상담 체계를 운영한다.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2432304"/>
            <a:ext cx="640080" cy="841248"/>
          </a:xfrm>
          <a:prstGeom prst="roundRect">
            <a:avLst/>
          </a:prstGeom>
          <a:solidFill>
            <a:srgbClr val="F2A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2432304"/>
            <a:ext cx="640080" cy="84124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algun Gothic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2478024"/>
            <a:ext cx="2011680" cy="27432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2A621"/>
                </a:solidFill>
                <a:latin typeface="Malgun Gothic"/>
              </a:rPr>
              <a:t>Complication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1328" y="2724912"/>
            <a:ext cx="9738360" cy="47548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22A36"/>
                </a:solidFill>
                <a:latin typeface="Malgun Gothic"/>
              </a:rPr>
              <a:t>전수 수기 검토는 업무시간·비용을 늘리고, 위험군 14%의 우선순위와 후속 확인을 흐린다.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" y="3456432"/>
            <a:ext cx="640080" cy="841248"/>
          </a:xfrm>
          <a:prstGeom prst="roundRect">
            <a:avLst/>
          </a:prstGeom>
          <a:solidFill>
            <a:srgbClr val="00A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3456432"/>
            <a:ext cx="640080" cy="84124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algun Gothic"/>
              </a:rPr>
              <a:t>Q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3502152"/>
            <a:ext cx="2011680" cy="27432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A67D"/>
                </a:solidFill>
                <a:latin typeface="Malgun Gothic"/>
              </a:rPr>
              <a:t>Question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3749040"/>
            <a:ext cx="9738360" cy="47548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22A36"/>
                </a:solidFill>
                <a:latin typeface="Malgun Gothic"/>
              </a:rPr>
              <a:t>악화 전에 위험군을 포착해 제한된 상담 자원을 자동 배분하고, 지원 효과까지 확인할 수 있는가?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" y="4480560"/>
            <a:ext cx="640080" cy="841248"/>
          </a:xfrm>
          <a:prstGeom prst="roundRect">
            <a:avLst/>
          </a:prstGeom>
          <a:solidFill>
            <a:srgbClr val="22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4480560"/>
            <a:ext cx="640080" cy="84124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algun Gothic"/>
              </a:rPr>
              <a:t>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81328" y="4526280"/>
            <a:ext cx="2011680" cy="27432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22A36"/>
                </a:solidFill>
                <a:latin typeface="Malgun Gothic"/>
              </a:rPr>
              <a:t>Answer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81328" y="4773168"/>
            <a:ext cx="9738360" cy="47548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22A36"/>
                </a:solidFill>
                <a:latin typeface="Malgun Gothic"/>
              </a:rPr>
              <a:t>3등급·SHAP·SLA 작업 큐를 운영하고 D1/D7/D14 재확인으로 미응답·재악화까지 다시 연결한다.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632704"/>
            <a:ext cx="11091672" cy="512064"/>
          </a:xfrm>
          <a:prstGeom prst="roundRect">
            <a:avLst/>
          </a:prstGeom>
          <a:solidFill>
            <a:srgbClr val="22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660136"/>
            <a:ext cx="10725912" cy="4389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algun Gothic"/>
              </a:rPr>
              <a:t>결론: 머신러닝 시스템은 ‘위험 예측’이 아니라 ‘지원 배분·이행·재평가’를 자동화해야 한다.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37392" y="6318504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B6773"/>
                </a:solidFill>
                <a:latin typeface="Malgun Gothic"/>
              </a:rPr>
              <a:t>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60920" y="137160"/>
            <a:ext cx="107899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1">
                <a:solidFill>
                  <a:srgbClr val="222A36"/>
                </a:solidFill>
                <a:latin typeface="Malgun Gothic"/>
              </a:rPr>
              <a:t>1. 제안 배경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06640" y="448056"/>
            <a:ext cx="987551" cy="41148"/>
          </a:xfrm>
          <a:prstGeom prst="rect">
            <a:avLst/>
          </a:prstGeom>
          <a:solidFill>
            <a:srgbClr val="00A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31352" y="137160"/>
            <a:ext cx="932688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5B6773"/>
                </a:solidFill>
                <a:latin typeface="Malgun Gothic"/>
              </a:rPr>
              <a:t>2. 서비스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77072" y="448056"/>
            <a:ext cx="841248" cy="41148"/>
          </a:xfrm>
          <a:prstGeom prst="rect">
            <a:avLst/>
          </a:prstGeom>
          <a:solidFill>
            <a:srgbClr val="C7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55480" y="137160"/>
            <a:ext cx="1133856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5B6773"/>
                </a:solidFill>
                <a:latin typeface="Malgun Gothic"/>
              </a:rPr>
              <a:t>3. 검증·근거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01200" y="448056"/>
            <a:ext cx="1042415" cy="41148"/>
          </a:xfrm>
          <a:prstGeom prst="rect">
            <a:avLst/>
          </a:prstGeom>
          <a:solidFill>
            <a:srgbClr val="C7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780776" y="137160"/>
            <a:ext cx="107899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5B6773"/>
                </a:solidFill>
                <a:latin typeface="Malgun Gothic"/>
              </a:rPr>
              <a:t>4. 도입 계획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826496" y="448056"/>
            <a:ext cx="987551" cy="41148"/>
          </a:xfrm>
          <a:prstGeom prst="rect">
            <a:avLst/>
          </a:prstGeom>
          <a:solidFill>
            <a:srgbClr val="C7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WHO IT SERVES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</a:t>
            </a:r>
            <a:r>
              <a:rPr lang="ko-KR" alt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</a:t>
            </a: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</a:t>
            </a: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가치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548640" y="2075180"/>
            <a:ext cx="3566160" cy="3611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41248" y="2376932"/>
            <a:ext cx="566928" cy="566928"/>
          </a:xfrm>
          <a:prstGeom prst="ellipse">
            <a:avLst/>
          </a:prstGeom>
          <a:solidFill>
            <a:srgbClr val="2A2E3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41248" y="23769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554480" y="243179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59536" y="314502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i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상태를 쉽게 이해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59536" y="3757676"/>
            <a:ext cx="146304" cy="146304"/>
          </a:xfrm>
          <a:prstGeom prst="ellipse">
            <a:avLst/>
          </a:prstGeom>
          <a:solidFill>
            <a:srgbClr val="2A2E35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170432" y="3693668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3분 체크인으로 내 건강신호 확인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59536" y="4324604"/>
            <a:ext cx="146304" cy="146304"/>
          </a:xfrm>
          <a:prstGeom prst="ellipse">
            <a:avLst/>
          </a:prstGeom>
          <a:solidFill>
            <a:srgbClr val="2A2E3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170432" y="4260596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쉬운 언어의 맞춤 피드백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59536" y="4891532"/>
            <a:ext cx="146304" cy="146304"/>
          </a:xfrm>
          <a:prstGeom prst="ellipse">
            <a:avLst/>
          </a:prstGeom>
          <a:solidFill>
            <a:srgbClr val="2A2E35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170432" y="4827524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다음에 할 행동을 안내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398264" y="2075180"/>
            <a:ext cx="3566160" cy="3611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4690872" y="2376932"/>
            <a:ext cx="566928" cy="566928"/>
          </a:xfrm>
          <a:prstGeom prst="ellipse">
            <a:avLst/>
          </a:prstGeom>
          <a:solidFill>
            <a:srgbClr val="2A2E35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690872" y="23769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404104" y="243179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상담사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4709160" y="314502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i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우선순위를 확신 있게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4709160" y="3757676"/>
            <a:ext cx="146304" cy="146304"/>
          </a:xfrm>
          <a:prstGeom prst="ellipse">
            <a:avLst/>
          </a:prstGeom>
          <a:solidFill>
            <a:srgbClr val="2A2E35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5020056" y="3693668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명단이 아닌 우선 상담 큐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709160" y="4324604"/>
            <a:ext cx="146304" cy="146304"/>
          </a:xfrm>
          <a:prstGeom prst="ellipse">
            <a:avLst/>
          </a:prstGeom>
          <a:solidFill>
            <a:srgbClr val="2A2E35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5020056" y="4260596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학생별 위험 근거(SHAP) 제공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709160" y="4891532"/>
            <a:ext cx="146304" cy="146304"/>
          </a:xfrm>
          <a:prstGeom prst="ellipse">
            <a:avLst/>
          </a:prstGeom>
          <a:solidFill>
            <a:srgbClr val="2A2E35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5020056" y="4827524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개입 이력·변화 추적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247888" y="2075180"/>
            <a:ext cx="3566160" cy="3611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8540496" y="2376932"/>
            <a:ext cx="566928" cy="566928"/>
          </a:xfrm>
          <a:prstGeom prst="ellipse">
            <a:avLst/>
          </a:prstGeom>
          <a:solidFill>
            <a:srgbClr val="2A2E35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8540496" y="23769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9253728" y="243179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</a:t>
            </a:r>
            <a:endParaRPr lang="en-US" sz="1900" dirty="0"/>
          </a:p>
        </p:txBody>
      </p:sp>
      <p:sp>
        <p:nvSpPr>
          <p:cNvPr id="39" name="Text 37"/>
          <p:cNvSpPr/>
          <p:nvPr/>
        </p:nvSpPr>
        <p:spPr>
          <a:xfrm>
            <a:off x="8558784" y="314502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i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자원을 효과적으로 배분</a:t>
            </a:r>
            <a:endParaRPr lang="en-US" sz="1450" dirty="0"/>
          </a:p>
        </p:txBody>
      </p:sp>
      <p:sp>
        <p:nvSpPr>
          <p:cNvPr id="40" name="Shape 38"/>
          <p:cNvSpPr/>
          <p:nvPr/>
        </p:nvSpPr>
        <p:spPr>
          <a:xfrm>
            <a:off x="8558784" y="3757676"/>
            <a:ext cx="146304" cy="146304"/>
          </a:xfrm>
          <a:prstGeom prst="ellipse">
            <a:avLst/>
          </a:prstGeom>
          <a:solidFill>
            <a:srgbClr val="2A2E35"/>
          </a:solidFill>
          <a:ln/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8869680" y="3693668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위험군·참여·개선 현황 파악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8558784" y="4324604"/>
            <a:ext cx="146304" cy="146304"/>
          </a:xfrm>
          <a:prstGeom prst="ellipse">
            <a:avLst/>
          </a:prstGeom>
          <a:solidFill>
            <a:srgbClr val="2A2E35"/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8869680" y="4260596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인력·프로그램 배분 근거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8558784" y="4891532"/>
            <a:ext cx="146304" cy="146304"/>
          </a:xfrm>
          <a:prstGeom prst="ellipse">
            <a:avLst/>
          </a:prstGeom>
          <a:solidFill>
            <a:srgbClr val="2A2E35"/>
          </a:solidFill>
          <a:ln/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8869680" y="4827524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리포트 자동화</a:t>
            </a:r>
            <a:endParaRPr lang="en-US" sz="1300" dirty="0"/>
          </a:p>
        </p:txBody>
      </p:sp>
      <p:sp>
        <p:nvSpPr>
          <p:cNvPr id="54" name="TextBox 53"/>
          <p:cNvSpPr txBox="1"/>
          <p:nvPr/>
        </p:nvSpPr>
        <p:spPr>
          <a:xfrm>
            <a:off x="11137392" y="6318504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B6773"/>
                </a:solidFill>
                <a:latin typeface="Malgun Gothic"/>
              </a:rPr>
              <a:t>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360920" y="137160"/>
            <a:ext cx="107899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5B6773"/>
                </a:solidFill>
                <a:latin typeface="Malgun Gothic"/>
              </a:rPr>
              <a:t>1. 제안 배경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406640" y="448056"/>
            <a:ext cx="987551" cy="41148"/>
          </a:xfrm>
          <a:prstGeom prst="rect">
            <a:avLst/>
          </a:prstGeom>
          <a:solidFill>
            <a:srgbClr val="C7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531352" y="137160"/>
            <a:ext cx="932688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1">
                <a:solidFill>
                  <a:srgbClr val="222A36"/>
                </a:solidFill>
                <a:latin typeface="Malgun Gothic"/>
              </a:rPr>
              <a:t>2. 서비스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577072" y="448056"/>
            <a:ext cx="841248" cy="41148"/>
          </a:xfrm>
          <a:prstGeom prst="rect">
            <a:avLst/>
          </a:prstGeom>
          <a:solidFill>
            <a:srgbClr val="00A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555480" y="137160"/>
            <a:ext cx="1133856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5B6773"/>
                </a:solidFill>
                <a:latin typeface="Malgun Gothic"/>
              </a:rPr>
              <a:t>3. 검증·근거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601200" y="448056"/>
            <a:ext cx="1042415" cy="41148"/>
          </a:xfrm>
          <a:prstGeom prst="rect">
            <a:avLst/>
          </a:prstGeom>
          <a:solidFill>
            <a:srgbClr val="C7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0780776" y="137160"/>
            <a:ext cx="107899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5B6773"/>
                </a:solidFill>
                <a:latin typeface="Malgun Gothic"/>
              </a:rPr>
              <a:t>4. 도입 계획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826496" y="448056"/>
            <a:ext cx="987551" cy="41148"/>
          </a:xfrm>
          <a:prstGeom prst="rect">
            <a:avLst/>
          </a:prstGeom>
          <a:solidFill>
            <a:srgbClr val="C7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8"/>
          <p:cNvSpPr/>
          <p:nvPr/>
        </p:nvSpPr>
        <p:spPr>
          <a:xfrm>
            <a:off x="9459468" y="1527048"/>
            <a:ext cx="1472184" cy="4306824"/>
          </a:xfrm>
          <a:prstGeom prst="roundRect">
            <a:avLst>
              <a:gd name="adj" fmla="val 11180"/>
            </a:avLst>
          </a:prstGeom>
          <a:solidFill>
            <a:srgbClr val="2B313E"/>
          </a:solidFill>
          <a:ln w="15875">
            <a:solidFill>
              <a:srgbClr val="3B4354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9715500" y="1783080"/>
            <a:ext cx="960120" cy="960120"/>
          </a:xfrm>
          <a:prstGeom prst="ellipse">
            <a:avLst/>
          </a:prstGeom>
          <a:solidFill>
            <a:srgbClr val="D55E00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9715500" y="3200400"/>
            <a:ext cx="960120" cy="960120"/>
          </a:xfrm>
          <a:prstGeom prst="ellipse">
            <a:avLst/>
          </a:prstGeom>
          <a:solidFill>
            <a:srgbClr val="E69F00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9715500" y="4617720"/>
            <a:ext cx="960120" cy="960120"/>
          </a:xfrm>
          <a:prstGeom prst="ellipse">
            <a:avLst/>
          </a:prstGeom>
          <a:solidFill>
            <a:srgbClr val="009E73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2960" y="23317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A67D"/>
                </a:solidFill>
                <a:latin typeface="Malgun Gothic"/>
              </a:rPr>
              <a:t>SECTION 2 · SERVICE</a:t>
            </a:r>
          </a:p>
        </p:txBody>
      </p:sp>
      <p:sp>
        <p:nvSpPr>
          <p:cNvPr id="15" name="Text 13"/>
          <p:cNvSpPr/>
          <p:nvPr/>
        </p:nvSpPr>
        <p:spPr>
          <a:xfrm>
            <a:off x="795528" y="274320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Malgun Gothic"/>
              </a:rPr>
              <a:t>건강신호등 서비스</a:t>
            </a:r>
          </a:p>
        </p:txBody>
      </p:sp>
      <p:sp>
        <p:nvSpPr>
          <p:cNvPr id="16" name="Text 14"/>
          <p:cNvSpPr/>
          <p:nvPr/>
        </p:nvSpPr>
        <p:spPr>
          <a:xfrm>
            <a:off x="832104" y="38221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D2DCE4"/>
                </a:solidFill>
                <a:latin typeface="Malgun Gothic"/>
              </a:rPr>
              <a:t>생활 신호를 행동과 지원으로 연결하는 학생·상담사 서비스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37392" y="6318504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0AEB9"/>
                </a:solidFill>
                <a:latin typeface="Malgun Gothic"/>
              </a:rPr>
              <a:t>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60920" y="137160"/>
            <a:ext cx="1078992" cy="292608"/>
          </a:xfrm>
          <a:prstGeom prst="rect">
            <a:avLst/>
          </a:prstGeom>
          <a:solidFill>
            <a:srgbClr val="22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CAD5DD"/>
                </a:solidFill>
                <a:latin typeface="Malgun Gothic"/>
              </a:rPr>
              <a:t>1. 제안 배경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06640" y="448056"/>
            <a:ext cx="987551" cy="41148"/>
          </a:xfrm>
          <a:prstGeom prst="rect">
            <a:avLst/>
          </a:prstGeom>
          <a:solidFill>
            <a:srgbClr val="B4C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31352" y="137160"/>
            <a:ext cx="932688" cy="292608"/>
          </a:xfrm>
          <a:prstGeom prst="rect">
            <a:avLst/>
          </a:prstGeom>
          <a:solidFill>
            <a:srgbClr val="22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1">
                <a:solidFill>
                  <a:srgbClr val="FFFFFF"/>
                </a:solidFill>
                <a:latin typeface="Malgun Gothic"/>
              </a:rPr>
              <a:t>2. 서비스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77072" y="448056"/>
            <a:ext cx="841248" cy="41148"/>
          </a:xfrm>
          <a:prstGeom prst="rect">
            <a:avLst/>
          </a:prstGeom>
          <a:solidFill>
            <a:srgbClr val="00A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55480" y="137160"/>
            <a:ext cx="1133856" cy="292608"/>
          </a:xfrm>
          <a:prstGeom prst="rect">
            <a:avLst/>
          </a:prstGeom>
          <a:solidFill>
            <a:srgbClr val="22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CAD5DD"/>
                </a:solidFill>
                <a:latin typeface="Malgun Gothic"/>
              </a:rPr>
              <a:t>3. 검증·근거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01200" y="448056"/>
            <a:ext cx="1042415" cy="41148"/>
          </a:xfrm>
          <a:prstGeom prst="rect">
            <a:avLst/>
          </a:prstGeom>
          <a:solidFill>
            <a:srgbClr val="B4C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780776" y="137160"/>
            <a:ext cx="1078992" cy="292608"/>
          </a:xfrm>
          <a:prstGeom prst="rect">
            <a:avLst/>
          </a:prstGeom>
          <a:solidFill>
            <a:srgbClr val="22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CAD5DD"/>
                </a:solidFill>
                <a:latin typeface="Malgun Gothic"/>
              </a:rPr>
              <a:t>4. 도입 계획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826496" y="448056"/>
            <a:ext cx="987551" cy="41148"/>
          </a:xfrm>
          <a:prstGeom prst="rect">
            <a:avLst/>
          </a:prstGeom>
          <a:solidFill>
            <a:srgbClr val="B4C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438751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SOLUTION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</a:t>
            </a: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작동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548640" y="1783080"/>
            <a:ext cx="11091672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68680" y="2121408"/>
            <a:ext cx="603504" cy="603504"/>
          </a:xfrm>
          <a:prstGeom prst="ellipse">
            <a:avLst/>
          </a:prstGeom>
          <a:solidFill>
            <a:srgbClr val="2A2E3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68680" y="212140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645920" y="198424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kern="0" spc="50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LAYER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645920" y="24048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수집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937760" y="178308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설문 · 웨어러블 · 학사 신호를 표준화해 모읍니다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424160" y="2221992"/>
            <a:ext cx="1051560" cy="402336"/>
          </a:xfrm>
          <a:prstGeom prst="roundRect">
            <a:avLst>
              <a:gd name="adj" fmla="val 50000"/>
            </a:avLst>
          </a:prstGeom>
          <a:solidFill>
            <a:srgbClr val="E9EDF1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0424160" y="2221992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 rot="10800000">
            <a:off x="1060704" y="3128076"/>
            <a:ext cx="219456" cy="219456"/>
          </a:xfrm>
          <a:prstGeom prst="triangle">
            <a:avLst/>
          </a:prstGeom>
          <a:solidFill>
            <a:srgbClr val="AEB6BF"/>
          </a:solidFill>
          <a:ln/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548640" y="3375428"/>
            <a:ext cx="11091672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868680" y="3713756"/>
            <a:ext cx="603504" cy="603504"/>
          </a:xfrm>
          <a:prstGeom prst="ellipse">
            <a:avLst/>
          </a:prstGeom>
          <a:solidFill>
            <a:srgbClr val="2A2E3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68680" y="371375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1645920" y="357659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kern="0" spc="50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INTELLIGENCE LAYER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1645920" y="39972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· 설명 · 재평가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937760" y="3375428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3등급 분류 + SHAP 근거 + 개입 후 변화 추적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0424160" y="3814340"/>
            <a:ext cx="1051560" cy="402336"/>
          </a:xfrm>
          <a:prstGeom prst="roundRect">
            <a:avLst>
              <a:gd name="adj" fmla="val 50000"/>
            </a:avLst>
          </a:prstGeom>
          <a:solidFill>
            <a:srgbClr val="E9EDF1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0424160" y="3814340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엔진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 rot="10800000">
            <a:off x="1060704" y="4729659"/>
            <a:ext cx="219456" cy="219456"/>
          </a:xfrm>
          <a:prstGeom prst="triangle">
            <a:avLst/>
          </a:prstGeom>
          <a:solidFill>
            <a:srgbClr val="AEB6BF"/>
          </a:solidFill>
          <a:ln/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548640" y="4995480"/>
            <a:ext cx="11091672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868680" y="5333808"/>
            <a:ext cx="603504" cy="603504"/>
          </a:xfrm>
          <a:prstGeom prst="ellipse">
            <a:avLst/>
          </a:prstGeom>
          <a:solidFill>
            <a:srgbClr val="2A2E35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868680" y="533380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1645920" y="519664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kern="0" spc="50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CARE LAYER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1645920" y="56172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· 개입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937760" y="499548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콘텐츠 · 프로그램 · 상담을 등급에 맞춰 연결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10424160" y="5434392"/>
            <a:ext cx="1051560" cy="402336"/>
          </a:xfrm>
          <a:prstGeom prst="roundRect">
            <a:avLst>
              <a:gd name="adj" fmla="val 50000"/>
            </a:avLst>
          </a:prstGeom>
          <a:solidFill>
            <a:srgbClr val="E9EDF1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10424160" y="5434392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</a:t>
            </a:r>
            <a:endParaRPr lang="en-US" sz="1200" dirty="0"/>
          </a:p>
        </p:txBody>
      </p:sp>
      <p:sp>
        <p:nvSpPr>
          <p:cNvPr id="47" name="TextBox 46"/>
          <p:cNvSpPr txBox="1"/>
          <p:nvPr/>
        </p:nvSpPr>
        <p:spPr>
          <a:xfrm>
            <a:off x="11137392" y="6318504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B6773"/>
                </a:solidFill>
                <a:latin typeface="Malgun Gothic"/>
              </a:rPr>
              <a:t>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360920" y="137160"/>
            <a:ext cx="107899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5B6773"/>
                </a:solidFill>
                <a:latin typeface="Malgun Gothic"/>
              </a:rPr>
              <a:t>1. 제안 배경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06640" y="448056"/>
            <a:ext cx="987551" cy="41148"/>
          </a:xfrm>
          <a:prstGeom prst="rect">
            <a:avLst/>
          </a:prstGeom>
          <a:solidFill>
            <a:srgbClr val="C7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531352" y="137160"/>
            <a:ext cx="932688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1">
                <a:solidFill>
                  <a:srgbClr val="222A36"/>
                </a:solidFill>
                <a:latin typeface="Malgun Gothic"/>
              </a:rPr>
              <a:t>2. 서비스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577072" y="448056"/>
            <a:ext cx="841248" cy="41148"/>
          </a:xfrm>
          <a:prstGeom prst="rect">
            <a:avLst/>
          </a:prstGeom>
          <a:solidFill>
            <a:srgbClr val="00A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555480" y="137160"/>
            <a:ext cx="1133856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5B6773"/>
                </a:solidFill>
                <a:latin typeface="Malgun Gothic"/>
              </a:rPr>
              <a:t>3. 검증·근거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01200" y="448056"/>
            <a:ext cx="1042415" cy="41148"/>
          </a:xfrm>
          <a:prstGeom prst="rect">
            <a:avLst/>
          </a:prstGeom>
          <a:solidFill>
            <a:srgbClr val="C7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0780776" y="137160"/>
            <a:ext cx="107899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5B6773"/>
                </a:solidFill>
                <a:latin typeface="Malgun Gothic"/>
              </a:rPr>
              <a:t>4. 도입 계획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826496" y="448056"/>
            <a:ext cx="987551" cy="41148"/>
          </a:xfrm>
          <a:prstGeom prst="rect">
            <a:avLst/>
          </a:prstGeom>
          <a:solidFill>
            <a:srgbClr val="C7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SERVICE LOGIC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건강신호등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822960" y="16916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54680" y="16916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상태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760720" y="16916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행동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366760" y="16916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지원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2121408"/>
            <a:ext cx="11183112" cy="1143000"/>
          </a:xfrm>
          <a:prstGeom prst="roundRect">
            <a:avLst>
              <a:gd name="adj" fmla="val 7200"/>
            </a:avLst>
          </a:prstGeom>
          <a:solidFill>
            <a:srgbClr val="E1F3ED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77240" y="2578608"/>
            <a:ext cx="237744" cy="237744"/>
          </a:xfrm>
          <a:prstGeom prst="ellipse">
            <a:avLst/>
          </a:prstGeom>
          <a:solidFill>
            <a:srgbClr val="009E73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115568" y="2121408"/>
            <a:ext cx="1965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Fit · 양호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3154680" y="2121408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 습관을 유지 중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760720" y="2121408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 · 강화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66760" y="2121408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정기 리포트 · 건강 콘텐츠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02920" y="3419856"/>
            <a:ext cx="11183112" cy="1143000"/>
          </a:xfrm>
          <a:prstGeom prst="roundRect">
            <a:avLst>
              <a:gd name="adj" fmla="val 7200"/>
            </a:avLst>
          </a:prstGeom>
          <a:solidFill>
            <a:srgbClr val="FBEFD9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777240" y="3877056"/>
            <a:ext cx="237744" cy="237744"/>
          </a:xfrm>
          <a:prstGeom prst="ellipse">
            <a:avLst/>
          </a:prstGeom>
          <a:solidFill>
            <a:srgbClr val="E69F00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115568" y="3419856"/>
            <a:ext cx="1965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A87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At-risk · 주의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3154680" y="3419856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신호 감지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760720" y="3419856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예방 개입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366760" y="3419856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생활습관 코칭 · 2주 프로그램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502920" y="4718304"/>
            <a:ext cx="11183112" cy="1143000"/>
          </a:xfrm>
          <a:prstGeom prst="roundRect">
            <a:avLst>
              <a:gd name="adj" fmla="val 7200"/>
            </a:avLst>
          </a:prstGeom>
          <a:solidFill>
            <a:srgbClr val="FBE9DD"/>
          </a:solidFill>
          <a:ln/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777240" y="5175504"/>
            <a:ext cx="237744" cy="237744"/>
          </a:xfrm>
          <a:prstGeom prst="ellipse">
            <a:avLst/>
          </a:prstGeom>
          <a:solidFill>
            <a:srgbClr val="D55E00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1115568" y="4718304"/>
            <a:ext cx="1965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D55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Unhealthy · 위험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3154680" y="4718304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확인 필요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5760720" y="4718304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집중 관리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366760" y="4718304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 우선 배정 · 추적 관리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548640" y="614476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100" i="1" dirty="0" err="1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</a:rPr>
              <a:t>상태와</a:t>
            </a:r>
            <a:r>
              <a:rPr lang="en-US" altLang="ko-KR" sz="1100" i="1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sz="1100" i="1" dirty="0" err="1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</a:rPr>
              <a:t>다음</a:t>
            </a:r>
            <a:r>
              <a:rPr lang="en-US" altLang="ko-KR" sz="1100" i="1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sz="1100" i="1" dirty="0" err="1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</a:rPr>
              <a:t>행동을</a:t>
            </a:r>
            <a:r>
              <a:rPr lang="en-US" altLang="ko-KR" sz="1100" i="1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sz="1100" i="1" dirty="0" err="1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</a:rPr>
              <a:t>함께</a:t>
            </a:r>
            <a:r>
              <a:rPr lang="en-US" altLang="ko-KR" sz="1100" i="1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sz="1100" i="1" dirty="0" err="1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</a:rPr>
              <a:t>안내합니다</a:t>
            </a:r>
            <a:r>
              <a:rPr lang="en-US" altLang="ko-KR" sz="1100" i="1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</a:rPr>
              <a:t>.</a:t>
            </a:r>
          </a:p>
          <a:p>
            <a:endParaRPr lang="en-US" altLang="ko-KR" sz="1100" i="1" dirty="0">
              <a:solidFill>
                <a:srgbClr val="7A828C"/>
              </a:solidFill>
              <a:latin typeface="Malgun Gothic" pitchFamily="34" charset="0"/>
              <a:ea typeface="Malgun Gothic" pitchFamily="34" charset="-122"/>
            </a:endParaRPr>
          </a:p>
          <a:p>
            <a:r>
              <a:rPr lang="en-US" sz="1100" i="1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 + 라벨 + 위치로 삼중 인코딩 — 색만으로 판단하지 않도록 </a:t>
            </a:r>
            <a:r>
              <a:rPr lang="en-US" sz="1100" i="1" dirty="0" err="1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설계했습니다</a:t>
            </a:r>
            <a:r>
              <a:rPr lang="en-US" sz="1100" i="1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100" i="1" dirty="0">
              <a:solidFill>
                <a:srgbClr val="7A828C"/>
              </a:solidFill>
              <a:latin typeface="Malgun Gothic" pitchFamily="34" charset="0"/>
              <a:ea typeface="Malgun Gothic" pitchFamily="3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1137392" y="6318504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B6773"/>
                </a:solidFill>
                <a:latin typeface="Malgun Gothic"/>
              </a:rPr>
              <a:t>9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60920" y="137160"/>
            <a:ext cx="107899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5B6773"/>
                </a:solidFill>
                <a:latin typeface="Malgun Gothic"/>
              </a:rPr>
              <a:t>1. 제안 배경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06640" y="448056"/>
            <a:ext cx="987551" cy="41148"/>
          </a:xfrm>
          <a:prstGeom prst="rect">
            <a:avLst/>
          </a:prstGeom>
          <a:solidFill>
            <a:srgbClr val="C7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531352" y="137160"/>
            <a:ext cx="932688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1">
                <a:solidFill>
                  <a:srgbClr val="222A36"/>
                </a:solidFill>
                <a:latin typeface="Malgun Gothic"/>
              </a:rPr>
              <a:t>2. 서비스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77072" y="448056"/>
            <a:ext cx="841248" cy="41148"/>
          </a:xfrm>
          <a:prstGeom prst="rect">
            <a:avLst/>
          </a:prstGeom>
          <a:solidFill>
            <a:srgbClr val="00A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555480" y="137160"/>
            <a:ext cx="1133856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5B6773"/>
                </a:solidFill>
                <a:latin typeface="Malgun Gothic"/>
              </a:rPr>
              <a:t>3. 검증·근거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601200" y="448056"/>
            <a:ext cx="1042415" cy="41148"/>
          </a:xfrm>
          <a:prstGeom prst="rect">
            <a:avLst/>
          </a:prstGeom>
          <a:solidFill>
            <a:srgbClr val="C7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780776" y="137160"/>
            <a:ext cx="107899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5B6773"/>
                </a:solidFill>
                <a:latin typeface="Malgun Gothic"/>
              </a:rPr>
              <a:t>4. 도입 계획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826496" y="448056"/>
            <a:ext cx="987551" cy="41148"/>
          </a:xfrm>
          <a:prstGeom prst="rect">
            <a:avLst/>
          </a:prstGeom>
          <a:solidFill>
            <a:srgbClr val="C7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SERVICE JOURNEY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학기</a:t>
            </a: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</a:t>
            </a: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여정</a:t>
            </a: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1234440" y="2907792"/>
            <a:ext cx="9738360" cy="0"/>
          </a:xfrm>
          <a:prstGeom prst="line">
            <a:avLst/>
          </a:prstGeom>
          <a:noFill/>
          <a:ln w="63500">
            <a:solidFill>
              <a:srgbClr val="E9EDF1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627632" y="2532888"/>
            <a:ext cx="8366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250692" y="2532888"/>
            <a:ext cx="8366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873752" y="2532888"/>
            <a:ext cx="8366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496812" y="2532888"/>
            <a:ext cx="8366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119872" y="2532888"/>
            <a:ext cx="8366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742932" y="2532888"/>
            <a:ext cx="8366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841248" y="2514600"/>
            <a:ext cx="786384" cy="786384"/>
          </a:xfrm>
          <a:prstGeom prst="ellipse">
            <a:avLst/>
          </a:prstGeom>
          <a:solidFill>
            <a:srgbClr val="2A2E3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41248" y="251460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11480" y="3429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체크인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2464308" y="2514600"/>
            <a:ext cx="786384" cy="786384"/>
          </a:xfrm>
          <a:prstGeom prst="ellipse">
            <a:avLst/>
          </a:prstGeom>
          <a:solidFill>
            <a:srgbClr val="2A2E3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2464308" y="251460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2034540" y="3429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신호 확인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087368" y="2514600"/>
            <a:ext cx="786384" cy="786384"/>
          </a:xfrm>
          <a:prstGeom prst="ellipse">
            <a:avLst/>
          </a:prstGeom>
          <a:solidFill>
            <a:srgbClr val="2A2E35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087368" y="251460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657600" y="3429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개입 선택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710428" y="2514600"/>
            <a:ext cx="786384" cy="786384"/>
          </a:xfrm>
          <a:prstGeom prst="ellipse">
            <a:avLst/>
          </a:prstGeom>
          <a:solidFill>
            <a:srgbClr val="2A2E35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5710428" y="251460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280660" y="3429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7333488" y="2514600"/>
            <a:ext cx="786384" cy="786384"/>
          </a:xfrm>
          <a:prstGeom prst="ellipse">
            <a:avLst/>
          </a:prstGeom>
          <a:solidFill>
            <a:srgbClr val="2A2E35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7333488" y="251460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903720" y="3429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 연결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8956548" y="2514600"/>
            <a:ext cx="786384" cy="786384"/>
          </a:xfrm>
          <a:prstGeom prst="ellipse">
            <a:avLst/>
          </a:prstGeom>
          <a:solidFill>
            <a:srgbClr val="2A2E35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8956548" y="251460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8526780" y="3429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리체크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10579608" y="2514600"/>
            <a:ext cx="786384" cy="786384"/>
          </a:xfrm>
          <a:prstGeom prst="ellipse">
            <a:avLst/>
          </a:prstGeom>
          <a:solidFill>
            <a:srgbClr val="009E73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10579608" y="251460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10149840" y="3429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변화 확인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960120" y="4709160"/>
            <a:ext cx="10378440" cy="603504"/>
          </a:xfrm>
          <a:prstGeom prst="roundRect">
            <a:avLst>
              <a:gd name="adj" fmla="val 21212"/>
            </a:avLst>
          </a:prstGeom>
          <a:solidFill>
            <a:srgbClr val="E9EDF1"/>
          </a:solidFill>
          <a:ln/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 rot="16200000">
            <a:off x="1152144" y="4882896"/>
            <a:ext cx="256032" cy="256032"/>
          </a:xfrm>
          <a:prstGeom prst="triangle">
            <a:avLst/>
          </a:prstGeom>
          <a:solidFill>
            <a:srgbClr val="A87400"/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1737360" y="4709160"/>
            <a:ext cx="9418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학기가 끝나면 다시 체크인으로  ·  Closed Loop — 한 번의 진단이 아니라 반복되는 루프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48640" y="57150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 학기 이 루프를 돌며 학생의 신호 변화를 추적하고, 개입이 효과가 있었는지 확인합니다.</a:t>
            </a:r>
            <a:endParaRPr lang="en-US" sz="1300" dirty="0"/>
          </a:p>
        </p:txBody>
      </p:sp>
      <p:sp>
        <p:nvSpPr>
          <p:cNvPr id="53" name="TextBox 52"/>
          <p:cNvSpPr txBox="1"/>
          <p:nvPr/>
        </p:nvSpPr>
        <p:spPr>
          <a:xfrm>
            <a:off x="11137392" y="6318504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B6773"/>
                </a:solidFill>
                <a:latin typeface="Malgun Gothic"/>
              </a:rPr>
              <a:t>10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60920" y="137160"/>
            <a:ext cx="107899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5B6773"/>
                </a:solidFill>
                <a:latin typeface="Malgun Gothic"/>
              </a:rPr>
              <a:t>1. 제안 배경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406640" y="448056"/>
            <a:ext cx="987551" cy="41148"/>
          </a:xfrm>
          <a:prstGeom prst="rect">
            <a:avLst/>
          </a:prstGeom>
          <a:solidFill>
            <a:srgbClr val="C7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531352" y="137160"/>
            <a:ext cx="932688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1">
                <a:solidFill>
                  <a:srgbClr val="222A36"/>
                </a:solidFill>
                <a:latin typeface="Malgun Gothic"/>
              </a:rPr>
              <a:t>2. 서비스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577072" y="448056"/>
            <a:ext cx="841248" cy="41148"/>
          </a:xfrm>
          <a:prstGeom prst="rect">
            <a:avLst/>
          </a:prstGeom>
          <a:solidFill>
            <a:srgbClr val="00A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555480" y="137160"/>
            <a:ext cx="1133856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5B6773"/>
                </a:solidFill>
                <a:latin typeface="Malgun Gothic"/>
              </a:rPr>
              <a:t>3. 검증·근거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601200" y="448056"/>
            <a:ext cx="1042415" cy="41148"/>
          </a:xfrm>
          <a:prstGeom prst="rect">
            <a:avLst/>
          </a:prstGeom>
          <a:solidFill>
            <a:srgbClr val="C7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780776" y="137160"/>
            <a:ext cx="107899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5B6773"/>
                </a:solidFill>
                <a:latin typeface="Malgun Gothic"/>
              </a:rPr>
              <a:t>4. 도입 계획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826496" y="448056"/>
            <a:ext cx="987551" cy="41148"/>
          </a:xfrm>
          <a:prstGeom prst="rect">
            <a:avLst/>
          </a:prstGeom>
          <a:solidFill>
            <a:srgbClr val="C7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가지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548640" y="1783080"/>
            <a:ext cx="2578608" cy="361188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22960" y="2084832"/>
            <a:ext cx="566928" cy="566928"/>
          </a:xfrm>
          <a:prstGeom prst="ellipse">
            <a:avLst/>
          </a:prstGeom>
          <a:solidFill>
            <a:srgbClr val="2A2E3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22960" y="2084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86384" y="2816352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간편 체크인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86384" y="3493008"/>
            <a:ext cx="21214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3분 설문·웨어러블 동기화로 생활 </a:t>
            </a:r>
            <a:r>
              <a:rPr lang="en-US" sz="1250" dirty="0" err="1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신호를</a:t>
            </a: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확보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86384" y="4828032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E1F3ED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86384" y="482803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3분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383280" y="1783080"/>
            <a:ext cx="2578608" cy="361188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3657600" y="2084832"/>
            <a:ext cx="566928" cy="566928"/>
          </a:xfrm>
          <a:prstGeom prst="ellipse">
            <a:avLst/>
          </a:prstGeom>
          <a:solidFill>
            <a:srgbClr val="2A2E35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3657600" y="2084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3621024" y="2816352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건강신호 생성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3621024" y="3493008"/>
            <a:ext cx="21214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3등급으로 </a:t>
            </a:r>
            <a:r>
              <a:rPr lang="en-US" sz="1250" dirty="0" err="1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분류하고</a:t>
            </a: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SHAP 근거를 </a:t>
            </a:r>
            <a:r>
              <a:rPr lang="en-US" sz="1250" dirty="0" err="1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</a:t>
            </a: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50" dirty="0" err="1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제시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621024" y="4828032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E1F3ED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3621024" y="482803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 포함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217920" y="1783080"/>
            <a:ext cx="2578608" cy="361188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6492240" y="2084832"/>
            <a:ext cx="566928" cy="566928"/>
          </a:xfrm>
          <a:prstGeom prst="ellipse">
            <a:avLst/>
          </a:prstGeom>
          <a:solidFill>
            <a:srgbClr val="2A2E35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492240" y="2084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6455664" y="2816352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개입 오케스트레이션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6455664" y="3493008"/>
            <a:ext cx="21214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등급별 콘텐츠·프로그램·상담을 </a:t>
            </a:r>
            <a:r>
              <a:rPr lang="en-US" sz="1250" dirty="0" err="1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자동으로</a:t>
            </a: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50" dirty="0" err="1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조합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455664" y="4828032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E1F3ED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455664" y="482803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052560" y="1783080"/>
            <a:ext cx="2578608" cy="361188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9326880" y="2084832"/>
            <a:ext cx="566928" cy="566928"/>
          </a:xfrm>
          <a:prstGeom prst="ellipse">
            <a:avLst/>
          </a:prstGeom>
          <a:solidFill>
            <a:srgbClr val="2A2E35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9326880" y="2084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900" dirty="0"/>
          </a:p>
        </p:txBody>
      </p:sp>
      <p:sp>
        <p:nvSpPr>
          <p:cNvPr id="37" name="Text 35"/>
          <p:cNvSpPr/>
          <p:nvPr/>
        </p:nvSpPr>
        <p:spPr>
          <a:xfrm>
            <a:off x="9290304" y="2816352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대시보드</a:t>
            </a:r>
            <a:endParaRPr lang="en-US" sz="1550" dirty="0"/>
          </a:p>
        </p:txBody>
      </p:sp>
      <p:sp>
        <p:nvSpPr>
          <p:cNvPr id="38" name="Text 36"/>
          <p:cNvSpPr/>
          <p:nvPr/>
        </p:nvSpPr>
        <p:spPr>
          <a:xfrm>
            <a:off x="9290304" y="3493008"/>
            <a:ext cx="21214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위험군·참여·개선을 한 </a:t>
            </a:r>
            <a:r>
              <a:rPr lang="en-US" sz="1250" dirty="0" err="1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화면에서</a:t>
            </a: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9290304" y="4828032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E1F3ED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9290304" y="482803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</a:t>
            </a:r>
            <a:endParaRPr lang="en-US" sz="1150" dirty="0"/>
          </a:p>
        </p:txBody>
      </p:sp>
      <p:sp>
        <p:nvSpPr>
          <p:cNvPr id="49" name="TextBox 48"/>
          <p:cNvSpPr txBox="1"/>
          <p:nvPr/>
        </p:nvSpPr>
        <p:spPr>
          <a:xfrm>
            <a:off x="11137392" y="6318504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B6773"/>
                </a:solidFill>
                <a:latin typeface="Malgun Gothic"/>
              </a:rPr>
              <a:t>11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60920" y="137160"/>
            <a:ext cx="107899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5B6773"/>
                </a:solidFill>
                <a:latin typeface="Malgun Gothic"/>
              </a:rPr>
              <a:t>1. 제안 배경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06640" y="448056"/>
            <a:ext cx="987551" cy="41148"/>
          </a:xfrm>
          <a:prstGeom prst="rect">
            <a:avLst/>
          </a:prstGeom>
          <a:solidFill>
            <a:srgbClr val="C7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531352" y="137160"/>
            <a:ext cx="932688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1">
                <a:solidFill>
                  <a:srgbClr val="222A36"/>
                </a:solidFill>
                <a:latin typeface="Malgun Gothic"/>
              </a:rPr>
              <a:t>2. 서비스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577072" y="448056"/>
            <a:ext cx="841248" cy="41148"/>
          </a:xfrm>
          <a:prstGeom prst="rect">
            <a:avLst/>
          </a:prstGeom>
          <a:solidFill>
            <a:srgbClr val="00A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555480" y="137160"/>
            <a:ext cx="1133856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5B6773"/>
                </a:solidFill>
                <a:latin typeface="Malgun Gothic"/>
              </a:rPr>
              <a:t>3. 검증·근거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01200" y="448056"/>
            <a:ext cx="1042415" cy="41148"/>
          </a:xfrm>
          <a:prstGeom prst="rect">
            <a:avLst/>
          </a:prstGeom>
          <a:solidFill>
            <a:srgbClr val="C7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780776" y="137160"/>
            <a:ext cx="107899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5B6773"/>
                </a:solidFill>
                <a:latin typeface="Malgun Gothic"/>
              </a:rPr>
              <a:t>4. 도입 계획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826496" y="448056"/>
            <a:ext cx="987551" cy="41148"/>
          </a:xfrm>
          <a:prstGeom prst="rect">
            <a:avLst/>
          </a:prstGeom>
          <a:solidFill>
            <a:srgbClr val="C7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 · DASHBOARD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화면 보는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</a:t>
            </a: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현황과</a:t>
            </a: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457200" y="1463040"/>
            <a:ext cx="11274552" cy="489204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57200" y="1463040"/>
            <a:ext cx="11274552" cy="457200"/>
          </a:xfrm>
          <a:prstGeom prst="roundRect">
            <a:avLst>
              <a:gd name="adj" fmla="val 12000"/>
            </a:avLst>
          </a:prstGeom>
          <a:solidFill>
            <a:srgbClr val="1F2430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85800" y="1618488"/>
            <a:ext cx="137160" cy="137160"/>
          </a:xfrm>
          <a:prstGeom prst="ellipse">
            <a:avLst/>
          </a:prstGeom>
          <a:solidFill>
            <a:srgbClr val="D55E00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914400" y="1618488"/>
            <a:ext cx="137160" cy="137160"/>
          </a:xfrm>
          <a:prstGeom prst="ellipse">
            <a:avLst/>
          </a:prstGeom>
          <a:solidFill>
            <a:srgbClr val="E69F00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1143000" y="1618488"/>
            <a:ext cx="137160" cy="137160"/>
          </a:xfrm>
          <a:prstGeom prst="ellipse">
            <a:avLst/>
          </a:prstGeom>
          <a:solidFill>
            <a:srgbClr val="009E73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371600" y="1490472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EB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건강신호등  ·  보건센터 대시보드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875520" y="149047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2026-07-14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2084832"/>
            <a:ext cx="3429000" cy="1024128"/>
          </a:xfrm>
          <a:prstGeom prst="roundRect">
            <a:avLst>
              <a:gd name="adj" fmla="val 8036"/>
            </a:avLst>
          </a:prstGeom>
          <a:solidFill>
            <a:srgbClr val="F3F5F7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87552" y="2185416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8,420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005840" y="275234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학생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334256" y="2084832"/>
            <a:ext cx="3429000" cy="1024128"/>
          </a:xfrm>
          <a:prstGeom prst="roundRect">
            <a:avLst>
              <a:gd name="adj" fmla="val 8036"/>
            </a:avLst>
          </a:prstGeom>
          <a:solidFill>
            <a:srgbClr val="F3F5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590288" y="2185416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55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690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4608576" y="275234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위험군 (Unhealthy)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936992" y="2084832"/>
            <a:ext cx="3429000" cy="1024128"/>
          </a:xfrm>
          <a:prstGeom prst="roundRect">
            <a:avLst>
              <a:gd name="adj" fmla="val 8036"/>
            </a:avLst>
          </a:prstGeom>
          <a:solidFill>
            <a:srgbClr val="F3F5F7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193024" y="2185416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23%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8211312" y="275234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달 개선율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31520" y="3310128"/>
            <a:ext cx="5989320" cy="2852928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960120" y="343814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위험군 리스트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960120" y="3931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S-10428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103120" y="4041648"/>
            <a:ext cx="146304" cy="146304"/>
          </a:xfrm>
          <a:prstGeom prst="ellipse">
            <a:avLst/>
          </a:prstGeom>
          <a:solidFill>
            <a:srgbClr val="D55E00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2322576" y="3931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55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Unhealthy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703320" y="393192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수면 3.9h · 스트레스 high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960120" y="4425696"/>
            <a:ext cx="5532120" cy="0"/>
          </a:xfrm>
          <a:prstGeom prst="line">
            <a:avLst/>
          </a:prstGeom>
          <a:noFill/>
          <a:ln w="9525">
            <a:solidFill>
              <a:srgbClr val="DCE1E7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960120" y="44805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S-09982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103120" y="4590288"/>
            <a:ext cx="146304" cy="146304"/>
          </a:xfrm>
          <a:prstGeom prst="ellipse">
            <a:avLst/>
          </a:prstGeom>
          <a:solidFill>
            <a:srgbClr val="D55E00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2322576" y="4480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55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Unhealthy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3703320" y="44805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수면 4.5h · 흡연·음주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960120" y="4974336"/>
            <a:ext cx="5532120" cy="0"/>
          </a:xfrm>
          <a:prstGeom prst="line">
            <a:avLst/>
          </a:prstGeom>
          <a:noFill/>
          <a:ln w="9525">
            <a:solidFill>
              <a:srgbClr val="DCE1E7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960120" y="50292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S-10774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103120" y="5138928"/>
            <a:ext cx="146304" cy="146304"/>
          </a:xfrm>
          <a:prstGeom prst="ellipse">
            <a:avLst/>
          </a:prstGeom>
          <a:solidFill>
            <a:srgbClr val="E69F00"/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2322576" y="5029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87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At-risk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3703320" y="50292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활동 sedentary · 수면 5.8h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960120" y="5522976"/>
            <a:ext cx="5532120" cy="0"/>
          </a:xfrm>
          <a:prstGeom prst="line">
            <a:avLst/>
          </a:prstGeom>
          <a:noFill/>
          <a:ln w="9525">
            <a:solidFill>
              <a:srgbClr val="DCE1E7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960120" y="55778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S-11045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2103120" y="5687568"/>
            <a:ext cx="146304" cy="146304"/>
          </a:xfrm>
          <a:prstGeom prst="ellipse">
            <a:avLst/>
          </a:prstGeom>
          <a:solidFill>
            <a:srgbClr val="E69F00"/>
          </a:solidFill>
          <a:ln/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2322576" y="5577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87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At-risk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3703320" y="55778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BMI 29 · 스트레스 medium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903720" y="3310128"/>
            <a:ext cx="4828032" cy="2852928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7132320" y="343814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개입 프로그램 참여율</a:t>
            </a:r>
            <a:endParaRPr lang="en-US" sz="1350" dirty="0"/>
          </a:p>
        </p:txBody>
      </p:sp>
      <p:sp>
        <p:nvSpPr>
          <p:cNvPr id="52" name="Text 50"/>
          <p:cNvSpPr/>
          <p:nvPr/>
        </p:nvSpPr>
        <p:spPr>
          <a:xfrm>
            <a:off x="7132320" y="37490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정기 건강 리포트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7132320" y="4005072"/>
            <a:ext cx="3108960" cy="219456"/>
          </a:xfrm>
          <a:prstGeom prst="roundRect">
            <a:avLst>
              <a:gd name="adj" fmla="val 20833"/>
            </a:avLst>
          </a:prstGeom>
          <a:solidFill>
            <a:srgbClr val="E9EDF1"/>
          </a:solidFill>
          <a:ln/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7132320" y="4005072"/>
            <a:ext cx="2424989" cy="219456"/>
          </a:xfrm>
          <a:prstGeom prst="roundRect">
            <a:avLst>
              <a:gd name="adj" fmla="val 20833"/>
            </a:avLst>
          </a:prstGeom>
          <a:solidFill>
            <a:srgbClr val="009E73"/>
          </a:solidFill>
          <a:ln/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10378440" y="395020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78%</a:t>
            </a:r>
            <a:endParaRPr lang="en-US" sz="1250" dirty="0"/>
          </a:p>
        </p:txBody>
      </p:sp>
      <p:sp>
        <p:nvSpPr>
          <p:cNvPr id="56" name="Text 54"/>
          <p:cNvSpPr/>
          <p:nvPr/>
        </p:nvSpPr>
        <p:spPr>
          <a:xfrm>
            <a:off x="7132320" y="446227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생활습관 코칭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7132320" y="4718304"/>
            <a:ext cx="3108960" cy="219456"/>
          </a:xfrm>
          <a:prstGeom prst="roundRect">
            <a:avLst>
              <a:gd name="adj" fmla="val 20833"/>
            </a:avLst>
          </a:prstGeom>
          <a:solidFill>
            <a:srgbClr val="E9EDF1"/>
          </a:solidFill>
          <a:ln/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7132320" y="4718304"/>
            <a:ext cx="1896466" cy="219456"/>
          </a:xfrm>
          <a:prstGeom prst="roundRect">
            <a:avLst>
              <a:gd name="adj" fmla="val 20833"/>
            </a:avLst>
          </a:prstGeom>
          <a:solidFill>
            <a:srgbClr val="E69F00"/>
          </a:solidFill>
          <a:ln/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10378440" y="466344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87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61%</a:t>
            </a:r>
            <a:endParaRPr lang="en-US" sz="1250" dirty="0"/>
          </a:p>
        </p:txBody>
      </p:sp>
      <p:sp>
        <p:nvSpPr>
          <p:cNvPr id="60" name="Text 58"/>
          <p:cNvSpPr/>
          <p:nvPr/>
        </p:nvSpPr>
        <p:spPr>
          <a:xfrm>
            <a:off x="7132320" y="517550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 연계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7132320" y="5431536"/>
            <a:ext cx="3108960" cy="219456"/>
          </a:xfrm>
          <a:prstGeom prst="roundRect">
            <a:avLst>
              <a:gd name="adj" fmla="val 20833"/>
            </a:avLst>
          </a:prstGeom>
          <a:solidFill>
            <a:srgbClr val="E9EDF1"/>
          </a:solidFill>
          <a:ln/>
        </p:spPr>
        <p:txBody>
          <a:bodyPr/>
          <a:p/>
        </p:txBody>
      </p:sp>
      <p:sp>
        <p:nvSpPr>
          <p:cNvPr id="62" name="Shape 60"/>
          <p:cNvSpPr/>
          <p:nvPr/>
        </p:nvSpPr>
        <p:spPr>
          <a:xfrm>
            <a:off x="7132320" y="5431536"/>
            <a:ext cx="1367942" cy="219456"/>
          </a:xfrm>
          <a:prstGeom prst="roundRect">
            <a:avLst>
              <a:gd name="adj" fmla="val 20833"/>
            </a:avLst>
          </a:prstGeom>
          <a:solidFill>
            <a:srgbClr val="D55E00"/>
          </a:solidFill>
          <a:ln/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10378440" y="537667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55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44%</a:t>
            </a:r>
            <a:endParaRPr lang="en-US" sz="1250" dirty="0"/>
          </a:p>
        </p:txBody>
      </p:sp>
      <p:sp>
        <p:nvSpPr>
          <p:cNvPr id="64" name="Text 62"/>
          <p:cNvSpPr/>
          <p:nvPr/>
        </p:nvSpPr>
        <p:spPr>
          <a:xfrm>
            <a:off x="7132320" y="5943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 서비스 화면 예시 — 수치는 목업 샘플</a:t>
            </a:r>
            <a:endParaRPr lang="en-US" sz="1000" dirty="0"/>
          </a:p>
        </p:txBody>
      </p:sp>
      <p:sp>
        <p:nvSpPr>
          <p:cNvPr id="73" name="TextBox 72"/>
          <p:cNvSpPr txBox="1"/>
          <p:nvPr/>
        </p:nvSpPr>
        <p:spPr>
          <a:xfrm>
            <a:off x="11137392" y="6318504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B6773"/>
                </a:solidFill>
                <a:latin typeface="Malgun Gothic"/>
              </a:rPr>
              <a:t>12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360920" y="137160"/>
            <a:ext cx="107899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5B6773"/>
                </a:solidFill>
                <a:latin typeface="Malgun Gothic"/>
              </a:rPr>
              <a:t>1. 제안 배경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406640" y="448056"/>
            <a:ext cx="987551" cy="41148"/>
          </a:xfrm>
          <a:prstGeom prst="rect">
            <a:avLst/>
          </a:prstGeom>
          <a:solidFill>
            <a:srgbClr val="C7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531352" y="137160"/>
            <a:ext cx="932688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1">
                <a:solidFill>
                  <a:srgbClr val="222A36"/>
                </a:solidFill>
                <a:latin typeface="Malgun Gothic"/>
              </a:rPr>
              <a:t>2. 서비스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577072" y="448056"/>
            <a:ext cx="841248" cy="41148"/>
          </a:xfrm>
          <a:prstGeom prst="rect">
            <a:avLst/>
          </a:prstGeom>
          <a:solidFill>
            <a:srgbClr val="00A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9555480" y="137160"/>
            <a:ext cx="1133856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5B6773"/>
                </a:solidFill>
                <a:latin typeface="Malgun Gothic"/>
              </a:rPr>
              <a:t>3. 검증·근거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601200" y="448056"/>
            <a:ext cx="1042415" cy="41148"/>
          </a:xfrm>
          <a:prstGeom prst="rect">
            <a:avLst/>
          </a:prstGeom>
          <a:solidFill>
            <a:srgbClr val="C7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0780776" y="137160"/>
            <a:ext cx="107899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5B6773"/>
                </a:solidFill>
                <a:latin typeface="Malgun Gothic"/>
              </a:rPr>
              <a:t>4. 도입 계획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826496" y="448056"/>
            <a:ext cx="987551" cy="41148"/>
          </a:xfrm>
          <a:prstGeom prst="rect">
            <a:avLst/>
          </a:prstGeom>
          <a:solidFill>
            <a:srgbClr val="C7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8"/>
          <p:cNvSpPr/>
          <p:nvPr/>
        </p:nvSpPr>
        <p:spPr>
          <a:xfrm>
            <a:off x="9459468" y="1527048"/>
            <a:ext cx="1472184" cy="4306824"/>
          </a:xfrm>
          <a:prstGeom prst="roundRect">
            <a:avLst>
              <a:gd name="adj" fmla="val 11180"/>
            </a:avLst>
          </a:prstGeom>
          <a:solidFill>
            <a:srgbClr val="2B313E"/>
          </a:solidFill>
          <a:ln w="15875">
            <a:solidFill>
              <a:srgbClr val="3B4354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9715500" y="1783080"/>
            <a:ext cx="960120" cy="960120"/>
          </a:xfrm>
          <a:prstGeom prst="ellipse">
            <a:avLst/>
          </a:prstGeom>
          <a:solidFill>
            <a:srgbClr val="D55E00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9715500" y="3200400"/>
            <a:ext cx="960120" cy="960120"/>
          </a:xfrm>
          <a:prstGeom prst="ellipse">
            <a:avLst/>
          </a:prstGeom>
          <a:solidFill>
            <a:srgbClr val="E69F00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9715500" y="4617720"/>
            <a:ext cx="960120" cy="960120"/>
          </a:xfrm>
          <a:prstGeom prst="ellipse">
            <a:avLst/>
          </a:prstGeom>
          <a:solidFill>
            <a:srgbClr val="009E73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2960" y="23317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A67D"/>
                </a:solidFill>
                <a:latin typeface="Malgun Gothic"/>
              </a:rPr>
              <a:t>SECTION 3 · EVIDENCE</a:t>
            </a:r>
          </a:p>
        </p:txBody>
      </p:sp>
      <p:sp>
        <p:nvSpPr>
          <p:cNvPr id="15" name="Text 13"/>
          <p:cNvSpPr/>
          <p:nvPr/>
        </p:nvSpPr>
        <p:spPr>
          <a:xfrm>
            <a:off x="795528" y="274320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Malgun Gothic"/>
              </a:rPr>
              <a:t>왜 이 신호를 믿을 수 있는가</a:t>
            </a:r>
          </a:p>
        </p:txBody>
      </p:sp>
      <p:sp>
        <p:nvSpPr>
          <p:cNvPr id="16" name="Text 14"/>
          <p:cNvSpPr/>
          <p:nvPr/>
        </p:nvSpPr>
        <p:spPr>
          <a:xfrm>
            <a:off x="832104" y="38221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D2DCE4"/>
                </a:solidFill>
                <a:latin typeface="Malgun Gothic"/>
              </a:rPr>
              <a:t>690,088건 · 5-Fold OOF · SHAP · Public 결과로 검증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37392" y="6318504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0AEB9"/>
                </a:solidFill>
                <a:latin typeface="Malgun Gothic"/>
              </a:rPr>
              <a:t>13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60920" y="137160"/>
            <a:ext cx="1078992" cy="292608"/>
          </a:xfrm>
          <a:prstGeom prst="rect">
            <a:avLst/>
          </a:prstGeom>
          <a:solidFill>
            <a:srgbClr val="22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CAD5DD"/>
                </a:solidFill>
                <a:latin typeface="Malgun Gothic"/>
              </a:rPr>
              <a:t>1. 제안 배경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06640" y="448056"/>
            <a:ext cx="987551" cy="41148"/>
          </a:xfrm>
          <a:prstGeom prst="rect">
            <a:avLst/>
          </a:prstGeom>
          <a:solidFill>
            <a:srgbClr val="B4C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31352" y="137160"/>
            <a:ext cx="932688" cy="292608"/>
          </a:xfrm>
          <a:prstGeom prst="rect">
            <a:avLst/>
          </a:prstGeom>
          <a:solidFill>
            <a:srgbClr val="22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CAD5DD"/>
                </a:solidFill>
                <a:latin typeface="Malgun Gothic"/>
              </a:rPr>
              <a:t>2. 서비스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77072" y="448056"/>
            <a:ext cx="841248" cy="41148"/>
          </a:xfrm>
          <a:prstGeom prst="rect">
            <a:avLst/>
          </a:prstGeom>
          <a:solidFill>
            <a:srgbClr val="B4C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55480" y="137160"/>
            <a:ext cx="1133856" cy="292608"/>
          </a:xfrm>
          <a:prstGeom prst="rect">
            <a:avLst/>
          </a:prstGeom>
          <a:solidFill>
            <a:srgbClr val="22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1">
                <a:solidFill>
                  <a:srgbClr val="FFFFFF"/>
                </a:solidFill>
                <a:latin typeface="Malgun Gothic"/>
              </a:rPr>
              <a:t>3. 검증·근거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01200" y="448056"/>
            <a:ext cx="1042415" cy="41148"/>
          </a:xfrm>
          <a:prstGeom prst="rect">
            <a:avLst/>
          </a:prstGeom>
          <a:solidFill>
            <a:srgbClr val="00A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780776" y="137160"/>
            <a:ext cx="1078992" cy="292608"/>
          </a:xfrm>
          <a:prstGeom prst="rect">
            <a:avLst/>
          </a:prstGeom>
          <a:solidFill>
            <a:srgbClr val="22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CAD5DD"/>
                </a:solidFill>
                <a:latin typeface="Malgun Gothic"/>
              </a:rPr>
              <a:t>4. 도입 계획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826496" y="448056"/>
            <a:ext cx="987551" cy="41148"/>
          </a:xfrm>
          <a:prstGeom prst="rect">
            <a:avLst/>
          </a:prstGeom>
          <a:solidFill>
            <a:srgbClr val="B4C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EVIDENCE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등급을 가르는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수면·스트레스·활동</a:t>
            </a:r>
            <a:endParaRPr lang="en-US" sz="3400" dirty="0"/>
          </a:p>
        </p:txBody>
      </p:sp>
      <p:pic>
        <p:nvPicPr>
          <p:cNvPr id="13" name="Image 0" descr="C:/Users/1/AppData/Local/Temp/claude/C--Users-1--claude/45391a5d-3788-4f7f-b795-a49f83cafb61/scratchpad/teammate/kaggle-student-health-risk-master/assets/effect_siz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092" y="1843228"/>
            <a:ext cx="6280597" cy="4063796"/>
          </a:xfrm>
          <a:prstGeom prst="rect">
            <a:avLst/>
          </a:prstGeom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pic>
      <p:sp>
        <p:nvSpPr>
          <p:cNvPr id="14" name="Text 11"/>
          <p:cNvSpPr/>
          <p:nvPr/>
        </p:nvSpPr>
        <p:spPr>
          <a:xfrm>
            <a:off x="6659417" y="15087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삼각검증 — 세 가지 방법이 같은 결론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659417" y="1920240"/>
            <a:ext cx="5230368" cy="932688"/>
          </a:xfrm>
          <a:prstGeom prst="roundRect">
            <a:avLst>
              <a:gd name="adj" fmla="val 8824"/>
            </a:avLst>
          </a:prstGeom>
          <a:solidFill>
            <a:srgbClr val="F3F5F7"/>
          </a:solidFill>
          <a:ln w="12700">
            <a:solidFill>
              <a:srgbClr val="DCE1E7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878873" y="203911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통계 검정 (effect size)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6878873" y="237744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stress V=0.412 · activity V=0.241 · sleep η²=0.195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659417" y="2962656"/>
            <a:ext cx="5230368" cy="932688"/>
          </a:xfrm>
          <a:prstGeom prst="roundRect">
            <a:avLst>
              <a:gd name="adj" fmla="val 8824"/>
            </a:avLst>
          </a:prstGeom>
          <a:solidFill>
            <a:srgbClr val="F3F5F7"/>
          </a:solidFill>
          <a:ln w="12700">
            <a:solidFill>
              <a:srgbClr val="DCE1E7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6878873" y="308152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모델 feature importance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6878873" y="341985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동일한 상위 3개 변수를 지목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659417" y="4005072"/>
            <a:ext cx="5230368" cy="932688"/>
          </a:xfrm>
          <a:prstGeom prst="roundRect">
            <a:avLst>
              <a:gd name="adj" fmla="val 8824"/>
            </a:avLst>
          </a:prstGeom>
          <a:solidFill>
            <a:srgbClr val="F3F5F7"/>
          </a:solidFill>
          <a:ln w="12700">
            <a:solidFill>
              <a:srgbClr val="DCE1E7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6878873" y="412394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원본데이터 역공학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6878873" y="446227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깊이 4 결정트리에 이 3개만 등장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6659417" y="5065776"/>
            <a:ext cx="5230368" cy="960120"/>
          </a:xfrm>
          <a:prstGeom prst="roundRect">
            <a:avLst>
              <a:gd name="adj" fmla="val 8571"/>
            </a:avLst>
          </a:prstGeom>
          <a:solidFill>
            <a:srgbClr val="FBE9DD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6878873" y="5193792"/>
            <a:ext cx="48280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D55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heart_rate · water_intake 는 effect size ≈ 0.  </a:t>
            </a:r>
          </a:p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n=690k라 p값은 무의미하게 유의 — effect </a:t>
            </a:r>
            <a:r>
              <a:rPr lang="en-US" sz="1250" dirty="0" err="1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size로</a:t>
            </a: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50" dirty="0" err="1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</a:t>
            </a:r>
            <a:endParaRPr lang="en-US" sz="1250" dirty="0"/>
          </a:p>
        </p:txBody>
      </p:sp>
      <p:sp>
        <p:nvSpPr>
          <p:cNvPr id="34" name="TextBox 33"/>
          <p:cNvSpPr txBox="1"/>
          <p:nvPr/>
        </p:nvSpPr>
        <p:spPr>
          <a:xfrm>
            <a:off x="11137392" y="6318504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B6773"/>
                </a:solidFill>
                <a:latin typeface="Malgun Gothic"/>
              </a:rPr>
              <a:t>14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60920" y="137160"/>
            <a:ext cx="107899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5B6773"/>
                </a:solidFill>
                <a:latin typeface="Malgun Gothic"/>
              </a:rPr>
              <a:t>1. 제안 배경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06640" y="448056"/>
            <a:ext cx="987551" cy="41148"/>
          </a:xfrm>
          <a:prstGeom prst="rect">
            <a:avLst/>
          </a:prstGeom>
          <a:solidFill>
            <a:srgbClr val="C7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531352" y="137160"/>
            <a:ext cx="932688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5B6773"/>
                </a:solidFill>
                <a:latin typeface="Malgun Gothic"/>
              </a:rPr>
              <a:t>2. 서비스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77072" y="448056"/>
            <a:ext cx="841248" cy="41148"/>
          </a:xfrm>
          <a:prstGeom prst="rect">
            <a:avLst/>
          </a:prstGeom>
          <a:solidFill>
            <a:srgbClr val="C7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55480" y="137160"/>
            <a:ext cx="1133856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1">
                <a:solidFill>
                  <a:srgbClr val="222A36"/>
                </a:solidFill>
                <a:latin typeface="Malgun Gothic"/>
              </a:rPr>
              <a:t>3. 검증·근거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01200" y="448056"/>
            <a:ext cx="1042415" cy="41148"/>
          </a:xfrm>
          <a:prstGeom prst="rect">
            <a:avLst/>
          </a:prstGeom>
          <a:solidFill>
            <a:srgbClr val="00A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780776" y="137160"/>
            <a:ext cx="107899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5B6773"/>
                </a:solidFill>
                <a:latin typeface="Malgun Gothic"/>
              </a:rPr>
              <a:t>4. 도입 계획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826496" y="448056"/>
            <a:ext cx="987551" cy="41148"/>
          </a:xfrm>
          <a:prstGeom prst="rect">
            <a:avLst/>
          </a:prstGeom>
          <a:solidFill>
            <a:srgbClr val="C7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EVIDENCE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결측을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허용하도록</a:t>
            </a: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3400" dirty="0"/>
          </a:p>
        </p:txBody>
      </p:sp>
      <p:pic>
        <p:nvPicPr>
          <p:cNvPr id="13" name="Image 0" descr="C:/Users/1/AppData/Local/Temp/claude/C--Users-1--claude/45391a5d-3788-4f7f-b795-a49f83cafb61/scratchpad/teammate/kaggle-student-health-risk-master/assets/missingn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83701"/>
            <a:ext cx="6126480" cy="3675814"/>
          </a:xfrm>
          <a:prstGeom prst="rect">
            <a:avLst/>
          </a:prstGeom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pic>
      <p:sp>
        <p:nvSpPr>
          <p:cNvPr id="14" name="Text 11"/>
          <p:cNvSpPr/>
          <p:nvPr/>
        </p:nvSpPr>
        <p:spPr>
          <a:xfrm>
            <a:off x="6903720" y="160020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D55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50.7%</a:t>
            </a:r>
            <a:endParaRPr lang="en-US" sz="5200" dirty="0"/>
          </a:p>
        </p:txBody>
      </p:sp>
      <p:sp>
        <p:nvSpPr>
          <p:cNvPr id="15" name="Text 12"/>
          <p:cNvSpPr/>
          <p:nvPr/>
        </p:nvSpPr>
        <p:spPr>
          <a:xfrm>
            <a:off x="6931152" y="243230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0"/>
              </a:spcAft>
            </a:pPr>
            <a:r>
              <a:rPr>
                <a:latin typeface="Malgun Gothic"/>
              </a:rPr>
              <a:t>만 완전한 행 → dropna 금지, 결측을 보존한 채 모델링</a:t>
            </a:r>
          </a:p>
        </p:txBody>
      </p:sp>
      <p:sp>
        <p:nvSpPr>
          <p:cNvPr id="16" name="Shape 13"/>
          <p:cNvSpPr/>
          <p:nvPr/>
        </p:nvSpPr>
        <p:spPr>
          <a:xfrm>
            <a:off x="6903720" y="3063240"/>
            <a:ext cx="4736592" cy="1600200"/>
          </a:xfrm>
          <a:prstGeom prst="roundRect">
            <a:avLst>
              <a:gd name="adj" fmla="val 5143"/>
            </a:avLst>
          </a:prstGeom>
          <a:solidFill>
            <a:srgbClr val="F3F5F7"/>
          </a:solidFill>
          <a:ln w="12700">
            <a:solidFill>
              <a:srgbClr val="DCE1E7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7132320" y="321868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‘결측 = 정보’ 가설은 기각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7132320" y="356616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클래스별 결측량이 거의 동일 — 결측 자체가 위험 신호라는 가설은 통계 검정에서 기각되었다.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903720" y="4846320"/>
            <a:ext cx="4736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0"/>
              </a:spcAft>
            </a:pPr>
            <a:r>
              <a:rPr>
                <a:latin typeface="Malgun Gothic"/>
              </a:rPr>
              <a:t>운영 원칙 — HGB의 native missing branch와 범주형 'missing' 라벨 사용. 모든 인코더는 fold train에서만 학습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37392" y="6318504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B6773"/>
                </a:solidFill>
                <a:latin typeface="Malgun Gothic"/>
              </a:rPr>
              <a:t>15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60920" y="137160"/>
            <a:ext cx="107899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5B6773"/>
                </a:solidFill>
                <a:latin typeface="Malgun Gothic"/>
              </a:rPr>
              <a:t>1. 제안 배경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06640" y="448056"/>
            <a:ext cx="987551" cy="41148"/>
          </a:xfrm>
          <a:prstGeom prst="rect">
            <a:avLst/>
          </a:prstGeom>
          <a:solidFill>
            <a:srgbClr val="C7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31352" y="137160"/>
            <a:ext cx="932688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5B6773"/>
                </a:solidFill>
                <a:latin typeface="Malgun Gothic"/>
              </a:rPr>
              <a:t>2. 서비스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77072" y="448056"/>
            <a:ext cx="841248" cy="41148"/>
          </a:xfrm>
          <a:prstGeom prst="rect">
            <a:avLst/>
          </a:prstGeom>
          <a:solidFill>
            <a:srgbClr val="C7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555480" y="137160"/>
            <a:ext cx="1133856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1">
                <a:solidFill>
                  <a:srgbClr val="222A36"/>
                </a:solidFill>
                <a:latin typeface="Malgun Gothic"/>
              </a:rPr>
              <a:t>3. 검증·근거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01200" y="448056"/>
            <a:ext cx="1042415" cy="41148"/>
          </a:xfrm>
          <a:prstGeom prst="rect">
            <a:avLst/>
          </a:prstGeom>
          <a:solidFill>
            <a:srgbClr val="00A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780776" y="137160"/>
            <a:ext cx="107899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5B6773"/>
                </a:solidFill>
                <a:latin typeface="Malgun Gothic"/>
              </a:rPr>
              <a:t>4. 도입 계획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826496" y="448056"/>
            <a:ext cx="987551" cy="41148"/>
          </a:xfrm>
          <a:prstGeom prst="rect">
            <a:avLst/>
          </a:prstGeom>
          <a:solidFill>
            <a:srgbClr val="C7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EVIDENCE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정확하고</a:t>
            </a: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</a:t>
            </a: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엔진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548640" y="141732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층화 10만 행 · sample_weight = balanced · 학습 시간 측정으로 11개 모델을 동일 조건 비교</a:t>
            </a:r>
            <a:endParaRPr lang="en-US" sz="12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7360920" cy="4114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Balanced Acc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Fit (s)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7A82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3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HistGradientBoosting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3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9E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0.95183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3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3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7A82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CatBoost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0.94934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38.9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7A82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RandomForest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0.92500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7A82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LightGBM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0.92082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17.6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7A82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LogisticRegression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0.91995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7A82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XGBoost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0.91804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33.2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7A82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GaussianNB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0.87741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7A82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MLP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0.87026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27.2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i="1" dirty="0">
                          <a:solidFill>
                            <a:srgbClr val="7A82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가중 미지원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7A82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DecisionTree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0.87019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1.4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7A82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ExtraTrees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0.83340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6.7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7A82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KNN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0.67031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i="1" dirty="0">
                          <a:solidFill>
                            <a:srgbClr val="7A82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예측 2.9s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8092440" y="1783080"/>
            <a:ext cx="3547872" cy="4160520"/>
          </a:xfrm>
          <a:prstGeom prst="roundRect">
            <a:avLst>
              <a:gd name="adj" fmla="val 2320"/>
            </a:avLst>
          </a:prstGeom>
          <a:solidFill>
            <a:srgbClr val="F3F5F7"/>
          </a:solidFill>
          <a:ln w="12700">
            <a:solidFill>
              <a:srgbClr val="DCE1E7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8366760" y="2029968"/>
            <a:ext cx="137160" cy="137160"/>
          </a:xfrm>
          <a:prstGeom prst="ellipse">
            <a:avLst/>
          </a:prstGeom>
          <a:solidFill>
            <a:srgbClr val="D55E00"/>
          </a:solidFill>
          <a:ln/>
        </p:spPr>
        <p:txBody>
          <a:bodyPr/>
          <a:p/>
        </p:txBody>
      </p:sp>
      <p:sp>
        <p:nvSpPr>
          <p:cNvPr id="14" name="Shape 14"/>
          <p:cNvSpPr/>
          <p:nvPr/>
        </p:nvSpPr>
        <p:spPr>
          <a:xfrm>
            <a:off x="8595360" y="2029968"/>
            <a:ext cx="137160" cy="137160"/>
          </a:xfrm>
          <a:prstGeom prst="ellipse">
            <a:avLst/>
          </a:prstGeom>
          <a:solidFill>
            <a:srgbClr val="E69F00"/>
          </a:solidFill>
          <a:ln/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8823960" y="2029968"/>
            <a:ext cx="137160" cy="137160"/>
          </a:xfrm>
          <a:prstGeom prst="ellipse">
            <a:avLst/>
          </a:prstGeom>
          <a:solidFill>
            <a:srgbClr val="009E73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9144000" y="197510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321040" y="2423160"/>
            <a:ext cx="3200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lnSpc>
                <a:spcPct val="107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HistGB = 최고점(0.952) + 최속(4.2s)</a:t>
            </a:r>
            <a:endParaRPr lang="en-US" sz="1300" dirty="0"/>
          </a:p>
          <a:p>
            <a:pPr marL="203200" indent="-203200" algn="l">
              <a:lnSpc>
                <a:spcPct val="107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LogReg도 0.920 → 라벨이 단순 규칙에 가깝다는 방증</a:t>
            </a:r>
            <a:endParaRPr lang="en-US" sz="1300" dirty="0"/>
          </a:p>
          <a:p>
            <a:pPr marL="203200" indent="-203200" algn="l">
              <a:lnSpc>
                <a:spcPct val="107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부스팅·트리 계열 상위, 거리 기반(KNN) 최하</a:t>
            </a:r>
            <a:endParaRPr lang="en-US" sz="1300" dirty="0"/>
          </a:p>
          <a:p>
            <a:pPr marL="203200" indent="-203200" algn="l">
              <a:lnSpc>
                <a:spcPct val="107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10만 행·동일 가중으로 공정 비교</a:t>
            </a:r>
            <a:endParaRPr lang="en-US" sz="1300" dirty="0"/>
          </a:p>
        </p:txBody>
      </p:sp>
      <p:sp>
        <p:nvSpPr>
          <p:cNvPr id="29" name="TextBox 28"/>
          <p:cNvSpPr txBox="1"/>
          <p:nvPr/>
        </p:nvSpPr>
        <p:spPr>
          <a:xfrm>
            <a:off x="11137392" y="6318504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B6773"/>
                </a:solidFill>
                <a:latin typeface="Malgun Gothic"/>
              </a:rPr>
              <a:t>16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60920" y="137160"/>
            <a:ext cx="107899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5B6773"/>
                </a:solidFill>
                <a:latin typeface="Malgun Gothic"/>
              </a:rPr>
              <a:t>1. 제안 배경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06640" y="448056"/>
            <a:ext cx="987551" cy="41148"/>
          </a:xfrm>
          <a:prstGeom prst="rect">
            <a:avLst/>
          </a:prstGeom>
          <a:solidFill>
            <a:srgbClr val="C7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31352" y="137160"/>
            <a:ext cx="932688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5B6773"/>
                </a:solidFill>
                <a:latin typeface="Malgun Gothic"/>
              </a:rPr>
              <a:t>2. 서비스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77072" y="448056"/>
            <a:ext cx="841248" cy="41148"/>
          </a:xfrm>
          <a:prstGeom prst="rect">
            <a:avLst/>
          </a:prstGeom>
          <a:solidFill>
            <a:srgbClr val="C7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55480" y="137160"/>
            <a:ext cx="1133856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1">
                <a:solidFill>
                  <a:srgbClr val="222A36"/>
                </a:solidFill>
                <a:latin typeface="Malgun Gothic"/>
              </a:rPr>
              <a:t>3. 검증·근거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01200" y="448056"/>
            <a:ext cx="1042415" cy="41148"/>
          </a:xfrm>
          <a:prstGeom prst="rect">
            <a:avLst/>
          </a:prstGeom>
          <a:solidFill>
            <a:srgbClr val="00A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780776" y="137160"/>
            <a:ext cx="107899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5B6773"/>
                </a:solidFill>
                <a:latin typeface="Malgun Gothic"/>
              </a:rPr>
              <a:t>4. 도입 계획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826496" y="448056"/>
            <a:ext cx="987551" cy="41148"/>
          </a:xfrm>
          <a:prstGeom prst="rect">
            <a:avLst/>
          </a:prstGeom>
          <a:solidFill>
            <a:srgbClr val="C7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EVIDENCE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0"/>
              </a:spcAft>
            </a:pPr>
            <a:r>
              <a:rPr>
                <a:latin typeface="Malgun Gothic"/>
              </a:rPr>
              <a:t>빠른 앵커 + 이질 모델로 최종 조합</a:t>
            </a:r>
          </a:p>
        </p:txBody>
      </p:sp>
      <p:pic>
        <p:nvPicPr>
          <p:cNvPr id="13" name="Image 0" descr="C:/Users/1/AppData/Local/Temp/claude/C--Users-1--claude/45391a5d-3788-4f7f-b795-a49f83cafb61/scratchpad/teammate/kaggle-student-health-risk-master/assets/model_zoo_time_vs_sc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430" y="1554480"/>
            <a:ext cx="7481621" cy="4572000"/>
          </a:xfrm>
          <a:prstGeom prst="rect">
            <a:avLst/>
          </a:prstGeom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pic>
      <p:sp>
        <p:nvSpPr>
          <p:cNvPr id="14" name="Text 11"/>
          <p:cNvSpPr/>
          <p:nvPr/>
        </p:nvSpPr>
        <p:spPr>
          <a:xfrm>
            <a:off x="8229600" y="1645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선정 등식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8229600" y="2194560"/>
            <a:ext cx="3401568" cy="658368"/>
          </a:xfrm>
          <a:prstGeom prst="roundRect">
            <a:avLst>
              <a:gd name="adj" fmla="val 12500"/>
            </a:avLst>
          </a:prstGeom>
          <a:solidFill>
            <a:srgbClr val="F3F5F7"/>
          </a:solidFill>
          <a:ln w="12700">
            <a:solidFill>
              <a:srgbClr val="DCE1E7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8430768" y="2414016"/>
            <a:ext cx="219456" cy="219456"/>
          </a:xfrm>
          <a:prstGeom prst="ellipse">
            <a:avLst/>
          </a:prstGeom>
          <a:solidFill>
            <a:srgbClr val="009E73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8778240" y="219456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0"/>
              </a:spcAft>
            </a:pPr>
            <a:r>
              <a:rPr>
                <a:latin typeface="Malgun Gothic"/>
              </a:rPr>
              <a:t>HistGB · 빠른 앵커</a:t>
            </a:r>
          </a:p>
        </p:txBody>
      </p:sp>
      <p:sp>
        <p:nvSpPr>
          <p:cNvPr id="18" name="Text 15"/>
          <p:cNvSpPr/>
          <p:nvPr/>
        </p:nvSpPr>
        <p:spPr>
          <a:xfrm>
            <a:off x="8229600" y="2816352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</a:rPr>
              <a:t>=  HGB-TE + RealMLP + K (N9)</a:t>
            </a:r>
          </a:p>
        </p:txBody>
      </p:sp>
      <p:sp>
        <p:nvSpPr>
          <p:cNvPr id="19" name="Shape 16"/>
          <p:cNvSpPr/>
          <p:nvPr/>
        </p:nvSpPr>
        <p:spPr>
          <a:xfrm>
            <a:off x="8229600" y="3108960"/>
            <a:ext cx="3401568" cy="658368"/>
          </a:xfrm>
          <a:prstGeom prst="roundRect">
            <a:avLst>
              <a:gd name="adj" fmla="val 12500"/>
            </a:avLst>
          </a:prstGeom>
          <a:solidFill>
            <a:srgbClr val="F3F5F7"/>
          </a:solidFill>
          <a:ln w="12700">
            <a:solidFill>
              <a:srgbClr val="DCE1E7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8430768" y="3328416"/>
            <a:ext cx="219456" cy="219456"/>
          </a:xfrm>
          <a:prstGeom prst="ellipse">
            <a:avLst/>
          </a:prstGeom>
          <a:solidFill>
            <a:srgbClr val="E69F00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8778240" y="310896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0"/>
              </a:spcAft>
            </a:pPr>
            <a:r>
              <a:rPr>
                <a:latin typeface="Malgun Gothic"/>
              </a:rPr>
              <a:t>RealMLP · 오류 다양성</a:t>
            </a:r>
          </a:p>
        </p:txBody>
      </p:sp>
      <p:sp>
        <p:nvSpPr>
          <p:cNvPr id="22" name="Text 19"/>
          <p:cNvSpPr/>
          <p:nvPr/>
        </p:nvSpPr>
        <p:spPr>
          <a:xfrm>
            <a:off x="8229600" y="3730752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8229600" y="4023360"/>
            <a:ext cx="3401568" cy="658368"/>
          </a:xfrm>
          <a:prstGeom prst="roundRect">
            <a:avLst>
              <a:gd name="adj" fmla="val 12500"/>
            </a:avLst>
          </a:prstGeom>
          <a:solidFill>
            <a:srgbClr val="F3F5F7"/>
          </a:solidFill>
          <a:ln w="12700">
            <a:solidFill>
              <a:srgbClr val="DCE1E7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8430768" y="4242816"/>
            <a:ext cx="219456" cy="219456"/>
          </a:xfrm>
          <a:prstGeom prst="ellipse">
            <a:avLst/>
          </a:prstGeom>
          <a:solidFill>
            <a:srgbClr val="D55E00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8778240" y="402336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0"/>
              </a:spcAft>
            </a:pPr>
            <a:r>
              <a:rPr>
                <a:latin typeface="Malgun Gothic"/>
              </a:rPr>
              <a:t>nested OOF · 비음수 검증</a:t>
            </a:r>
          </a:p>
        </p:txBody>
      </p:sp>
      <p:sp>
        <p:nvSpPr>
          <p:cNvPr id="26" name="Shape 23"/>
          <p:cNvSpPr/>
          <p:nvPr/>
        </p:nvSpPr>
        <p:spPr>
          <a:xfrm>
            <a:off x="8229600" y="4956048"/>
            <a:ext cx="3401568" cy="731520"/>
          </a:xfrm>
          <a:prstGeom prst="roundRect">
            <a:avLst>
              <a:gd name="adj" fmla="val 11250"/>
            </a:avLst>
          </a:prstGeom>
          <a:solidFill>
            <a:srgbClr val="E8F7F1"/>
          </a:solidFill>
          <a:ln>
            <a:solidFill>
              <a:srgbClr val="00A67D"/>
            </a:solidFill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8229600" y="4956048"/>
            <a:ext cx="3401568" cy="731520"/>
          </a:xfrm>
          <a:prstGeom prst="rect">
            <a:avLst/>
          </a:prstGeom>
          <a:solidFill>
            <a:srgbClr val="E8F7F1"/>
          </a:solidFill>
          <a:ln>
            <a:solidFill>
              <a:srgbClr val="00A67D"/>
            </a:solidFill>
          </a:ln>
        </p:spPr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450" b="1">
                <a:solidFill>
                  <a:srgbClr val="222A36"/>
                </a:solidFill>
                <a:latin typeface="Malgun Gothic"/>
              </a:rPr>
              <a:t>HGB-TE + RealMLP + K (N9)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37392" y="6318504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B6773"/>
                </a:solidFill>
                <a:latin typeface="Malgun Gothic"/>
              </a:rPr>
              <a:t>17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60920" y="137160"/>
            <a:ext cx="107899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5B6773"/>
                </a:solidFill>
                <a:latin typeface="Malgun Gothic"/>
              </a:rPr>
              <a:t>1. 제안 배경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06640" y="448056"/>
            <a:ext cx="987551" cy="41148"/>
          </a:xfrm>
          <a:prstGeom prst="rect">
            <a:avLst/>
          </a:prstGeom>
          <a:solidFill>
            <a:srgbClr val="C7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531352" y="137160"/>
            <a:ext cx="932688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5B6773"/>
                </a:solidFill>
                <a:latin typeface="Malgun Gothic"/>
              </a:rPr>
              <a:t>2. 서비스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77072" y="448056"/>
            <a:ext cx="841248" cy="41148"/>
          </a:xfrm>
          <a:prstGeom prst="rect">
            <a:avLst/>
          </a:prstGeom>
          <a:solidFill>
            <a:srgbClr val="C7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555480" y="137160"/>
            <a:ext cx="1133856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1">
                <a:solidFill>
                  <a:srgbClr val="222A36"/>
                </a:solidFill>
                <a:latin typeface="Malgun Gothic"/>
              </a:rPr>
              <a:t>3. 검증·근거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601200" y="448056"/>
            <a:ext cx="1042415" cy="41148"/>
          </a:xfrm>
          <a:prstGeom prst="rect">
            <a:avLst/>
          </a:prstGeom>
          <a:solidFill>
            <a:srgbClr val="00A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780776" y="137160"/>
            <a:ext cx="107899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5B6773"/>
                </a:solidFill>
                <a:latin typeface="Malgun Gothic"/>
              </a:rPr>
              <a:t>4. 도입 계획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826496" y="448056"/>
            <a:ext cx="987551" cy="41148"/>
          </a:xfrm>
          <a:prstGeom prst="rect">
            <a:avLst/>
          </a:prstGeom>
          <a:solidFill>
            <a:srgbClr val="C7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EVIDENCE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0"/>
              </a:spcAft>
            </a:pPr>
            <a:r>
              <a:rPr>
                <a:latin typeface="Malgun Gothic"/>
              </a:rPr>
              <a:t>누수 없는 검증과 중첩 앙상블</a:t>
            </a:r>
          </a:p>
        </p:txBody>
      </p:sp>
      <p:sp>
        <p:nvSpPr>
          <p:cNvPr id="13" name="Shape 11"/>
          <p:cNvSpPr/>
          <p:nvPr/>
        </p:nvSpPr>
        <p:spPr>
          <a:xfrm>
            <a:off x="548640" y="187452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 w="15875">
            <a:solidFill>
              <a:srgbClr val="DCE1E7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48640" y="1874520"/>
            <a:ext cx="246888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>
              <a:spcAft>
                <a:spcPts val="0"/>
              </a:spcAft>
            </a:pPr>
            <a:r>
              <a:rPr>
                <a:latin typeface="Malgun Gothic"/>
              </a:rPr>
              <a:t>원본 13개</a:t>
            </a:r>
          </a:p>
          <a:p>
            <a:pPr>
              <a:spcAft>
                <a:spcPts val="0"/>
              </a:spcAft>
            </a:pPr>
            <a:r>
              <a:rPr>
                <a:latin typeface="Malgun Gothic"/>
              </a:rPr>
              <a:t>+ 결측 플래그</a:t>
            </a:r>
          </a:p>
        </p:txBody>
      </p:sp>
      <p:sp>
        <p:nvSpPr>
          <p:cNvPr id="15" name="Shape 13"/>
          <p:cNvSpPr/>
          <p:nvPr/>
        </p:nvSpPr>
        <p:spPr>
          <a:xfrm>
            <a:off x="548640" y="324612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 w="15875">
            <a:solidFill>
              <a:srgbClr val="DCE1E7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48640" y="3246120"/>
            <a:ext cx="246888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>
              <a:spcAft>
                <a:spcPts val="0"/>
              </a:spcAft>
            </a:pPr>
            <a:r>
              <a:rPr>
                <a:latin typeface="Malgun Gothic"/>
              </a:rPr>
              <a:t>fold-train only</a:t>
            </a:r>
          </a:p>
          <a:p>
            <a:pPr>
              <a:spcAft>
                <a:spcPts val="0"/>
              </a:spcAft>
            </a:pPr>
            <a:r>
              <a:rPr>
                <a:latin typeface="Malgun Gothic"/>
              </a:rPr>
              <a:t>exact-value TE</a:t>
            </a:r>
          </a:p>
        </p:txBody>
      </p:sp>
      <p:sp>
        <p:nvSpPr>
          <p:cNvPr id="17" name="Shape 15"/>
          <p:cNvSpPr/>
          <p:nvPr/>
        </p:nvSpPr>
        <p:spPr>
          <a:xfrm>
            <a:off x="3657600" y="2331720"/>
            <a:ext cx="20116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009E73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657600" y="2331720"/>
            <a:ext cx="2011680" cy="1828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>
              <a:spcAft>
                <a:spcPts val="0"/>
              </a:spcAft>
            </a:pPr>
            <a:r>
              <a:rPr>
                <a:latin typeface="Malgun Gothic"/>
              </a:rPr>
              <a:t>두 표현을</a:t>
            </a:r>
          </a:p>
          <a:p>
            <a:pPr>
              <a:spcAft>
                <a:spcPts val="0"/>
              </a:spcAft>
            </a:pPr>
            <a:r>
              <a:rPr>
                <a:latin typeface="Malgun Gothic"/>
              </a:rPr>
              <a:t>병렬 생성</a:t>
            </a:r>
          </a:p>
        </p:txBody>
      </p:sp>
      <p:sp>
        <p:nvSpPr>
          <p:cNvPr id="19" name="Shape 17"/>
          <p:cNvSpPr/>
          <p:nvPr/>
        </p:nvSpPr>
        <p:spPr>
          <a:xfrm>
            <a:off x="6309360" y="2606040"/>
            <a:ext cx="24688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875">
            <a:solidFill>
              <a:srgbClr val="009E73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309360" y="2606040"/>
            <a:ext cx="2468880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>
              <a:spcAft>
                <a:spcPts val="0"/>
              </a:spcAft>
            </a:pPr>
            <a:r>
              <a:rPr>
                <a:latin typeface="Malgun Gothic"/>
              </a:rPr>
              <a:t>HGB-TE 앵커</a:t>
            </a:r>
          </a:p>
          <a:p>
            <a:pPr>
              <a:spcAft>
                <a:spcPts val="0"/>
              </a:spcAft>
            </a:pPr>
            <a:r>
              <a:rPr>
                <a:latin typeface="Malgun Gothic"/>
              </a:rPr>
              <a:t>+ RealMLP 다양성</a:t>
            </a:r>
          </a:p>
        </p:txBody>
      </p:sp>
      <p:sp>
        <p:nvSpPr>
          <p:cNvPr id="21" name="Shape 19"/>
          <p:cNvSpPr/>
          <p:nvPr/>
        </p:nvSpPr>
        <p:spPr>
          <a:xfrm>
            <a:off x="9418320" y="2606040"/>
            <a:ext cx="2240280" cy="1280160"/>
          </a:xfrm>
          <a:prstGeom prst="roundRect">
            <a:avLst>
              <a:gd name="adj" fmla="val 5714"/>
            </a:avLst>
          </a:prstGeom>
          <a:solidFill>
            <a:srgbClr val="F3F5F7"/>
          </a:solidFill>
          <a:ln w="15875">
            <a:solidFill>
              <a:srgbClr val="DCE1E7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418320" y="2606040"/>
            <a:ext cx="2240280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>
              <a:spcAft>
                <a:spcPts val="0"/>
              </a:spcAft>
            </a:pPr>
            <a:r>
              <a:rPr>
                <a:latin typeface="Malgun Gothic"/>
              </a:rPr>
              <a:t>5-Fold OOF</a:t>
            </a:r>
          </a:p>
          <a:p>
            <a:pPr>
              <a:spcAft>
                <a:spcPts val="0"/>
              </a:spcAft>
            </a:pPr>
            <a:r>
              <a:rPr>
                <a:latin typeface="Malgun Gothic"/>
              </a:rPr>
              <a:t>+ nested meta-CV</a:t>
            </a:r>
          </a:p>
        </p:txBody>
      </p:sp>
      <p:sp>
        <p:nvSpPr>
          <p:cNvPr id="23" name="Shape 21"/>
          <p:cNvSpPr/>
          <p:nvPr/>
        </p:nvSpPr>
        <p:spPr>
          <a:xfrm>
            <a:off x="3017520" y="2331720"/>
            <a:ext cx="640080" cy="0"/>
          </a:xfrm>
          <a:prstGeom prst="line">
            <a:avLst/>
          </a:prstGeom>
          <a:noFill/>
          <a:ln w="28575">
            <a:solidFill>
              <a:srgbClr val="7A828C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3017520" y="3520440"/>
            <a:ext cx="640080" cy="0"/>
          </a:xfrm>
          <a:prstGeom prst="line">
            <a:avLst/>
          </a:prstGeom>
          <a:noFill/>
          <a:ln w="28575">
            <a:solidFill>
              <a:srgbClr val="7A828C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5669280" y="3246120"/>
            <a:ext cx="640080" cy="0"/>
          </a:xfrm>
          <a:prstGeom prst="line">
            <a:avLst/>
          </a:prstGeom>
          <a:noFill/>
          <a:ln w="28575">
            <a:solidFill>
              <a:srgbClr val="7A828C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8778240" y="3246120"/>
            <a:ext cx="640080" cy="0"/>
          </a:xfrm>
          <a:prstGeom prst="line">
            <a:avLst/>
          </a:prstGeom>
          <a:noFill/>
          <a:ln w="28575">
            <a:solidFill>
              <a:srgbClr val="7A828C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548640" y="4343400"/>
            <a:ext cx="11091672" cy="1737360"/>
          </a:xfrm>
          <a:prstGeom prst="roundRect">
            <a:avLst>
              <a:gd name="adj" fmla="val 4737"/>
            </a:avLst>
          </a:prstGeom>
          <a:solidFill>
            <a:srgbClr val="1F2430"/>
          </a:solidFill>
          <a:ln/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868680" y="46177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Malgun Gothic"/>
              </a:rPr>
              <a:t>갭 0.00001</a:t>
            </a:r>
          </a:p>
        </p:txBody>
      </p:sp>
      <p:sp>
        <p:nvSpPr>
          <p:cNvPr id="29" name="Text 27"/>
          <p:cNvSpPr/>
          <p:nvPr/>
        </p:nvSpPr>
        <p:spPr>
          <a:xfrm>
            <a:off x="896112" y="5394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Malgun Gothic"/>
              </a:rPr>
              <a:t>검증을 신뢰할 수 있게 만든 뒤 실험했다</a:t>
            </a:r>
          </a:p>
        </p:txBody>
      </p:sp>
      <p:sp>
        <p:nvSpPr>
          <p:cNvPr id="30" name="Shape 28"/>
          <p:cNvSpPr/>
          <p:nvPr/>
        </p:nvSpPr>
        <p:spPr>
          <a:xfrm>
            <a:off x="4754880" y="4617720"/>
            <a:ext cx="0" cy="1188720"/>
          </a:xfrm>
          <a:prstGeom prst="line">
            <a:avLst/>
          </a:prstGeom>
          <a:noFill/>
          <a:ln w="12700">
            <a:solidFill>
              <a:srgbClr val="3B4354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5120640" y="470916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</a:rPr>
              <a:t>N9 honest OOF  0.95088   ≈   Public LB  0.95089</a:t>
            </a:r>
          </a:p>
        </p:txBody>
      </p:sp>
      <p:sp>
        <p:nvSpPr>
          <p:cNvPr id="32" name="Text 30"/>
          <p:cNvSpPr/>
          <p:nvPr/>
        </p:nvSpPr>
        <p:spPr>
          <a:xfrm>
            <a:off x="5120640" y="5230368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Malgun Gothic"/>
              </a:rPr>
              <a:t>모든 TE·가중치·임계값을 fold 밖 데이터에 맞추지 않음. OOF에서 고른 블렌드는 meta-fold에 다시 검증하고, 개선이 반복되지 않으면 단일 모델로 되돌림.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C7C23F8-8B9A-495C-BD32-D7A61607BE54}"/>
              </a:ext>
            </a:extLst>
          </p:cNvPr>
          <p:cNvSpPr/>
          <p:nvPr/>
        </p:nvSpPr>
        <p:spPr>
          <a:xfrm>
            <a:off x="566928" y="6222769"/>
            <a:ext cx="2387192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50" i="1" dirty="0">
                <a:solidFill>
                  <a:srgbClr val="6B7280"/>
                </a:solidFill>
                <a:latin typeface="Malgun Gothic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altLang="ko-KR" sz="1050" i="1" dirty="0" err="1">
                <a:solidFill>
                  <a:srgbClr val="6B7280"/>
                </a:solidFill>
                <a:latin typeface="Malgun Gothic" pitchFamily="34" charset="0"/>
                <a:ea typeface="Calibri" pitchFamily="34" charset="-122"/>
                <a:cs typeface="Calibri" pitchFamily="34" charset="-120"/>
              </a:rPr>
              <a:t>전체</a:t>
            </a:r>
            <a:r>
              <a:rPr lang="en-US" altLang="ko-KR" sz="1050" i="1" dirty="0">
                <a:solidFill>
                  <a:srgbClr val="6B7280"/>
                </a:solidFill>
                <a:latin typeface="Malgun Gothic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050" i="1" dirty="0" err="1">
                <a:solidFill>
                  <a:srgbClr val="6B7280"/>
                </a:solidFill>
                <a:latin typeface="Malgun Gothic" pitchFamily="34" charset="0"/>
                <a:ea typeface="Calibri" pitchFamily="34" charset="-122"/>
                <a:cs typeface="Calibri" pitchFamily="34" charset="-120"/>
              </a:rPr>
              <a:t>실험</a:t>
            </a:r>
            <a:r>
              <a:rPr lang="en-US" altLang="ko-KR" sz="1050" i="1" dirty="0">
                <a:solidFill>
                  <a:srgbClr val="6B7280"/>
                </a:solidFill>
                <a:latin typeface="Malgun Gothic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050" i="1" dirty="0" err="1">
                <a:solidFill>
                  <a:srgbClr val="6B7280"/>
                </a:solidFill>
                <a:latin typeface="Malgun Gothic" pitchFamily="34" charset="0"/>
                <a:ea typeface="Calibri" pitchFamily="34" charset="-122"/>
                <a:cs typeface="Calibri" pitchFamily="34" charset="-120"/>
              </a:rPr>
              <a:t>매트릭스는</a:t>
            </a:r>
            <a:r>
              <a:rPr lang="en-US" altLang="ko-KR" sz="1050" i="1" dirty="0">
                <a:solidFill>
                  <a:srgbClr val="6B7280"/>
                </a:solidFill>
                <a:latin typeface="Malgun Gothic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050" i="1" dirty="0" err="1">
                <a:solidFill>
                  <a:srgbClr val="6B7280"/>
                </a:solidFill>
                <a:latin typeface="Malgun Gothic" pitchFamily="34" charset="0"/>
                <a:ea typeface="Calibri" pitchFamily="34" charset="-122"/>
                <a:cs typeface="Calibri" pitchFamily="34" charset="-120"/>
              </a:rPr>
              <a:t>부록</a:t>
            </a:r>
            <a:r>
              <a:rPr lang="en-US" altLang="ko-KR" sz="1050" i="1" dirty="0">
                <a:solidFill>
                  <a:srgbClr val="6B7280"/>
                </a:solidFill>
                <a:latin typeface="Malgun Gothic" pitchFamily="34" charset="0"/>
                <a:ea typeface="Calibri" pitchFamily="34" charset="-122"/>
                <a:cs typeface="Calibri" pitchFamily="34" charset="-120"/>
              </a:rPr>
              <a:t> A4 </a:t>
            </a:r>
            <a:r>
              <a:rPr lang="en-US" altLang="ko-KR" sz="1050" i="1" dirty="0" err="1">
                <a:solidFill>
                  <a:srgbClr val="6B7280"/>
                </a:solidFill>
                <a:latin typeface="Malgun Gothic" pitchFamily="34" charset="0"/>
                <a:ea typeface="Calibri" pitchFamily="34" charset="-122"/>
                <a:cs typeface="Calibri" pitchFamily="34" charset="-120"/>
              </a:rPr>
              <a:t>참고</a:t>
            </a:r>
            <a:endParaRPr lang="en-US" altLang="ko-KR" sz="1050" dirty="0"/>
          </a:p>
        </p:txBody>
      </p:sp>
      <p:sp>
        <p:nvSpPr>
          <p:cNvPr id="43" name="TextBox 42"/>
          <p:cNvSpPr txBox="1"/>
          <p:nvPr/>
        </p:nvSpPr>
        <p:spPr>
          <a:xfrm>
            <a:off x="11137392" y="6318504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B6773"/>
                </a:solidFill>
                <a:latin typeface="Malgun Gothic"/>
              </a:rPr>
              <a:t>18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60920" y="137160"/>
            <a:ext cx="107899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5B6773"/>
                </a:solidFill>
                <a:latin typeface="Malgun Gothic"/>
              </a:rPr>
              <a:t>1. 제안 배경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06640" y="448056"/>
            <a:ext cx="987551" cy="41148"/>
          </a:xfrm>
          <a:prstGeom prst="rect">
            <a:avLst/>
          </a:prstGeom>
          <a:solidFill>
            <a:srgbClr val="C7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531352" y="137160"/>
            <a:ext cx="932688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5B6773"/>
                </a:solidFill>
                <a:latin typeface="Malgun Gothic"/>
              </a:rPr>
              <a:t>2. 서비스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77072" y="448056"/>
            <a:ext cx="841248" cy="41148"/>
          </a:xfrm>
          <a:prstGeom prst="rect">
            <a:avLst/>
          </a:prstGeom>
          <a:solidFill>
            <a:srgbClr val="C7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555480" y="137160"/>
            <a:ext cx="1133856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1">
                <a:solidFill>
                  <a:srgbClr val="222A36"/>
                </a:solidFill>
                <a:latin typeface="Malgun Gothic"/>
              </a:rPr>
              <a:t>3. 검증·근거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01200" y="448056"/>
            <a:ext cx="1042415" cy="41148"/>
          </a:xfrm>
          <a:prstGeom prst="rect">
            <a:avLst/>
          </a:prstGeom>
          <a:solidFill>
            <a:srgbClr val="00A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780776" y="137160"/>
            <a:ext cx="107899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5B6773"/>
                </a:solidFill>
                <a:latin typeface="Malgun Gothic"/>
              </a:rPr>
              <a:t>4. 도입 계획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826496" y="448056"/>
            <a:ext cx="987551" cy="41148"/>
          </a:xfrm>
          <a:prstGeom prst="rect">
            <a:avLst/>
          </a:prstGeom>
          <a:solidFill>
            <a:srgbClr val="C7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EVIDENCE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0"/>
              </a:spcAft>
            </a:pPr>
            <a:r>
              <a:rPr>
                <a:latin typeface="Malgun Gothic"/>
              </a:rPr>
              <a:t>40+ 실험 — 재현되는 이득만 채택</a:t>
            </a:r>
          </a:p>
        </p:txBody>
      </p:sp>
      <p:sp>
        <p:nvSpPr>
          <p:cNvPr id="13" name="Shape 11"/>
          <p:cNvSpPr/>
          <p:nvPr/>
        </p:nvSpPr>
        <p:spPr>
          <a:xfrm>
            <a:off x="548640" y="1554480"/>
            <a:ext cx="5440680" cy="3794760"/>
          </a:xfrm>
          <a:prstGeom prst="roundRect">
            <a:avLst>
              <a:gd name="adj" fmla="val 2169"/>
            </a:avLst>
          </a:prstGeom>
          <a:solidFill>
            <a:srgbClr val="E1F3ED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777240" y="1755648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009E73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77240" y="175564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채택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48840" y="17556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점수를 실제로 올린 것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2960" y="2395728"/>
            <a:ext cx="146304" cy="146304"/>
          </a:xfrm>
          <a:prstGeom prst="ellipse">
            <a:avLst/>
          </a:prstGeom>
          <a:solidFill>
            <a:srgbClr val="009E73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133856" y="2331720"/>
            <a:ext cx="4626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exact-value Target Encoding  +0.0008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22960" y="3264408"/>
            <a:ext cx="146304" cy="146304"/>
          </a:xfrm>
          <a:prstGeom prst="ellipse">
            <a:avLst/>
          </a:prstGeom>
          <a:solidFill>
            <a:srgbClr val="009E73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133856" y="3200400"/>
            <a:ext cx="4626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0"/>
              </a:spcAft>
            </a:pPr>
            <a:r>
              <a:rPr>
                <a:latin typeface="Malgun Gothic"/>
              </a:rPr>
              <a:t>N9 중첩 블렌드  OOF 0.95088 → LB 0.95089</a:t>
            </a:r>
          </a:p>
        </p:txBody>
      </p:sp>
      <p:sp>
        <p:nvSpPr>
          <p:cNvPr id="21" name="Shape 19"/>
          <p:cNvSpPr/>
          <p:nvPr/>
        </p:nvSpPr>
        <p:spPr>
          <a:xfrm>
            <a:off x="822960" y="4133088"/>
            <a:ext cx="146304" cy="146304"/>
          </a:xfrm>
          <a:prstGeom prst="ellipse">
            <a:avLst/>
          </a:prstGeom>
          <a:solidFill>
            <a:srgbClr val="E69F00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133856" y="4069080"/>
            <a:ext cx="4626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0"/>
              </a:spcAft>
            </a:pPr>
            <a:r>
              <a:rPr>
                <a:latin typeface="Malgun Gothic"/>
              </a:rPr>
              <a:t>Co_5·9·10 파이프라인  Public 0.95104</a:t>
            </a:r>
          </a:p>
        </p:txBody>
      </p:sp>
      <p:sp>
        <p:nvSpPr>
          <p:cNvPr id="23" name="Shape 21"/>
          <p:cNvSpPr/>
          <p:nvPr/>
        </p:nvSpPr>
        <p:spPr>
          <a:xfrm>
            <a:off x="6172200" y="1554480"/>
            <a:ext cx="5468112" cy="3794760"/>
          </a:xfrm>
          <a:prstGeom prst="roundRect">
            <a:avLst>
              <a:gd name="adj" fmla="val 2169"/>
            </a:avLst>
          </a:prstGeom>
          <a:solidFill>
            <a:srgbClr val="FBE9DD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6400800" y="1755648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D55E00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400800" y="175564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기각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772400" y="17556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55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실험으로 걸러낸 것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46520" y="2395728"/>
            <a:ext cx="146304" cy="146304"/>
          </a:xfrm>
          <a:prstGeom prst="ellipse">
            <a:avLst/>
          </a:prstGeom>
          <a:solidFill>
            <a:srgbClr val="D55E00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757416" y="2331720"/>
            <a:ext cx="47183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원본데이터 증강  −0.0006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46520" y="3108960"/>
            <a:ext cx="146304" cy="146304"/>
          </a:xfrm>
          <a:prstGeom prst="ellipse">
            <a:avLst/>
          </a:prstGeom>
          <a:solidFill>
            <a:srgbClr val="D55E00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757416" y="3044952"/>
            <a:ext cx="47183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Optuna 튜닝: 서브샘플 +0.0017이 풀데이터 +0.0000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46520" y="3822192"/>
            <a:ext cx="146304" cy="146304"/>
          </a:xfrm>
          <a:prstGeom prst="ellipse">
            <a:avLst/>
          </a:prstGeom>
          <a:solidFill>
            <a:srgbClr val="D55E00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757416" y="3758184"/>
            <a:ext cx="47183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유사 트리 보팅: 예측일치 97.9%, 가중 100% 집중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46520" y="4535424"/>
            <a:ext cx="146304" cy="146304"/>
          </a:xfrm>
          <a:prstGeom prst="ellipse">
            <a:avLst/>
          </a:prstGeom>
          <a:solidFill>
            <a:srgbClr val="D55E00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757416" y="4471416"/>
            <a:ext cx="47183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0"/>
              </a:spcAft>
            </a:pPr>
            <a:r>
              <a:rPr>
                <a:latin typeface="Malgun Gothic"/>
              </a:rPr>
              <a:t>파생변수 · kNN 임퓨트 · 계층 라우팅 · 노이즈 교정</a:t>
            </a:r>
          </a:p>
        </p:txBody>
      </p:sp>
      <p:sp>
        <p:nvSpPr>
          <p:cNvPr id="35" name="Shape 33"/>
          <p:cNvSpPr/>
          <p:nvPr/>
        </p:nvSpPr>
        <p:spPr>
          <a:xfrm>
            <a:off x="548640" y="5532120"/>
            <a:ext cx="11091672" cy="841248"/>
          </a:xfrm>
          <a:prstGeom prst="roundRect">
            <a:avLst>
              <a:gd name="adj" fmla="val 9783"/>
            </a:avLst>
          </a:prstGeom>
          <a:solidFill>
            <a:srgbClr val="1F2430"/>
          </a:solidFill>
          <a:ln/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548640" y="5532120"/>
            <a:ext cx="110916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algun Gothic"/>
              </a:rPr>
              <a:t>같은 OOF에서 좋아 보인 가중치도 meta-fold에서 반복 개선되지 않으면 기각 — 모델 수보다 검증 구조가 우선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37392" y="6318504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B6773"/>
                </a:solidFill>
                <a:latin typeface="Malgun Gothic"/>
              </a:rPr>
              <a:t>19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60920" y="137160"/>
            <a:ext cx="107899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5B6773"/>
                </a:solidFill>
                <a:latin typeface="Malgun Gothic"/>
              </a:rPr>
              <a:t>1. 제안 배경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06640" y="448056"/>
            <a:ext cx="987551" cy="41148"/>
          </a:xfrm>
          <a:prstGeom prst="rect">
            <a:avLst/>
          </a:prstGeom>
          <a:solidFill>
            <a:srgbClr val="C7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531352" y="137160"/>
            <a:ext cx="932688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5B6773"/>
                </a:solidFill>
                <a:latin typeface="Malgun Gothic"/>
              </a:rPr>
              <a:t>2. 서비스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577072" y="448056"/>
            <a:ext cx="841248" cy="41148"/>
          </a:xfrm>
          <a:prstGeom prst="rect">
            <a:avLst/>
          </a:prstGeom>
          <a:solidFill>
            <a:srgbClr val="C7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555480" y="137160"/>
            <a:ext cx="1133856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1">
                <a:solidFill>
                  <a:srgbClr val="222A36"/>
                </a:solidFill>
                <a:latin typeface="Malgun Gothic"/>
              </a:rPr>
              <a:t>3. 검증·근거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601200" y="448056"/>
            <a:ext cx="1042415" cy="41148"/>
          </a:xfrm>
          <a:prstGeom prst="rect">
            <a:avLst/>
          </a:prstGeom>
          <a:solidFill>
            <a:srgbClr val="00A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780776" y="137160"/>
            <a:ext cx="107899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5B6773"/>
                </a:solidFill>
                <a:latin typeface="Malgun Gothic"/>
              </a:rPr>
              <a:t>4. 도입 계획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826496" y="448056"/>
            <a:ext cx="987551" cy="41148"/>
          </a:xfrm>
          <a:prstGeom prst="rect">
            <a:avLst/>
          </a:prstGeom>
          <a:solidFill>
            <a:srgbClr val="C7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0"/>
              </a:spcAft>
            </a:pPr>
            <a:r>
              <a:rPr sz="900" b="1">
                <a:solidFill>
                  <a:srgbClr val="007E62"/>
                </a:solidFill>
                <a:latin typeface="Malgun Gothic"/>
              </a:rPr>
              <a:t>EVIDENCE · FINAL RESULT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222A36"/>
                </a:solidFill>
                <a:latin typeface="Malgun Gothic"/>
              </a:rPr>
              <a:t>최종 결과 0.95104 — 성과와 출처를 분리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508760"/>
            <a:ext cx="22402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F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1508760"/>
            <a:ext cx="73152" cy="1965960"/>
          </a:xfrm>
          <a:prstGeom prst="rect">
            <a:avLst/>
          </a:prstGeom>
          <a:solidFill>
            <a:srgbClr val="5B6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1618488"/>
            <a:ext cx="1947672" cy="2560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B6773"/>
                </a:solidFill>
                <a:latin typeface="Malgun Gothic"/>
              </a:rPr>
              <a:t>V1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1874519"/>
            <a:ext cx="1947672" cy="3840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22A36"/>
                </a:solidFill>
                <a:latin typeface="Malgun Gothic"/>
              </a:rPr>
              <a:t>0.94952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2313432"/>
            <a:ext cx="1947672" cy="1033271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773"/>
                </a:solidFill>
                <a:latin typeface="Malgun Gothic"/>
              </a:rPr>
              <a:t>OOF 0.94962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43784" y="2176272"/>
            <a:ext cx="320040" cy="4114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C7CFD6"/>
                </a:solidFill>
                <a:latin typeface="Malgun Gothic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37560" y="1508760"/>
            <a:ext cx="22402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F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37560" y="1508760"/>
            <a:ext cx="73152" cy="1965960"/>
          </a:xfrm>
          <a:prstGeom prst="rect">
            <a:avLst/>
          </a:prstGeom>
          <a:solidFill>
            <a:srgbClr val="F2A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02152" y="1618488"/>
            <a:ext cx="1947672" cy="2560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2A621"/>
                </a:solidFill>
                <a:latin typeface="Malgun Gothic"/>
              </a:rPr>
              <a:t>N2 · HGB+TE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02152" y="1874519"/>
            <a:ext cx="1947672" cy="3840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22A36"/>
                </a:solidFill>
                <a:latin typeface="Malgun Gothic"/>
              </a:rPr>
              <a:t>0.94982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02152" y="2313432"/>
            <a:ext cx="1947672" cy="1033271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773"/>
                </a:solidFill>
                <a:latin typeface="Malgun Gothic"/>
              </a:rPr>
              <a:t>OOF 0.95051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86983" y="2176272"/>
            <a:ext cx="320040" cy="4114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C7CFD6"/>
                </a:solidFill>
                <a:latin typeface="Malgun Gothic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80760" y="1508760"/>
            <a:ext cx="22402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F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80760" y="1508760"/>
            <a:ext cx="73152" cy="1965960"/>
          </a:xfrm>
          <a:prstGeom prst="rect">
            <a:avLst/>
          </a:prstGeom>
          <a:solidFill>
            <a:srgbClr val="007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45352" y="1618488"/>
            <a:ext cx="1947672" cy="2560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7E62"/>
                </a:solidFill>
                <a:latin typeface="Malgun Gothic"/>
              </a:rPr>
              <a:t>N9 · nested blend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1874519"/>
            <a:ext cx="1947672" cy="3840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22A36"/>
                </a:solidFill>
                <a:latin typeface="Malgun Gothic"/>
              </a:rPr>
              <a:t>0.95089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45352" y="2313432"/>
            <a:ext cx="1947672" cy="1033271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773"/>
                </a:solidFill>
                <a:latin typeface="Malgun Gothic"/>
              </a:rPr>
              <a:t>OOF 0.95088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0183" y="2176272"/>
            <a:ext cx="320040" cy="4114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C7CFD6"/>
                </a:solidFill>
                <a:latin typeface="Malgun Gothic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23960" y="1508760"/>
            <a:ext cx="22402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F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23960" y="1508760"/>
            <a:ext cx="73152" cy="1965960"/>
          </a:xfrm>
          <a:prstGeom prst="rect">
            <a:avLst/>
          </a:prstGeom>
          <a:solidFill>
            <a:srgbClr val="00A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88552" y="1618488"/>
            <a:ext cx="1947672" cy="2560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A67D"/>
                </a:solidFill>
                <a:latin typeface="Malgun Gothic"/>
              </a:rPr>
              <a:t>Co_5·9·10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88552" y="1874519"/>
            <a:ext cx="1947672" cy="3840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22A36"/>
                </a:solidFill>
                <a:latin typeface="Malgun Gothic"/>
              </a:rPr>
              <a:t>0.95104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88552" y="2313432"/>
            <a:ext cx="1947672" cy="1033271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773"/>
                </a:solidFill>
                <a:latin typeface="Malgun Gothic"/>
              </a:rPr>
              <a:t>프로젝트 최고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" y="3767328"/>
            <a:ext cx="5394960" cy="1417320"/>
          </a:xfrm>
          <a:prstGeom prst="roundRect">
            <a:avLst/>
          </a:prstGeom>
          <a:solidFill>
            <a:srgbClr val="E8F7F1"/>
          </a:solidFill>
          <a:ln>
            <a:solidFill>
              <a:srgbClr val="00A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3950208"/>
            <a:ext cx="182880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7E62"/>
                </a:solidFill>
                <a:latin typeface="Malgun Gothic"/>
              </a:rPr>
              <a:t>독립 후보 최고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4261104"/>
            <a:ext cx="4389120" cy="3840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222A36"/>
                </a:solidFill>
                <a:latin typeface="Malgun Gothic"/>
              </a:rPr>
              <a:t>Co_L3  ·  Public 0.95063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4681728"/>
            <a:ext cx="448056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773"/>
                </a:solidFill>
                <a:latin typeface="Malgun Gothic"/>
              </a:rPr>
              <a:t>공개 hard submission을 사용하지 않은 최종 강공 후보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99632" y="3767328"/>
            <a:ext cx="5394960" cy="1417320"/>
          </a:xfrm>
          <a:prstGeom prst="roundRect">
            <a:avLst/>
          </a:prstGeom>
          <a:solidFill>
            <a:srgbClr val="FDEEEE"/>
          </a:solidFill>
          <a:ln>
            <a:solidFill>
              <a:srgbClr val="E0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28232" y="3950208"/>
            <a:ext cx="182880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05555"/>
                </a:solidFill>
                <a:latin typeface="Malgun Gothic"/>
              </a:rPr>
              <a:t>성과 집계 제외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28232" y="4261104"/>
            <a:ext cx="4389120" cy="3840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222A36"/>
                </a:solidFill>
                <a:latin typeface="Malgun Gothic"/>
              </a:rPr>
              <a:t>Co_16  ·  Public 0.95114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8232" y="4681728"/>
            <a:ext cx="457200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773"/>
                </a:solidFill>
                <a:latin typeface="Malgun Gothic"/>
              </a:rPr>
              <a:t>A_F와 동일 · 공개 0.95114 파일과 3행 차이 → 출처 검증 사례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5632704"/>
            <a:ext cx="11091672" cy="512064"/>
          </a:xfrm>
          <a:prstGeom prst="roundRect">
            <a:avLst/>
          </a:prstGeom>
          <a:solidFill>
            <a:srgbClr val="22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9808" y="5669280"/>
            <a:ext cx="10698480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</a:rPr>
              <a:t>점수보다 재현 경로를 남겼다 — 프로젝트 성과 0.95104와 외부 참조 0.95114를 섞지 않는다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137392" y="6318504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B6773"/>
                </a:solidFill>
                <a:latin typeface="Malgun Gothic"/>
              </a:rPr>
              <a:t>20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360920" y="137160"/>
            <a:ext cx="107899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5B6773"/>
                </a:solidFill>
                <a:latin typeface="Malgun Gothic"/>
              </a:rPr>
              <a:t>1. 제안 배경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406640" y="448056"/>
            <a:ext cx="987551" cy="41148"/>
          </a:xfrm>
          <a:prstGeom prst="rect">
            <a:avLst/>
          </a:prstGeom>
          <a:solidFill>
            <a:srgbClr val="C7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531352" y="137160"/>
            <a:ext cx="932688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5B6773"/>
                </a:solidFill>
                <a:latin typeface="Malgun Gothic"/>
              </a:rPr>
              <a:t>2. 서비스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577072" y="448056"/>
            <a:ext cx="841248" cy="41148"/>
          </a:xfrm>
          <a:prstGeom prst="rect">
            <a:avLst/>
          </a:prstGeom>
          <a:solidFill>
            <a:srgbClr val="C7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555480" y="137160"/>
            <a:ext cx="1133856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1">
                <a:solidFill>
                  <a:srgbClr val="222A36"/>
                </a:solidFill>
                <a:latin typeface="Malgun Gothic"/>
              </a:rPr>
              <a:t>3. 검증·근거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601200" y="448056"/>
            <a:ext cx="1042415" cy="41148"/>
          </a:xfrm>
          <a:prstGeom prst="rect">
            <a:avLst/>
          </a:prstGeom>
          <a:solidFill>
            <a:srgbClr val="00A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0780776" y="137160"/>
            <a:ext cx="107899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5B6773"/>
                </a:solidFill>
                <a:latin typeface="Malgun Gothic"/>
              </a:rPr>
              <a:t>4. 도입 계획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826496" y="448056"/>
            <a:ext cx="987551" cy="41148"/>
          </a:xfrm>
          <a:prstGeom prst="rect">
            <a:avLst/>
          </a:prstGeom>
          <a:solidFill>
            <a:srgbClr val="C7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92608"/>
            <a:ext cx="5394960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07E62"/>
                </a:solidFill>
                <a:latin typeface="Malgun Gothic"/>
              </a:rPr>
              <a:t>EVIDENCE · SHAP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603504"/>
            <a:ext cx="10881360" cy="6766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222A36"/>
                </a:solidFill>
                <a:latin typeface="Malgun Gothic"/>
              </a:rPr>
              <a:t>전체 패턴에서 개인 상담 근거까지 한 화면에서 설명한다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1353312"/>
            <a:ext cx="5285232" cy="27432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7E62"/>
                </a:solidFill>
                <a:latin typeface="Malgun Gothic"/>
              </a:rPr>
              <a:t>GLOBAL · SHAP SUMMARY PLOT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1664208"/>
            <a:ext cx="5504688" cy="34381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72784" y="1353312"/>
            <a:ext cx="5266944" cy="27432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2A621"/>
                </a:solidFill>
                <a:latin typeface="Malgun Gothic"/>
              </a:rPr>
              <a:t>LOCAL · STUDENT WATERFALL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1664208"/>
            <a:ext cx="5321808" cy="343814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0080" y="5157216"/>
            <a:ext cx="5340096" cy="32918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B6773"/>
                </a:solidFill>
                <a:latin typeface="Malgun Gothic"/>
              </a:rPr>
              <a:t>점 하나 = 학생 1명 · x축 = 예측을 높이거나 낮춘 영향 · 색 = 해당 피처값의 크기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5157216"/>
            <a:ext cx="5138928" cy="32918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B6773"/>
                </a:solidFill>
                <a:latin typeface="Malgun Gothic"/>
              </a:rPr>
              <a:t>상담 화면에는 최종 확률과 함께 ‘이 학생의 위험을 높인 상위 3개 신호’를 제공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632704"/>
            <a:ext cx="11091672" cy="512064"/>
          </a:xfrm>
          <a:prstGeom prst="roundRect">
            <a:avLst/>
          </a:prstGeom>
          <a:solidFill>
            <a:srgbClr val="22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660136"/>
            <a:ext cx="10725912" cy="4389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algun Gothic"/>
              </a:rPr>
              <a:t>SHAP은 진단명이 아니라 대화의 출발점이다 — 담당자는 근거를 확인하고 사람의 판단으로 지원을 확정한다.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37392" y="6318504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B6773"/>
                </a:solidFill>
                <a:latin typeface="Malgun Gothic"/>
              </a:rPr>
              <a:t>21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60920" y="137160"/>
            <a:ext cx="107899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5B6773"/>
                </a:solidFill>
                <a:latin typeface="Malgun Gothic"/>
              </a:rPr>
              <a:t>1. 제안 배경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06640" y="448056"/>
            <a:ext cx="987551" cy="41148"/>
          </a:xfrm>
          <a:prstGeom prst="rect">
            <a:avLst/>
          </a:prstGeom>
          <a:solidFill>
            <a:srgbClr val="C7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531352" y="137160"/>
            <a:ext cx="932688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5B6773"/>
                </a:solidFill>
                <a:latin typeface="Malgun Gothic"/>
              </a:rPr>
              <a:t>2. 서비스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77072" y="448056"/>
            <a:ext cx="841248" cy="41148"/>
          </a:xfrm>
          <a:prstGeom prst="rect">
            <a:avLst/>
          </a:prstGeom>
          <a:solidFill>
            <a:srgbClr val="C7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555480" y="137160"/>
            <a:ext cx="1133856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1">
                <a:solidFill>
                  <a:srgbClr val="222A36"/>
                </a:solidFill>
                <a:latin typeface="Malgun Gothic"/>
              </a:rPr>
              <a:t>3. 검증·근거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0" y="448056"/>
            <a:ext cx="1042415" cy="41148"/>
          </a:xfrm>
          <a:prstGeom prst="rect">
            <a:avLst/>
          </a:prstGeom>
          <a:solidFill>
            <a:srgbClr val="00A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780776" y="137160"/>
            <a:ext cx="107899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5B6773"/>
                </a:solidFill>
                <a:latin typeface="Malgun Gothic"/>
              </a:rPr>
              <a:t>4. 도입 계획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826496" y="448056"/>
            <a:ext cx="987551" cy="41148"/>
          </a:xfrm>
          <a:prstGeom prst="rect">
            <a:avLst/>
          </a:prstGeom>
          <a:solidFill>
            <a:srgbClr val="C7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8"/>
          <p:cNvSpPr/>
          <p:nvPr/>
        </p:nvSpPr>
        <p:spPr>
          <a:xfrm>
            <a:off x="9459468" y="1527048"/>
            <a:ext cx="1472184" cy="4306824"/>
          </a:xfrm>
          <a:prstGeom prst="roundRect">
            <a:avLst>
              <a:gd name="adj" fmla="val 11180"/>
            </a:avLst>
          </a:prstGeom>
          <a:solidFill>
            <a:srgbClr val="2B313E"/>
          </a:solidFill>
          <a:ln w="15875">
            <a:solidFill>
              <a:srgbClr val="3B4354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9715500" y="1783080"/>
            <a:ext cx="960120" cy="960120"/>
          </a:xfrm>
          <a:prstGeom prst="ellipse">
            <a:avLst/>
          </a:prstGeom>
          <a:solidFill>
            <a:srgbClr val="D55E00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9715500" y="3200400"/>
            <a:ext cx="960120" cy="960120"/>
          </a:xfrm>
          <a:prstGeom prst="ellipse">
            <a:avLst/>
          </a:prstGeom>
          <a:solidFill>
            <a:srgbClr val="E69F00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9715500" y="4617720"/>
            <a:ext cx="960120" cy="960120"/>
          </a:xfrm>
          <a:prstGeom prst="ellipse">
            <a:avLst/>
          </a:prstGeom>
          <a:solidFill>
            <a:srgbClr val="009E73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2960" y="23317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A67D"/>
                </a:solidFill>
                <a:latin typeface="Malgun Gothic"/>
              </a:rPr>
              <a:t>SECTION 4 · ACTION / HOW / A/S</a:t>
            </a:r>
          </a:p>
        </p:txBody>
      </p:sp>
      <p:sp>
        <p:nvSpPr>
          <p:cNvPr id="15" name="Text 13"/>
          <p:cNvSpPr/>
          <p:nvPr/>
        </p:nvSpPr>
        <p:spPr>
          <a:xfrm>
            <a:off x="795528" y="274320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Malgun Gothic"/>
              </a:rPr>
              <a:t>예측을 실제 지원으로 운영한다</a:t>
            </a:r>
          </a:p>
        </p:txBody>
      </p:sp>
      <p:sp>
        <p:nvSpPr>
          <p:cNvPr id="16" name="Text 14"/>
          <p:cNvSpPr/>
          <p:nvPr/>
        </p:nvSpPr>
        <p:spPr>
          <a:xfrm>
            <a:off x="832104" y="38221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D2DCE4"/>
                </a:solidFill>
                <a:latin typeface="Malgun Gothic"/>
              </a:rPr>
              <a:t>대상·담당·도구·SLA·완료조건·복구절차까지 명시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37392" y="6318504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0AEB9"/>
                </a:solidFill>
                <a:latin typeface="Malgun Gothic"/>
              </a:rPr>
              <a:t>22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60920" y="137160"/>
            <a:ext cx="1078992" cy="292608"/>
          </a:xfrm>
          <a:prstGeom prst="rect">
            <a:avLst/>
          </a:prstGeom>
          <a:solidFill>
            <a:srgbClr val="22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CAD5DD"/>
                </a:solidFill>
                <a:latin typeface="Malgun Gothic"/>
              </a:rPr>
              <a:t>1. 제안 배경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06640" y="448056"/>
            <a:ext cx="987551" cy="41148"/>
          </a:xfrm>
          <a:prstGeom prst="rect">
            <a:avLst/>
          </a:prstGeom>
          <a:solidFill>
            <a:srgbClr val="B4C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31352" y="137160"/>
            <a:ext cx="932688" cy="292608"/>
          </a:xfrm>
          <a:prstGeom prst="rect">
            <a:avLst/>
          </a:prstGeom>
          <a:solidFill>
            <a:srgbClr val="22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CAD5DD"/>
                </a:solidFill>
                <a:latin typeface="Malgun Gothic"/>
              </a:rPr>
              <a:t>2. 서비스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77072" y="448056"/>
            <a:ext cx="841248" cy="41148"/>
          </a:xfrm>
          <a:prstGeom prst="rect">
            <a:avLst/>
          </a:prstGeom>
          <a:solidFill>
            <a:srgbClr val="B4C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55480" y="137160"/>
            <a:ext cx="1133856" cy="292608"/>
          </a:xfrm>
          <a:prstGeom prst="rect">
            <a:avLst/>
          </a:prstGeom>
          <a:solidFill>
            <a:srgbClr val="22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CAD5DD"/>
                </a:solidFill>
                <a:latin typeface="Malgun Gothic"/>
              </a:rPr>
              <a:t>3. 검증·근거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01200" y="448056"/>
            <a:ext cx="1042415" cy="41148"/>
          </a:xfrm>
          <a:prstGeom prst="rect">
            <a:avLst/>
          </a:prstGeom>
          <a:solidFill>
            <a:srgbClr val="B4C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780776" y="137160"/>
            <a:ext cx="1078992" cy="292608"/>
          </a:xfrm>
          <a:prstGeom prst="rect">
            <a:avLst/>
          </a:prstGeom>
          <a:solidFill>
            <a:srgbClr val="22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1">
                <a:solidFill>
                  <a:srgbClr val="FFFFFF"/>
                </a:solidFill>
                <a:latin typeface="Malgun Gothic"/>
              </a:rPr>
              <a:t>4. 도입 계획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826496" y="448056"/>
            <a:ext cx="987551" cy="41148"/>
          </a:xfrm>
          <a:prstGeom prst="rect">
            <a:avLst/>
          </a:prstGeom>
          <a:solidFill>
            <a:srgbClr val="00A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5098577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GOVERNANCE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민감한 정보인 만큼 신뢰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설계가</a:t>
            </a: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548640" y="1737360"/>
            <a:ext cx="3511296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22960" y="2029968"/>
            <a:ext cx="457200" cy="457200"/>
          </a:xfrm>
          <a:prstGeom prst="ellipse">
            <a:avLst/>
          </a:prstGeom>
          <a:solidFill>
            <a:srgbClr val="009E73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22960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17320" y="2066544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동의 기반 수집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22960" y="2651760"/>
            <a:ext cx="29626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목적·항목을 사전 고지하고 동의받습니다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334256" y="1737360"/>
            <a:ext cx="3511296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608576" y="2029968"/>
            <a:ext cx="457200" cy="457200"/>
          </a:xfrm>
          <a:prstGeom prst="ellipse">
            <a:avLst/>
          </a:prstGeom>
          <a:solidFill>
            <a:srgbClr val="009E73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608576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202936" y="2066544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수집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608576" y="2651760"/>
            <a:ext cx="29626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신호만 — 과잉 수집하지 않음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119872" y="1737360"/>
            <a:ext cx="3511296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8394192" y="2029968"/>
            <a:ext cx="457200" cy="457200"/>
          </a:xfrm>
          <a:prstGeom prst="ellipse">
            <a:avLst/>
          </a:prstGeom>
          <a:solidFill>
            <a:srgbClr val="009E73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394192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988552" y="2066544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 통제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394192" y="2651760"/>
            <a:ext cx="29626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본인과 담당 상담사만 열람합니다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3703320"/>
            <a:ext cx="3511296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822960" y="3995928"/>
            <a:ext cx="457200" cy="457200"/>
          </a:xfrm>
          <a:prstGeom prst="ellipse">
            <a:avLst/>
          </a:prstGeom>
          <a:solidFill>
            <a:srgbClr val="009E73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822960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1417320" y="4032504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 제공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822960" y="4617720"/>
            <a:ext cx="29626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등급마다 SHAP 근거를 함께 제시합니다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334256" y="3703320"/>
            <a:ext cx="3511296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4608576" y="3995928"/>
            <a:ext cx="457200" cy="457200"/>
          </a:xfrm>
          <a:prstGeom prst="ellipse">
            <a:avLst/>
          </a:prstGeom>
          <a:solidFill>
            <a:srgbClr val="009E73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4608576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5202936" y="4032504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판단은 사람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4608576" y="4617720"/>
            <a:ext cx="29626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모델은 우선순위 제안, 결정은 상담사가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8119872" y="3703320"/>
            <a:ext cx="3511296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8394192" y="3995928"/>
            <a:ext cx="457200" cy="457200"/>
          </a:xfrm>
          <a:prstGeom prst="ellipse">
            <a:avLst/>
          </a:prstGeom>
          <a:solidFill>
            <a:srgbClr val="009E73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8394192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8988552" y="4032504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지속 모니터링</a:t>
            </a:r>
            <a:endParaRPr lang="en-US" sz="1450" dirty="0"/>
          </a:p>
        </p:txBody>
      </p:sp>
      <p:sp>
        <p:nvSpPr>
          <p:cNvPr id="42" name="Text 40"/>
          <p:cNvSpPr/>
          <p:nvPr/>
        </p:nvSpPr>
        <p:spPr>
          <a:xfrm>
            <a:off x="8394192" y="4617720"/>
            <a:ext cx="29626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성능·형평성을 정기 점검합니다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548640" y="5623560"/>
            <a:ext cx="11091672" cy="713232"/>
          </a:xfrm>
          <a:prstGeom prst="roundRect">
            <a:avLst>
              <a:gd name="adj" fmla="val 11538"/>
            </a:avLst>
          </a:prstGeom>
          <a:solidFill>
            <a:srgbClr val="1F2430"/>
          </a:solidFill>
          <a:ln/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548640" y="5623560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서비스의 엔진이지, 주인공이 아닙니다  </a:t>
            </a:r>
            <a:r>
              <a:rPr lang="en-US" sz="14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신뢰가 먼저입니다.</a:t>
            </a:r>
            <a:endParaRPr lang="en-US" sz="1500" dirty="0"/>
          </a:p>
        </p:txBody>
      </p:sp>
      <p:sp>
        <p:nvSpPr>
          <p:cNvPr id="53" name="TextBox 52"/>
          <p:cNvSpPr txBox="1"/>
          <p:nvPr/>
        </p:nvSpPr>
        <p:spPr>
          <a:xfrm>
            <a:off x="11137392" y="6318504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B6773"/>
                </a:solidFill>
                <a:latin typeface="Malgun Gothic"/>
              </a:rPr>
              <a:t>23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60920" y="137160"/>
            <a:ext cx="107899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5B6773"/>
                </a:solidFill>
                <a:latin typeface="Malgun Gothic"/>
              </a:rPr>
              <a:t>1. 제안 배경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406640" y="448056"/>
            <a:ext cx="987551" cy="41148"/>
          </a:xfrm>
          <a:prstGeom prst="rect">
            <a:avLst/>
          </a:prstGeom>
          <a:solidFill>
            <a:srgbClr val="C7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531352" y="137160"/>
            <a:ext cx="932688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5B6773"/>
                </a:solidFill>
                <a:latin typeface="Malgun Gothic"/>
              </a:rPr>
              <a:t>2. 서비스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577072" y="448056"/>
            <a:ext cx="841248" cy="41148"/>
          </a:xfrm>
          <a:prstGeom prst="rect">
            <a:avLst/>
          </a:prstGeom>
          <a:solidFill>
            <a:srgbClr val="C7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555480" y="137160"/>
            <a:ext cx="1133856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5B6773"/>
                </a:solidFill>
                <a:latin typeface="Malgun Gothic"/>
              </a:rPr>
              <a:t>3. 검증·근거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601200" y="448056"/>
            <a:ext cx="1042415" cy="41148"/>
          </a:xfrm>
          <a:prstGeom prst="rect">
            <a:avLst/>
          </a:prstGeom>
          <a:solidFill>
            <a:srgbClr val="C7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780776" y="137160"/>
            <a:ext cx="107899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1">
                <a:solidFill>
                  <a:srgbClr val="222A36"/>
                </a:solidFill>
                <a:latin typeface="Malgun Gothic"/>
              </a:rPr>
              <a:t>4. 도입 계획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826496" y="448056"/>
            <a:ext cx="987551" cy="41148"/>
          </a:xfrm>
          <a:prstGeom prst="rect">
            <a:avLst/>
          </a:prstGeom>
          <a:solidFill>
            <a:srgbClr val="00A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PRINCIPLES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</a:t>
            </a:r>
            <a:r>
              <a:rPr lang="ko-KR" alt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예측·설명·재평가만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548640" y="1737360"/>
            <a:ext cx="356616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2002536" y="2011680"/>
            <a:ext cx="658368" cy="658368"/>
          </a:xfrm>
          <a:prstGeom prst="ellipse">
            <a:avLst/>
          </a:prstGeom>
          <a:solidFill>
            <a:srgbClr val="2A2E3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002536" y="20116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31520" y="281635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31520" y="325526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A87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확률을 계산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59536" y="3657600"/>
            <a:ext cx="2944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predict_proba 로 3등급 확률을 산출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 rot="5400000">
            <a:off x="4137660" y="2990088"/>
            <a:ext cx="237744" cy="237744"/>
          </a:xfrm>
          <a:prstGeom prst="triangle">
            <a:avLst/>
          </a:prstGeom>
          <a:solidFill>
            <a:srgbClr val="AEB6BF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398264" y="1737360"/>
            <a:ext cx="356616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5852160" y="2011680"/>
            <a:ext cx="658368" cy="658368"/>
          </a:xfrm>
          <a:prstGeom prst="ellipse">
            <a:avLst/>
          </a:prstGeom>
          <a:solidFill>
            <a:srgbClr val="2A2E35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852160" y="20116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581144" y="281635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4581144" y="325526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근거를 분해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709160" y="3657600"/>
            <a:ext cx="2944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SHAP로 학생마다 어떤 신호가 위험을 높였는지 제시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 rot="5400000">
            <a:off x="7987284" y="2990088"/>
            <a:ext cx="237744" cy="237744"/>
          </a:xfrm>
          <a:prstGeom prst="triangle">
            <a:avLst/>
          </a:prstGeom>
          <a:solidFill>
            <a:srgbClr val="AEB6BF"/>
          </a:solidFill>
          <a:ln/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8247888" y="1737360"/>
            <a:ext cx="356616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9701784" y="2011680"/>
            <a:ext cx="658368" cy="658368"/>
          </a:xfrm>
          <a:prstGeom prst="ellipse">
            <a:avLst/>
          </a:prstGeom>
          <a:solidFill>
            <a:srgbClr val="2A2E35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9701784" y="20116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8430768" y="281635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재평가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8430768" y="325526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D55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변화를 추적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8558784" y="3657600"/>
            <a:ext cx="2944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개입 후 다시 측정해 등급이 나아졌는지 확인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48640" y="4846320"/>
            <a:ext cx="11091672" cy="1417320"/>
          </a:xfrm>
          <a:prstGeom prst="roundRect">
            <a:avLst>
              <a:gd name="adj" fmla="val 5806"/>
            </a:avLst>
          </a:prstGeom>
          <a:solidFill>
            <a:srgbClr val="F3F5F7"/>
          </a:solidFill>
          <a:ln w="12700">
            <a:solidFill>
              <a:srgbClr val="DCE1E7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777240" y="49834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원칙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77240" y="532180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낙인효과 방지  </a:t>
            </a: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등급은 ‘꼬리표’가 아니라 개입을 여는 트리거일 뿐입니다.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777240" y="572414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CVD-safe 설계  </a:t>
            </a: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Okabe-Ito 팔레트 + 색·라벨·위치 삼중 인코딩으로 색만으로 판단하지 않게 했습니다.</a:t>
            </a:r>
            <a:endParaRPr lang="en-US" sz="1350" dirty="0"/>
          </a:p>
        </p:txBody>
      </p:sp>
      <p:sp>
        <p:nvSpPr>
          <p:cNvPr id="45" name="TextBox 44"/>
          <p:cNvSpPr txBox="1"/>
          <p:nvPr/>
        </p:nvSpPr>
        <p:spPr>
          <a:xfrm>
            <a:off x="11137392" y="6318504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B6773"/>
                </a:solidFill>
                <a:latin typeface="Malgun Gothic"/>
              </a:rPr>
              <a:t>24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60920" y="137160"/>
            <a:ext cx="107899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5B6773"/>
                </a:solidFill>
                <a:latin typeface="Malgun Gothic"/>
              </a:rPr>
              <a:t>1. 제안 배경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06640" y="448056"/>
            <a:ext cx="987551" cy="41148"/>
          </a:xfrm>
          <a:prstGeom prst="rect">
            <a:avLst/>
          </a:prstGeom>
          <a:solidFill>
            <a:srgbClr val="C7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531352" y="137160"/>
            <a:ext cx="932688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5B6773"/>
                </a:solidFill>
                <a:latin typeface="Malgun Gothic"/>
              </a:rPr>
              <a:t>2. 서비스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577072" y="448056"/>
            <a:ext cx="841248" cy="41148"/>
          </a:xfrm>
          <a:prstGeom prst="rect">
            <a:avLst/>
          </a:prstGeom>
          <a:solidFill>
            <a:srgbClr val="C7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555480" y="137160"/>
            <a:ext cx="1133856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5B6773"/>
                </a:solidFill>
                <a:latin typeface="Malgun Gothic"/>
              </a:rPr>
              <a:t>3. 검증·근거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601200" y="448056"/>
            <a:ext cx="1042415" cy="41148"/>
          </a:xfrm>
          <a:prstGeom prst="rect">
            <a:avLst/>
          </a:prstGeom>
          <a:solidFill>
            <a:srgbClr val="C7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780776" y="137160"/>
            <a:ext cx="107899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1">
                <a:solidFill>
                  <a:srgbClr val="222A36"/>
                </a:solidFill>
                <a:latin typeface="Malgun Gothic"/>
              </a:rPr>
              <a:t>4. 도입 계획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826496" y="448056"/>
            <a:ext cx="987551" cy="41148"/>
          </a:xfrm>
          <a:prstGeom prst="rect">
            <a:avLst/>
          </a:prstGeom>
          <a:solidFill>
            <a:srgbClr val="00A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92608"/>
            <a:ext cx="5394960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07E62"/>
                </a:solidFill>
                <a:latin typeface="Malgun Gothic"/>
              </a:rPr>
              <a:t>ACTION 1 · SCOPE × PEOPLE × CAPACITY × TOOL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603504"/>
            <a:ext cx="10881360" cy="6766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222A36"/>
                </a:solidFill>
                <a:latin typeface="Malgun Gothic"/>
              </a:rPr>
              <a:t>300명·8주 PoC를 기존 인력과 도구로 바로 운영한다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" y="1298448"/>
            <a:ext cx="11000232" cy="384048"/>
          </a:xfrm>
          <a:prstGeom prst="roundRect">
            <a:avLst/>
          </a:prstGeom>
          <a:solidFill>
            <a:srgbClr val="FFF7E6"/>
          </a:solidFill>
          <a:ln w="10160">
            <a:solidFill>
              <a:srgbClr val="F2A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1371600"/>
            <a:ext cx="502920" cy="23774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2A621"/>
                </a:solidFill>
                <a:latin typeface="Malgun Gothic"/>
              </a:rPr>
              <a:t>WHY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1335024"/>
            <a:ext cx="10012680" cy="29260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22A36"/>
                </a:solidFill>
                <a:latin typeface="Malgun Gothic"/>
              </a:rPr>
              <a:t>모델 성능만으로는 실행되지 않는다 — 대상·인력·처리량·도구를 먼저 고정해야 한다.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" y="1810512"/>
            <a:ext cx="2679192" cy="2971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F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2064" y="1810512"/>
            <a:ext cx="64008" cy="2971800"/>
          </a:xfrm>
          <a:prstGeom prst="rect">
            <a:avLst/>
          </a:prstGeom>
          <a:solidFill>
            <a:srgbClr val="F2A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1901952"/>
            <a:ext cx="2404872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2A621"/>
                </a:solidFill>
                <a:latin typeface="Malgun Gothic"/>
              </a:rPr>
              <a:t>SCOPE · 기준안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" y="2176272"/>
            <a:ext cx="2404872" cy="4389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22A36"/>
                </a:solidFill>
                <a:latin typeface="Malgun Gothic"/>
              </a:rPr>
              <a:t>동의자 300명 · 8주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" y="2651760"/>
            <a:ext cx="2404872" cy="202082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5B6773"/>
                </a:solidFill>
                <a:latin typeface="Malgun Gothic"/>
              </a:rPr>
              <a:t>ACTION  주 1회 13개 신호 수집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5B6773"/>
                </a:solidFill>
                <a:latin typeface="Malgun Gothic"/>
              </a:rPr>
              <a:t>HOW  LMS 설문 링크+암호화 ID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5B6773"/>
                </a:solidFill>
                <a:latin typeface="Malgun Gothic"/>
              </a:rPr>
              <a:t>DONE  8회 입력·판정·후속 로그 확보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01568" y="1810512"/>
            <a:ext cx="2679192" cy="2971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F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01568" y="1810512"/>
            <a:ext cx="64008" cy="2971800"/>
          </a:xfrm>
          <a:prstGeom prst="rect">
            <a:avLst/>
          </a:prstGeom>
          <a:solidFill>
            <a:srgbClr val="1E8B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57016" y="1901952"/>
            <a:ext cx="2404872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E8BCD"/>
                </a:solidFill>
                <a:latin typeface="Malgun Gothic"/>
              </a:rPr>
              <a:t>PEOPLE · 내부 투입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57016" y="2176272"/>
            <a:ext cx="2404872" cy="4389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22A36"/>
                </a:solidFill>
                <a:latin typeface="Malgun Gothic"/>
              </a:rPr>
              <a:t>5개 역할을 지정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57016" y="2651760"/>
            <a:ext cx="2404872" cy="202082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5B6773"/>
                </a:solidFill>
                <a:latin typeface="Malgun Gothic"/>
              </a:rPr>
              <a:t>ACTION  PO·데이터·MLOps·상담·개인정보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5B6773"/>
                </a:solidFill>
                <a:latin typeface="Malgun Gothic"/>
              </a:rPr>
              <a:t>HOW  0.2·0.2·0.1 FTE + 상담사 2명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5B6773"/>
                </a:solidFill>
                <a:latin typeface="Malgun Gothic"/>
              </a:rPr>
              <a:t>DONE  RACI·대체 담당자·승인선 서명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91072" y="1810512"/>
            <a:ext cx="2679192" cy="2971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F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91072" y="1810512"/>
            <a:ext cx="64008" cy="2971800"/>
          </a:xfrm>
          <a:prstGeom prst="rect">
            <a:avLst/>
          </a:prstGeom>
          <a:solidFill>
            <a:srgbClr val="00A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1901952"/>
            <a:ext cx="2404872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A67D"/>
                </a:solidFill>
                <a:latin typeface="Malgun Gothic"/>
              </a:rPr>
              <a:t>CAPACITY · 주간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2176272"/>
            <a:ext cx="2404872" cy="4389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22A36"/>
                </a:solidFill>
                <a:latin typeface="Malgun Gothic"/>
              </a:rPr>
              <a:t>상담 30슬롯 운영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2651760"/>
            <a:ext cx="2404872" cy="202082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5B6773"/>
                </a:solidFill>
                <a:latin typeface="Malgun Gothic"/>
              </a:rPr>
              <a:t>ACTION  Red 우선·Amber 셀프미션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5B6773"/>
                </a:solidFill>
                <a:latin typeface="Malgun Gothic"/>
              </a:rPr>
              <a:t>HOW  min(Red, 잔여슬롯) 즉시 배정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5B6773"/>
                </a:solidFill>
                <a:latin typeface="Malgun Gothic"/>
              </a:rPr>
              <a:t>DONE  대기열·예상 대기시간 매주 공개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80576" y="1810512"/>
            <a:ext cx="2679192" cy="2971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F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80576" y="1810512"/>
            <a:ext cx="64008" cy="2971800"/>
          </a:xfrm>
          <a:prstGeom prst="rect">
            <a:avLst/>
          </a:prstGeom>
          <a:solidFill>
            <a:srgbClr val="22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36024" y="1901952"/>
            <a:ext cx="2404872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22A36"/>
                </a:solidFill>
                <a:latin typeface="Malgun Gothic"/>
              </a:rPr>
              <a:t>TOOL · 신규비 최소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36024" y="2176272"/>
            <a:ext cx="2404872" cy="4389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22A36"/>
                </a:solidFill>
                <a:latin typeface="Malgun Gothic"/>
              </a:rPr>
              <a:t>기존 시스템에 얹기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36024" y="2651760"/>
            <a:ext cx="2404872" cy="202082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5B6773"/>
                </a:solidFill>
                <a:latin typeface="Malgun Gothic"/>
              </a:rPr>
              <a:t>ACTION  LMS·Python·PostgreSQL 사용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5B6773"/>
                </a:solidFill>
                <a:latin typeface="Malgun Gothic"/>
              </a:rPr>
              <a:t>HOW  주 1회 배치+상담 웹 작업 큐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5B6773"/>
                </a:solidFill>
                <a:latin typeface="Malgun Gothic"/>
              </a:rPr>
              <a:t>DONE  유료 신규도구 없이 접근권한 승인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4983480"/>
            <a:ext cx="10899648" cy="448056"/>
          </a:xfrm>
          <a:prstGeom prst="roundRect">
            <a:avLst/>
          </a:prstGeom>
          <a:solidFill>
            <a:srgbClr val="E8F7F1"/>
          </a:solidFill>
          <a:ln w="10160">
            <a:solidFill>
              <a:srgbClr val="00A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5065776"/>
            <a:ext cx="685800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7E62"/>
                </a:solidFill>
                <a:latin typeface="Malgun Gothic"/>
              </a:rPr>
              <a:t>RESULT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36192" y="5029200"/>
            <a:ext cx="9646920" cy="31089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22A36"/>
                </a:solidFill>
                <a:latin typeface="Malgun Gothic"/>
              </a:rPr>
              <a:t>8주 뒤 300명의 선별률·실제 연결률·D14 개선률·운영시간을 근거로 전교 확장 비용을 계산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632704"/>
            <a:ext cx="11091672" cy="512064"/>
          </a:xfrm>
          <a:prstGeom prst="roundRect">
            <a:avLst/>
          </a:prstGeom>
          <a:solidFill>
            <a:srgbClr val="22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660136"/>
            <a:ext cx="10725912" cy="4389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algun Gothic"/>
              </a:rPr>
              <a:t>클라이언트가 승인할 것: 300명·8주·상담 30슬롯·담당자 5역할·기존 시스템 사용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37392" y="6318504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B6773"/>
                </a:solidFill>
                <a:latin typeface="Malgun Gothic"/>
              </a:rPr>
              <a:t>25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60920" y="137160"/>
            <a:ext cx="107899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5B6773"/>
                </a:solidFill>
                <a:latin typeface="Malgun Gothic"/>
              </a:rPr>
              <a:t>1. 제안 배경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06640" y="448056"/>
            <a:ext cx="987551" cy="41148"/>
          </a:xfrm>
          <a:prstGeom prst="rect">
            <a:avLst/>
          </a:prstGeom>
          <a:solidFill>
            <a:srgbClr val="C7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531352" y="137160"/>
            <a:ext cx="932688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5B6773"/>
                </a:solidFill>
                <a:latin typeface="Malgun Gothic"/>
              </a:rPr>
              <a:t>2. 서비스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77072" y="448056"/>
            <a:ext cx="841248" cy="41148"/>
          </a:xfrm>
          <a:prstGeom prst="rect">
            <a:avLst/>
          </a:prstGeom>
          <a:solidFill>
            <a:srgbClr val="C7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555480" y="137160"/>
            <a:ext cx="1133856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5B6773"/>
                </a:solidFill>
                <a:latin typeface="Malgun Gothic"/>
              </a:rPr>
              <a:t>3. 검증·근거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01200" y="448056"/>
            <a:ext cx="1042415" cy="41148"/>
          </a:xfrm>
          <a:prstGeom prst="rect">
            <a:avLst/>
          </a:prstGeom>
          <a:solidFill>
            <a:srgbClr val="C7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780776" y="137160"/>
            <a:ext cx="107899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1">
                <a:solidFill>
                  <a:srgbClr val="222A36"/>
                </a:solidFill>
                <a:latin typeface="Malgun Gothic"/>
              </a:rPr>
              <a:t>4. 도입 계획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826496" y="448056"/>
            <a:ext cx="987551" cy="41148"/>
          </a:xfrm>
          <a:prstGeom prst="rect">
            <a:avLst/>
          </a:prstGeom>
          <a:solidFill>
            <a:srgbClr val="00A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92608"/>
            <a:ext cx="5394960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07E62"/>
                </a:solidFill>
                <a:latin typeface="Malgun Gothic"/>
              </a:rPr>
              <a:t>ACTION 2 · TRIGGER × SLA × OWNER × DONE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603504"/>
            <a:ext cx="10881360" cy="6766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222A36"/>
                </a:solidFill>
                <a:latin typeface="Malgun Gothic"/>
              </a:rPr>
              <a:t>등급별 지원을 배정하고 ‘실제 연결’까지 책임진다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30352" y="1444752"/>
          <a:ext cx="11137391" cy="38221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4672"/>
                <a:gridCol w="1938528"/>
                <a:gridCol w="749808"/>
                <a:gridCol w="3749039"/>
                <a:gridCol w="1051560"/>
                <a:gridCol w="2843784"/>
              </a:tblGrid>
              <a:tr h="764438"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Malgun Gothic"/>
                        </a:rPr>
                        <a:t>큐</a:t>
                      </a:r>
                    </a:p>
                  </a:txBody>
                  <a:tcPr marL="22860" marR="22860" marT="13716" marB="13716">
                    <a:solidFill>
                      <a:srgbClr val="222A3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Malgun Gothic"/>
                        </a:rPr>
                        <a:t>트리거</a:t>
                      </a:r>
                    </a:p>
                  </a:txBody>
                  <a:tcPr marL="22860" marR="22860" marT="13716" marB="13716">
                    <a:solidFill>
                      <a:srgbClr val="222A3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Malgun Gothic"/>
                        </a:rPr>
                        <a:t>SLA</a:t>
                      </a:r>
                    </a:p>
                  </a:txBody>
                  <a:tcPr marL="22860" marR="22860" marT="13716" marB="13716">
                    <a:solidFill>
                      <a:srgbClr val="222A3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Malgun Gothic"/>
                        </a:rPr>
                        <a:t>학생에게 하는 일</a:t>
                      </a:r>
                    </a:p>
                  </a:txBody>
                  <a:tcPr marL="22860" marR="22860" marT="13716" marB="13716">
                    <a:solidFill>
                      <a:srgbClr val="222A3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Malgun Gothic"/>
                        </a:rPr>
                        <a:t>담당</a:t>
                      </a:r>
                    </a:p>
                  </a:txBody>
                  <a:tcPr marL="22860" marR="22860" marT="13716" marB="13716">
                    <a:solidFill>
                      <a:srgbClr val="222A3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Malgun Gothic"/>
                        </a:rPr>
                        <a:t>DONE 기준</a:t>
                      </a:r>
                    </a:p>
                  </a:txBody>
                  <a:tcPr marL="22860" marR="22860" marT="13716" marB="13716">
                    <a:solidFill>
                      <a:srgbClr val="222A36"/>
                    </a:solidFill>
                  </a:tcPr>
                </a:tc>
              </a:tr>
              <a:tr h="764438"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19" b="1">
                          <a:solidFill>
                            <a:srgbClr val="222A36"/>
                          </a:solidFill>
                          <a:latin typeface="Malgun Gothic"/>
                        </a:rPr>
                        <a:t>RED</a:t>
                      </a:r>
                    </a:p>
                  </a:txBody>
                  <a:tcPr marL="22860" marR="22860" marT="13716" marB="13716">
                    <a:solidFill>
                      <a:srgbClr val="FDEE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22A36"/>
                          </a:solidFill>
                          <a:latin typeface="Malgun Gothic"/>
                        </a:rPr>
                        <a:t>unhealthy 또는 자해·응급 문항</a:t>
                      </a:r>
                    </a:p>
                  </a:txBody>
                  <a:tcPr marL="22860" marR="22860" marT="13716" marB="13716">
                    <a:solidFill>
                      <a:srgbClr val="FDEE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22A36"/>
                          </a:solidFill>
                          <a:latin typeface="Malgun Gothic"/>
                        </a:rPr>
                        <a:t>24시간</a:t>
                      </a:r>
                    </a:p>
                  </a:txBody>
                  <a:tcPr marL="22860" marR="22860" marT="13716" marB="13716">
                    <a:solidFill>
                      <a:srgbClr val="FDEE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22A36"/>
                          </a:solidFill>
                          <a:latin typeface="Malgun Gothic"/>
                        </a:rPr>
                        <a:t>앱+문자 즉시 안내 → 전화 확인 → 상담/의료 연결</a:t>
                      </a:r>
                    </a:p>
                  </a:txBody>
                  <a:tcPr marL="22860" marR="22860" marT="13716" marB="13716">
                    <a:solidFill>
                      <a:srgbClr val="FDEE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22A36"/>
                          </a:solidFill>
                          <a:latin typeface="Malgun Gothic"/>
                        </a:rPr>
                        <a:t>상담사</a:t>
                      </a:r>
                    </a:p>
                  </a:txBody>
                  <a:tcPr marL="22860" marR="22860" marT="13716" marB="13716">
                    <a:solidFill>
                      <a:srgbClr val="FDEE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22A36"/>
                          </a:solidFill>
                          <a:latin typeface="Malgun Gothic"/>
                        </a:rPr>
                        <a:t>접촉 결과·연결기관·예약일 기록</a:t>
                      </a:r>
                    </a:p>
                  </a:txBody>
                  <a:tcPr marL="22860" marR="22860" marT="13716" marB="13716">
                    <a:solidFill>
                      <a:srgbClr val="FDEEEE"/>
                    </a:solidFill>
                  </a:tcPr>
                </a:tc>
              </a:tr>
              <a:tr h="764438"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19" b="1">
                          <a:solidFill>
                            <a:srgbClr val="222A36"/>
                          </a:solidFill>
                          <a:latin typeface="Malgun Gothic"/>
                        </a:rPr>
                        <a:t>AMBER</a:t>
                      </a:r>
                    </a:p>
                  </a:txBody>
                  <a:tcPr marL="22860" marR="22860" marT="13716" marB="13716">
                    <a:solidFill>
                      <a:srgbClr val="FFF7E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22A36"/>
                          </a:solidFill>
                          <a:latin typeface="Malgun Gothic"/>
                        </a:rPr>
                        <a:t>at-risk + 수면/스트레스/활동 위험</a:t>
                      </a:r>
                    </a:p>
                  </a:txBody>
                  <a:tcPr marL="22860" marR="22860" marT="13716" marB="13716">
                    <a:solidFill>
                      <a:srgbClr val="FFF7E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22A36"/>
                          </a:solidFill>
                          <a:latin typeface="Malgun Gothic"/>
                        </a:rPr>
                        <a:t>72시간</a:t>
                      </a:r>
                    </a:p>
                  </a:txBody>
                  <a:tcPr marL="22860" marR="22860" marT="13716" marB="13716">
                    <a:solidFill>
                      <a:srgbClr val="FFF7E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22A36"/>
                          </a:solidFill>
                          <a:latin typeface="Malgun Gothic"/>
                        </a:rPr>
                        <a:t>원인별 14일 미션 배정 → D7 리마인드 → D14 재설문</a:t>
                      </a:r>
                    </a:p>
                  </a:txBody>
                  <a:tcPr marL="22860" marR="22860" marT="13716" marB="13716">
                    <a:solidFill>
                      <a:srgbClr val="FFF7E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22A36"/>
                          </a:solidFill>
                          <a:latin typeface="Malgun Gothic"/>
                        </a:rPr>
                        <a:t>학생지원팀</a:t>
                      </a:r>
                    </a:p>
                  </a:txBody>
                  <a:tcPr marL="22860" marR="22860" marT="13716" marB="13716">
                    <a:solidFill>
                      <a:srgbClr val="FFF7E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22A36"/>
                          </a:solidFill>
                          <a:latin typeface="Malgun Gothic"/>
                        </a:rPr>
                        <a:t>미션 수락·이행률·재점수 기록</a:t>
                      </a:r>
                    </a:p>
                  </a:txBody>
                  <a:tcPr marL="22860" marR="22860" marT="13716" marB="13716">
                    <a:solidFill>
                      <a:srgbClr val="FFF7E6"/>
                    </a:solidFill>
                  </a:tcPr>
                </a:tc>
              </a:tr>
              <a:tr h="764438"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19" b="1">
                          <a:solidFill>
                            <a:srgbClr val="222A36"/>
                          </a:solidFill>
                          <a:latin typeface="Malgun Gothic"/>
                        </a:rPr>
                        <a:t>GREEN</a:t>
                      </a:r>
                    </a:p>
                  </a:txBody>
                  <a:tcPr marL="22860" marR="22860" marT="13716" marB="13716">
                    <a:solidFill>
                      <a:srgbClr val="E8F7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22A36"/>
                          </a:solidFill>
                          <a:latin typeface="Malgun Gothic"/>
                        </a:rPr>
                        <a:t>fit + 위험 문항 없음</a:t>
                      </a:r>
                    </a:p>
                  </a:txBody>
                  <a:tcPr marL="22860" marR="22860" marT="13716" marB="13716">
                    <a:solidFill>
                      <a:srgbClr val="E8F7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22A36"/>
                          </a:solidFill>
                          <a:latin typeface="Malgun Gothic"/>
                        </a:rPr>
                        <a:t>7일</a:t>
                      </a:r>
                    </a:p>
                  </a:txBody>
                  <a:tcPr marL="22860" marR="22860" marT="13716" marB="13716">
                    <a:solidFill>
                      <a:srgbClr val="E8F7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22A36"/>
                          </a:solidFill>
                          <a:latin typeface="Malgun Gothic"/>
                        </a:rPr>
                        <a:t>월간 리포트·자기관리 콘텐츠 → 다음 정기 체크인</a:t>
                      </a:r>
                    </a:p>
                  </a:txBody>
                  <a:tcPr marL="22860" marR="22860" marT="13716" marB="13716">
                    <a:solidFill>
                      <a:srgbClr val="E8F7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22A36"/>
                          </a:solidFill>
                          <a:latin typeface="Malgun Gothic"/>
                        </a:rPr>
                        <a:t>앱 자동</a:t>
                      </a:r>
                    </a:p>
                  </a:txBody>
                  <a:tcPr marL="22860" marR="22860" marT="13716" marB="13716">
                    <a:solidFill>
                      <a:srgbClr val="E8F7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22A36"/>
                          </a:solidFill>
                          <a:latin typeface="Malgun Gothic"/>
                        </a:rPr>
                        <a:t>리포트 열람 또는 수신거부 기록</a:t>
                      </a:r>
                    </a:p>
                  </a:txBody>
                  <a:tcPr marL="22860" marR="22860" marT="13716" marB="13716">
                    <a:solidFill>
                      <a:srgbClr val="E8F7F1"/>
                    </a:solidFill>
                  </a:tcPr>
                </a:tc>
              </a:tr>
              <a:tr h="764439"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19" b="1">
                          <a:solidFill>
                            <a:srgbClr val="222A36"/>
                          </a:solidFill>
                          <a:latin typeface="Malgun Gothic"/>
                        </a:rPr>
                        <a:t>MANUAL</a:t>
                      </a:r>
                    </a:p>
                  </a:txBody>
                  <a:tcPr marL="22860" marR="22860" marT="13716" marB="13716">
                    <a:solidFill>
                      <a:srgbClr val="E7F4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22A36"/>
                          </a:solidFill>
                          <a:latin typeface="Malgun Gothic"/>
                        </a:rPr>
                        <a:t>결측 과다·확률차 &lt; 0.05·규칙 충돌</a:t>
                      </a:r>
                    </a:p>
                  </a:txBody>
                  <a:tcPr marL="22860" marR="22860" marT="13716" marB="13716">
                    <a:solidFill>
                      <a:srgbClr val="E7F4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22A36"/>
                          </a:solidFill>
                          <a:latin typeface="Malgun Gothic"/>
                        </a:rPr>
                        <a:t>48시간</a:t>
                      </a:r>
                    </a:p>
                  </a:txBody>
                  <a:tcPr marL="22860" marR="22860" marT="13716" marB="13716">
                    <a:solidFill>
                      <a:srgbClr val="E7F4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22A36"/>
                          </a:solidFill>
                          <a:latin typeface="Malgun Gothic"/>
                        </a:rPr>
                        <a:t>자동 행동 중지 → 원자료 확인 → 상담사 재분류</a:t>
                      </a:r>
                    </a:p>
                  </a:txBody>
                  <a:tcPr marL="22860" marR="22860" marT="13716" marB="13716">
                    <a:solidFill>
                      <a:srgbClr val="E7F4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22A36"/>
                          </a:solidFill>
                          <a:latin typeface="Malgun Gothic"/>
                        </a:rPr>
                        <a:t>보건소</a:t>
                      </a:r>
                    </a:p>
                  </a:txBody>
                  <a:tcPr marL="22860" marR="22860" marT="13716" marB="13716">
                    <a:solidFill>
                      <a:srgbClr val="E7F4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22A36"/>
                          </a:solidFill>
                          <a:latin typeface="Malgun Gothic"/>
                        </a:rPr>
                        <a:t>수동 판정·사유·승인자 기록</a:t>
                      </a:r>
                    </a:p>
                  </a:txBody>
                  <a:tcPr marL="22860" marR="22860" marT="13716" marB="13716">
                    <a:solidFill>
                      <a:srgbClr val="E7F4FC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58368" y="5376672"/>
            <a:ext cx="1078992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7E62"/>
                </a:solidFill>
                <a:latin typeface="Malgun Gothic"/>
              </a:rPr>
              <a:t>공통 저장값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55648" y="5321808"/>
            <a:ext cx="9619488" cy="34747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22A36"/>
                </a:solidFill>
                <a:latin typeface="Malgun Gothic"/>
              </a:rPr>
              <a:t>모델버전 · 등급/확률 · SHAP 상위 3개 · 접촉채널 · 수락/거절 · 담당자 · 다음 점검일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632704"/>
            <a:ext cx="11091672" cy="512064"/>
          </a:xfrm>
          <a:prstGeom prst="roundRect">
            <a:avLst/>
          </a:prstGeom>
          <a:solidFill>
            <a:srgbClr val="22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660136"/>
            <a:ext cx="10725912" cy="4389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algun Gothic"/>
              </a:rPr>
              <a:t>알림을 보냈다고 끝내지 않는다 — ‘지원이 실제 연결되었는가’를 DONE 기준으로 닫는다.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37392" y="6318504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B6773"/>
                </a:solidFill>
                <a:latin typeface="Malgun Gothic"/>
              </a:rPr>
              <a:t>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60920" y="137160"/>
            <a:ext cx="107899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5B6773"/>
                </a:solidFill>
                <a:latin typeface="Malgun Gothic"/>
              </a:rPr>
              <a:t>1. 제안 배경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06640" y="448056"/>
            <a:ext cx="987551" cy="41148"/>
          </a:xfrm>
          <a:prstGeom prst="rect">
            <a:avLst/>
          </a:prstGeom>
          <a:solidFill>
            <a:srgbClr val="C7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31352" y="137160"/>
            <a:ext cx="932688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5B6773"/>
                </a:solidFill>
                <a:latin typeface="Malgun Gothic"/>
              </a:rPr>
              <a:t>2. 서비스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77072" y="448056"/>
            <a:ext cx="841248" cy="41148"/>
          </a:xfrm>
          <a:prstGeom prst="rect">
            <a:avLst/>
          </a:prstGeom>
          <a:solidFill>
            <a:srgbClr val="C7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555480" y="137160"/>
            <a:ext cx="1133856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5B6773"/>
                </a:solidFill>
                <a:latin typeface="Malgun Gothic"/>
              </a:rPr>
              <a:t>3. 검증·근거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01200" y="448056"/>
            <a:ext cx="1042415" cy="41148"/>
          </a:xfrm>
          <a:prstGeom prst="rect">
            <a:avLst/>
          </a:prstGeom>
          <a:solidFill>
            <a:srgbClr val="C7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780776" y="137160"/>
            <a:ext cx="107899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1">
                <a:solidFill>
                  <a:srgbClr val="222A36"/>
                </a:solidFill>
                <a:latin typeface="Malgun Gothic"/>
              </a:rPr>
              <a:t>4. 도입 계획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826496" y="448056"/>
            <a:ext cx="987551" cy="41148"/>
          </a:xfrm>
          <a:prstGeom prst="rect">
            <a:avLst/>
          </a:prstGeom>
          <a:solidFill>
            <a:srgbClr val="00A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92608"/>
            <a:ext cx="5394960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07E62"/>
                </a:solidFill>
                <a:latin typeface="Malgun Gothic"/>
              </a:rPr>
              <a:t>ACTION 3 · 신호 → 메시지 → 지원 → 완료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603504"/>
            <a:ext cx="10881360" cy="6766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222A36"/>
                </a:solidFill>
                <a:latin typeface="Malgun Gothic"/>
              </a:rPr>
              <a:t>수면·스트레스·활동 신호를 오늘 실행할 행동으로 바꾼다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1444752"/>
            <a:ext cx="3493008" cy="2542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F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1444752"/>
            <a:ext cx="64008" cy="2542032"/>
          </a:xfrm>
          <a:prstGeom prst="rect">
            <a:avLst/>
          </a:prstGeom>
          <a:solidFill>
            <a:srgbClr val="1E8B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" y="1536192"/>
            <a:ext cx="3218688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E8BCD"/>
                </a:solidFill>
                <a:latin typeface="Malgun Gothic"/>
              </a:rPr>
              <a:t>TRIGGER · 수면 &lt; 6h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1810512"/>
            <a:ext cx="3218688" cy="4389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1">
                <a:solidFill>
                  <a:srgbClr val="222A36"/>
                </a:solidFill>
                <a:latin typeface="Malgun Gothic"/>
              </a:rPr>
              <a:t>‘오늘 23:30 알림을 예약할까요?’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2286000"/>
            <a:ext cx="3218688" cy="1591055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9" b="0">
                <a:solidFill>
                  <a:srgbClr val="5B6773"/>
                </a:solidFill>
                <a:latin typeface="Malgun Gothic"/>
              </a:rPr>
              <a:t>ACTION  7일 수면일지+카페인 컷오프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9" b="0">
                <a:solidFill>
                  <a:srgbClr val="5B6773"/>
                </a:solidFill>
                <a:latin typeface="Malgun Gothic"/>
              </a:rPr>
              <a:t>HOW  앱 알림·체크박스·D7 리마인드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9" b="0">
                <a:solidFill>
                  <a:srgbClr val="5B6773"/>
                </a:solidFill>
                <a:latin typeface="Malgun Gothic"/>
              </a:rPr>
              <a:t>DONE  5/7일 이행+D14 수면 재측정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1444752"/>
            <a:ext cx="3493008" cy="2542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F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1444752"/>
            <a:ext cx="64008" cy="2542032"/>
          </a:xfrm>
          <a:prstGeom prst="rect">
            <a:avLst/>
          </a:prstGeom>
          <a:solidFill>
            <a:srgbClr val="F2A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53128" y="1536192"/>
            <a:ext cx="3218688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2A621"/>
                </a:solidFill>
                <a:latin typeface="Malgun Gothic"/>
              </a:rPr>
              <a:t>TRIGGER · stress = 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3128" y="1810512"/>
            <a:ext cx="3218688" cy="4389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1">
                <a:solidFill>
                  <a:srgbClr val="222A36"/>
                </a:solidFill>
                <a:latin typeface="Malgun Gothic"/>
              </a:rPr>
              <a:t>‘3분 체크인 또는 상담예약’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3128" y="2286000"/>
            <a:ext cx="3218688" cy="1591055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9" b="0">
                <a:solidFill>
                  <a:srgbClr val="5B6773"/>
                </a:solidFill>
                <a:latin typeface="Malgun Gothic"/>
              </a:rPr>
              <a:t>ACTION  자가체크·호흡·상담 중 선택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9" b="0">
                <a:solidFill>
                  <a:srgbClr val="5B6773"/>
                </a:solidFill>
                <a:latin typeface="Malgun Gothic"/>
              </a:rPr>
              <a:t>HOW  앱 응답→고위험이면 상담사 큐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9" b="0">
                <a:solidFill>
                  <a:srgbClr val="5B6773"/>
                </a:solidFill>
                <a:latin typeface="Malgun Gothic"/>
              </a:rPr>
              <a:t>DONE  D1 접촉결과+D7 상태 기록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28431" y="1444752"/>
            <a:ext cx="3493008" cy="2542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F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28431" y="1444752"/>
            <a:ext cx="64008" cy="2542032"/>
          </a:xfrm>
          <a:prstGeom prst="rect">
            <a:avLst/>
          </a:prstGeom>
          <a:solidFill>
            <a:srgbClr val="00A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3879" y="1536192"/>
            <a:ext cx="3218688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A67D"/>
                </a:solidFill>
                <a:latin typeface="Malgun Gothic"/>
              </a:rPr>
              <a:t>TRIGGER · sedentary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79" y="1810512"/>
            <a:ext cx="3218688" cy="4389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1">
                <a:solidFill>
                  <a:srgbClr val="222A36"/>
                </a:solidFill>
                <a:latin typeface="Malgun Gothic"/>
              </a:rPr>
              <a:t>‘빈 시간에 20분 걷기 5회’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2286000"/>
            <a:ext cx="3218688" cy="1591055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9" b="0">
                <a:solidFill>
                  <a:srgbClr val="5B6773"/>
                </a:solidFill>
                <a:latin typeface="Malgun Gothic"/>
              </a:rPr>
              <a:t>ACTION  시간표 기반 걷기 미션 배정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9" b="0">
                <a:solidFill>
                  <a:srgbClr val="5B6773"/>
                </a:solidFill>
                <a:latin typeface="Malgun Gothic"/>
              </a:rPr>
              <a:t>HOW  캘린더 등록·걸음수 자동 확인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9" b="0">
                <a:solidFill>
                  <a:srgbClr val="5B6773"/>
                </a:solidFill>
                <a:latin typeface="Malgun Gothic"/>
              </a:rPr>
              <a:t>DONE  5회 완료 또는 대체미션 승인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4160520"/>
            <a:ext cx="3493008" cy="1060704"/>
          </a:xfrm>
          <a:prstGeom prst="roundRect">
            <a:avLst/>
          </a:prstGeom>
          <a:solidFill>
            <a:srgbClr val="F8F9FA"/>
          </a:solidFill>
          <a:ln w="10160">
            <a:solidFill>
              <a:srgbClr val="EF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270248"/>
            <a:ext cx="822960" cy="27432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05555"/>
                </a:solidFill>
                <a:latin typeface="Malgun Gothic"/>
              </a:rPr>
              <a:t>미응답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7048" y="4215384"/>
            <a:ext cx="2331720" cy="74980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22A36"/>
                </a:solidFill>
                <a:latin typeface="Malgun Gothic"/>
              </a:rPr>
              <a:t>앱→문자→전화 3채널 후 ‘연락실패’로 닫고 다음 주 재시도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80" y="4160520"/>
            <a:ext cx="3493008" cy="1060704"/>
          </a:xfrm>
          <a:prstGeom prst="roundRect">
            <a:avLst/>
          </a:prstGeom>
          <a:solidFill>
            <a:srgbClr val="F8F9FA"/>
          </a:solidFill>
          <a:ln w="10160">
            <a:solidFill>
              <a:srgbClr val="EF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62272" y="4270248"/>
            <a:ext cx="822960" cy="27432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05555"/>
                </a:solidFill>
                <a:latin typeface="Malgun Gothic"/>
              </a:rPr>
              <a:t>재악화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57800" y="4215384"/>
            <a:ext cx="2331720" cy="74980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22A36"/>
                </a:solidFill>
                <a:latin typeface="Malgun Gothic"/>
              </a:rPr>
              <a:t>Amber→Red 또는 Red 2회 연속이면 상담사 수동 검토·개별 계획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28431" y="4160520"/>
            <a:ext cx="3493008" cy="1060704"/>
          </a:xfrm>
          <a:prstGeom prst="roundRect">
            <a:avLst/>
          </a:prstGeom>
          <a:solidFill>
            <a:srgbClr val="F8F9FA"/>
          </a:solidFill>
          <a:ln w="10160">
            <a:solidFill>
              <a:srgbClr val="EF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93023" y="4270248"/>
            <a:ext cx="822960" cy="27432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05555"/>
                </a:solidFill>
                <a:latin typeface="Malgun Gothic"/>
              </a:rPr>
              <a:t>동의 철회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88552" y="4215384"/>
            <a:ext cx="2331720" cy="74980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22A36"/>
                </a:solidFill>
                <a:latin typeface="Malgun Gothic"/>
              </a:rPr>
              <a:t>즉시 알림·스코어링 중단, 운영 데이터와 후속 큐에서 제외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632704"/>
            <a:ext cx="11091672" cy="512064"/>
          </a:xfrm>
          <a:prstGeom prst="roundRect">
            <a:avLst/>
          </a:prstGeom>
          <a:solidFill>
            <a:srgbClr val="22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660136"/>
            <a:ext cx="10725912" cy="4389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algun Gothic"/>
              </a:rPr>
              <a:t>DONE은 메시지 발송이 아니다 — 이행·접촉·재측정 중 하나가 기록되어야 다음 단계로 넘어간다.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37392" y="6318504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B6773"/>
                </a:solidFill>
                <a:latin typeface="Malgun Gothic"/>
              </a:rPr>
              <a:t>27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60920" y="137160"/>
            <a:ext cx="107899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5B6773"/>
                </a:solidFill>
                <a:latin typeface="Malgun Gothic"/>
              </a:rPr>
              <a:t>1. 제안 배경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06640" y="448056"/>
            <a:ext cx="987551" cy="41148"/>
          </a:xfrm>
          <a:prstGeom prst="rect">
            <a:avLst/>
          </a:prstGeom>
          <a:solidFill>
            <a:srgbClr val="C7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531352" y="137160"/>
            <a:ext cx="932688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5B6773"/>
                </a:solidFill>
                <a:latin typeface="Malgun Gothic"/>
              </a:rPr>
              <a:t>2. 서비스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77072" y="448056"/>
            <a:ext cx="841248" cy="41148"/>
          </a:xfrm>
          <a:prstGeom prst="rect">
            <a:avLst/>
          </a:prstGeom>
          <a:solidFill>
            <a:srgbClr val="C7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555480" y="137160"/>
            <a:ext cx="1133856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5B6773"/>
                </a:solidFill>
                <a:latin typeface="Malgun Gothic"/>
              </a:rPr>
              <a:t>3. 검증·근거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601200" y="448056"/>
            <a:ext cx="1042415" cy="41148"/>
          </a:xfrm>
          <a:prstGeom prst="rect">
            <a:avLst/>
          </a:prstGeom>
          <a:solidFill>
            <a:srgbClr val="C7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780776" y="137160"/>
            <a:ext cx="107899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1">
                <a:solidFill>
                  <a:srgbClr val="222A36"/>
                </a:solidFill>
                <a:latin typeface="Malgun Gothic"/>
              </a:rPr>
              <a:t>4. 도입 계획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826496" y="448056"/>
            <a:ext cx="987551" cy="41148"/>
          </a:xfrm>
          <a:prstGeom prst="rect">
            <a:avLst/>
          </a:prstGeom>
          <a:solidFill>
            <a:srgbClr val="00A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92608"/>
            <a:ext cx="5394960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07E62"/>
                </a:solidFill>
                <a:latin typeface="Malgun Gothic"/>
              </a:rPr>
              <a:t>HOW · DATA → MODEL → CARE →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603504"/>
            <a:ext cx="10881360" cy="6766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222A36"/>
                </a:solidFill>
                <a:latin typeface="Malgun Gothic"/>
              </a:rPr>
              <a:t>기존 LMS에서 상담 작업 큐까지 6단계를 주 1회 자동화한다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554480"/>
            <a:ext cx="1719072" cy="31638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F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32688" y="1755648"/>
            <a:ext cx="621792" cy="621792"/>
          </a:xfrm>
          <a:prstGeom prst="roundRect">
            <a:avLst/>
          </a:prstGeom>
          <a:solidFill>
            <a:srgbClr val="22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1755648"/>
            <a:ext cx="621792" cy="62179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2542032"/>
            <a:ext cx="1463040" cy="31089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22A36"/>
                </a:solidFill>
                <a:latin typeface="Malgun Gothic"/>
              </a:rPr>
              <a:t>수집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2926080"/>
            <a:ext cx="1463040" cy="80467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B6773"/>
                </a:solidFill>
                <a:latin typeface="Malgun Gothic"/>
              </a:rPr>
              <a:t>LMS·설문 API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B6773"/>
                </a:solidFill>
                <a:latin typeface="Malgun Gothic"/>
              </a:rPr>
              <a:t>암호화 학생키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" y="4005072"/>
            <a:ext cx="1463040" cy="38404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7E62"/>
                </a:solidFill>
                <a:latin typeface="Malgun Gothic"/>
              </a:rPr>
              <a:t>학사·데이터팀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2816352"/>
            <a:ext cx="21945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7CFD6"/>
                </a:solidFill>
                <a:latin typeface="Malgun Gothic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22576" y="1554480"/>
            <a:ext cx="1719072" cy="31638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F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871216" y="1755648"/>
            <a:ext cx="621792" cy="621792"/>
          </a:xfrm>
          <a:prstGeom prst="roundRect">
            <a:avLst/>
          </a:prstGeom>
          <a:solidFill>
            <a:srgbClr val="22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71216" y="1755648"/>
            <a:ext cx="621792" cy="62179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50592" y="2542032"/>
            <a:ext cx="1463040" cy="31089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22A36"/>
                </a:solidFill>
                <a:latin typeface="Malgun Gothic"/>
              </a:rPr>
              <a:t>검증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50592" y="2926080"/>
            <a:ext cx="1463040" cy="80467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B6773"/>
                </a:solidFill>
                <a:latin typeface="Malgun Gothic"/>
              </a:rPr>
              <a:t>Pandera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B6773"/>
                </a:solidFill>
                <a:latin typeface="Malgun Gothic"/>
              </a:rPr>
              <a:t>범위·중복·결측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50592" y="4005072"/>
            <a:ext cx="1463040" cy="38404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7E62"/>
                </a:solidFill>
                <a:latin typeface="Malgun Gothic"/>
              </a:rPr>
              <a:t>데이터팀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41648" y="2816352"/>
            <a:ext cx="21945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7CFD6"/>
                </a:solidFill>
                <a:latin typeface="Malgun Gothic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61104" y="1554480"/>
            <a:ext cx="1719072" cy="31638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F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809744" y="1755648"/>
            <a:ext cx="621792" cy="621792"/>
          </a:xfrm>
          <a:prstGeom prst="roundRect">
            <a:avLst/>
          </a:prstGeom>
          <a:solidFill>
            <a:srgbClr val="00A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09744" y="1755648"/>
            <a:ext cx="621792" cy="62179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2542032"/>
            <a:ext cx="1463040" cy="31089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22A36"/>
                </a:solidFill>
                <a:latin typeface="Malgun Gothic"/>
              </a:rPr>
              <a:t>추론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2926080"/>
            <a:ext cx="1463040" cy="80467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B6773"/>
                </a:solidFill>
                <a:latin typeface="Malgun Gothic"/>
              </a:rPr>
              <a:t>Python 주 1회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B6773"/>
                </a:solidFill>
                <a:latin typeface="Malgun Gothic"/>
              </a:rPr>
              <a:t>모델·임계값 버전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4005072"/>
            <a:ext cx="1463040" cy="38404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7E62"/>
                </a:solidFill>
                <a:latin typeface="Malgun Gothic"/>
              </a:rPr>
              <a:t>MLOps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80176" y="2816352"/>
            <a:ext cx="21945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7CFD6"/>
                </a:solidFill>
                <a:latin typeface="Malgun Gothic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9632" y="1554480"/>
            <a:ext cx="1719072" cy="31638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F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748272" y="1755648"/>
            <a:ext cx="621792" cy="621792"/>
          </a:xfrm>
          <a:prstGeom prst="roundRect">
            <a:avLst/>
          </a:prstGeom>
          <a:solidFill>
            <a:srgbClr val="00A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48272" y="1755648"/>
            <a:ext cx="621792" cy="62179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7648" y="2542032"/>
            <a:ext cx="1463040" cy="31089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22A36"/>
                </a:solidFill>
                <a:latin typeface="Malgun Gothic"/>
              </a:rPr>
              <a:t>설명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27648" y="2926080"/>
            <a:ext cx="1463040" cy="80467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B6773"/>
                </a:solidFill>
                <a:latin typeface="Malgun Gothic"/>
              </a:rPr>
              <a:t>SHAP 상위 3개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B6773"/>
                </a:solidFill>
                <a:latin typeface="Malgun Gothic"/>
              </a:rPr>
              <a:t>행동문구 매핑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27648" y="4005072"/>
            <a:ext cx="1463040" cy="38404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7E62"/>
                </a:solidFill>
                <a:latin typeface="Malgun Gothic"/>
              </a:rPr>
              <a:t>모델 서비스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18704" y="2816352"/>
            <a:ext cx="21945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7CFD6"/>
                </a:solidFill>
                <a:latin typeface="Malgun Gothic"/>
              </a:rP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38160" y="1554480"/>
            <a:ext cx="1719072" cy="31638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F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686800" y="1755648"/>
            <a:ext cx="621792" cy="621792"/>
          </a:xfrm>
          <a:prstGeom prst="roundRect">
            <a:avLst/>
          </a:prstGeom>
          <a:solidFill>
            <a:srgbClr val="00A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0" y="1755648"/>
            <a:ext cx="621792" cy="62179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66176" y="2542032"/>
            <a:ext cx="1463040" cy="31089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22A36"/>
                </a:solidFill>
                <a:latin typeface="Malgun Gothic"/>
              </a:rPr>
              <a:t>연결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66176" y="2926080"/>
            <a:ext cx="1463040" cy="80467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B6773"/>
                </a:solidFill>
                <a:latin typeface="Malgun Gothic"/>
              </a:rPr>
              <a:t>상담 웹 큐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B6773"/>
                </a:solidFill>
                <a:latin typeface="Malgun Gothic"/>
              </a:rPr>
              <a:t>앱·문자·전화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66176" y="4005072"/>
            <a:ext cx="1463040" cy="38404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7E62"/>
                </a:solidFill>
                <a:latin typeface="Malgun Gothic"/>
              </a:rPr>
              <a:t>보건소·학생지원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57232" y="2816352"/>
            <a:ext cx="21945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7CFD6"/>
                </a:solidFill>
                <a:latin typeface="Malgun Gothic"/>
              </a:rPr>
              <a:t>→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076688" y="1554480"/>
            <a:ext cx="1719072" cy="31638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F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625328" y="1755648"/>
            <a:ext cx="621792" cy="621792"/>
          </a:xfrm>
          <a:prstGeom prst="roundRect">
            <a:avLst/>
          </a:prstGeom>
          <a:solidFill>
            <a:srgbClr val="22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625328" y="1755648"/>
            <a:ext cx="621792" cy="62179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04704" y="2542032"/>
            <a:ext cx="1463040" cy="31089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22A36"/>
                </a:solidFill>
                <a:latin typeface="Malgun Gothic"/>
              </a:rPr>
              <a:t>학습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04704" y="2926080"/>
            <a:ext cx="1463040" cy="80467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B6773"/>
                </a:solidFill>
                <a:latin typeface="Malgun Gothic"/>
              </a:rPr>
              <a:t>PostgreSQL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B6773"/>
                </a:solidFill>
                <a:latin typeface="Malgun Gothic"/>
              </a:rPr>
              <a:t>SLA·효과·형평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204704" y="4005072"/>
            <a:ext cx="1463040" cy="38404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7E62"/>
                </a:solidFill>
                <a:latin typeface="Malgun Gothic"/>
              </a:rPr>
              <a:t>운영위원회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03504" y="4791456"/>
            <a:ext cx="10991088" cy="329184"/>
          </a:xfrm>
          <a:prstGeom prst="roundRect">
            <a:avLst/>
          </a:prstGeom>
          <a:solidFill>
            <a:srgbClr val="E7F4FC"/>
          </a:solidFill>
          <a:ln w="10160">
            <a:solidFill>
              <a:srgbClr val="1E8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04672" y="4828032"/>
            <a:ext cx="868680" cy="23774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E8BCD"/>
                </a:solidFill>
                <a:latin typeface="Malgun Gothic"/>
              </a:rPr>
              <a:t>권한·보존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719072" y="4800600"/>
            <a:ext cx="9555480" cy="27432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222A36"/>
                </a:solidFill>
                <a:latin typeface="Malgun Gothic"/>
              </a:rPr>
              <a:t>가명 ID · 역할기반 접근 · 상담사는 큐/SHAP만 조회 · 원자료 90일 후 폐기 · 전 작업 감사로그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03504" y="5193792"/>
            <a:ext cx="10991088" cy="329184"/>
          </a:xfrm>
          <a:prstGeom prst="roundRect">
            <a:avLst/>
          </a:prstGeom>
          <a:solidFill>
            <a:srgbClr val="E8F7F1"/>
          </a:solidFill>
          <a:ln w="10160">
            <a:solidFill>
              <a:srgbClr val="00A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4672" y="5230368"/>
            <a:ext cx="868680" cy="23774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7E62"/>
                </a:solidFill>
                <a:latin typeface="Malgun Gothic"/>
              </a:rPr>
              <a:t>배포 묶음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719072" y="5202936"/>
            <a:ext cx="9555480" cy="27432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222A36"/>
                </a:solidFill>
                <a:latin typeface="Malgun Gothic"/>
              </a:rPr>
              <a:t>schema + validator + preprocessor + model + class order + threshold + SHAP + action rule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48640" y="5632704"/>
            <a:ext cx="11091672" cy="512064"/>
          </a:xfrm>
          <a:prstGeom prst="roundRect">
            <a:avLst/>
          </a:prstGeom>
          <a:solidFill>
            <a:srgbClr val="22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1520" y="5660136"/>
            <a:ext cx="10725912" cy="4389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algun Gothic"/>
              </a:rPr>
              <a:t>HOW의 핵심: 검증 실패 시 추론하지 않고, 지원 결과는 다시 성과DB로 돌아와 다음 운영 판단에 쓰인다.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137392" y="6318504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B6773"/>
                </a:solidFill>
                <a:latin typeface="Malgun Gothic"/>
              </a:rPr>
              <a:t>28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360920" y="137160"/>
            <a:ext cx="107899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5B6773"/>
                </a:solidFill>
                <a:latin typeface="Malgun Gothic"/>
              </a:rPr>
              <a:t>1. 제안 배경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406640" y="448056"/>
            <a:ext cx="987551" cy="41148"/>
          </a:xfrm>
          <a:prstGeom prst="rect">
            <a:avLst/>
          </a:prstGeom>
          <a:solidFill>
            <a:srgbClr val="C7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531352" y="137160"/>
            <a:ext cx="932688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5B6773"/>
                </a:solidFill>
                <a:latin typeface="Malgun Gothic"/>
              </a:rPr>
              <a:t>2. 서비스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577072" y="448056"/>
            <a:ext cx="841248" cy="41148"/>
          </a:xfrm>
          <a:prstGeom prst="rect">
            <a:avLst/>
          </a:prstGeom>
          <a:solidFill>
            <a:srgbClr val="C7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555480" y="137160"/>
            <a:ext cx="1133856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5B6773"/>
                </a:solidFill>
                <a:latin typeface="Malgun Gothic"/>
              </a:rPr>
              <a:t>3. 검증·근거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601200" y="448056"/>
            <a:ext cx="1042415" cy="41148"/>
          </a:xfrm>
          <a:prstGeom prst="rect">
            <a:avLst/>
          </a:prstGeom>
          <a:solidFill>
            <a:srgbClr val="C7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780776" y="137160"/>
            <a:ext cx="107899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1">
                <a:solidFill>
                  <a:srgbClr val="222A36"/>
                </a:solidFill>
                <a:latin typeface="Malgun Gothic"/>
              </a:rPr>
              <a:t>4. 도입 계획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826496" y="448056"/>
            <a:ext cx="987551" cy="41148"/>
          </a:xfrm>
          <a:prstGeom prst="rect">
            <a:avLst/>
          </a:prstGeom>
          <a:solidFill>
            <a:srgbClr val="00A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92608"/>
            <a:ext cx="5394960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07E62"/>
                </a:solidFill>
                <a:latin typeface="Malgun Gothic"/>
              </a:rPr>
              <a:t>A/S · 중단 → 복구 → 재승인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603504"/>
            <a:ext cx="10881360" cy="6766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222A36"/>
                </a:solidFill>
                <a:latin typeface="Malgun Gothic"/>
              </a:rPr>
              <a:t>문제가 생기면 자동화를 멈추고 복구·재승인 절차를 실행한다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85216" y="1417320"/>
          <a:ext cx="11018520" cy="4187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2103120"/>
                <a:gridCol w="1901952"/>
                <a:gridCol w="3794760"/>
                <a:gridCol w="2258568"/>
              </a:tblGrid>
              <a:tr h="697992"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A/S 트리거</a:t>
                      </a:r>
                    </a:p>
                  </a:txBody>
                  <a:tcPr marL="22860" marR="22860" marT="13716" marB="13716">
                    <a:solidFill>
                      <a:srgbClr val="222A3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즉시 ACTION</a:t>
                      </a:r>
                    </a:p>
                  </a:txBody>
                  <a:tcPr marL="22860" marR="22860" marT="13716" marB="13716">
                    <a:solidFill>
                      <a:srgbClr val="222A3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복구 SLA</a:t>
                      </a:r>
                    </a:p>
                  </a:txBody>
                  <a:tcPr marL="22860" marR="22860" marT="13716" marB="13716">
                    <a:solidFill>
                      <a:srgbClr val="222A3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재가동 조건</a:t>
                      </a:r>
                    </a:p>
                  </a:txBody>
                  <a:tcPr marL="22860" marR="22860" marT="13716" marB="13716">
                    <a:solidFill>
                      <a:srgbClr val="222A3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OWNER</a:t>
                      </a:r>
                    </a:p>
                  </a:txBody>
                  <a:tcPr marL="22860" marR="22860" marT="13716" marB="13716">
                    <a:solidFill>
                      <a:srgbClr val="222A36"/>
                    </a:solidFill>
                  </a:tcPr>
                </a:tc>
              </a:tr>
              <a:tr h="697992"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A36"/>
                          </a:solidFill>
                          <a:latin typeface="Malgun Gothic"/>
                        </a:rPr>
                        <a:t>성능 BA&lt;0.93 또는 PSI&gt;0.20</a:t>
                      </a:r>
                    </a:p>
                  </a:txBody>
                  <a:tcPr marL="22860" marR="22860" marT="13716" marB="13716">
                    <a:solidFill>
                      <a:srgbClr val="E7F4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신규 배치 중지 → 직전 승인 모델 롤백</a:t>
                      </a:r>
                    </a:p>
                  </a:txBody>
                  <a:tcPr marL="22860" marR="22860" marT="13716" marB="13716">
                    <a:solidFill>
                      <a:srgbClr val="E7F4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1영업일</a:t>
                      </a:r>
                    </a:p>
                  </a:txBody>
                  <a:tcPr marL="22860" marR="22860" marT="13716" marB="13716">
                    <a:solidFill>
                      <a:srgbClr val="E7F4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최근 라벨군 BA≥0.95·recall≥0.80</a:t>
                      </a:r>
                    </a:p>
                  </a:txBody>
                  <a:tcPr marL="22860" marR="22860" marT="13716" marB="13716">
                    <a:solidFill>
                      <a:srgbClr val="E7F4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MLOps·데이터팀</a:t>
                      </a:r>
                    </a:p>
                  </a:txBody>
                  <a:tcPr marL="22860" marR="22860" marT="13716" marB="13716">
                    <a:solidFill>
                      <a:srgbClr val="E7F4FC"/>
                    </a:solidFill>
                  </a:tcPr>
                </a:tc>
              </a:tr>
              <a:tr h="697992"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A36"/>
                          </a:solidFill>
                          <a:latin typeface="Malgun Gothic"/>
                        </a:rPr>
                        <a:t>Red 24h 처리율&lt;90%</a:t>
                      </a:r>
                    </a:p>
                  </a:txBody>
                  <a:tcPr marL="22860" marR="22860" marT="13716" marB="13716">
                    <a:solidFill>
                      <a:srgbClr val="E8F7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신규 인입 제한 → Red 우선 → 대기 ETA 공개</a:t>
                      </a:r>
                    </a:p>
                  </a:txBody>
                  <a:tcPr marL="22860" marR="22860" marT="13716" marB="13716">
                    <a:solidFill>
                      <a:srgbClr val="E8F7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2영업일</a:t>
                      </a:r>
                    </a:p>
                  </a:txBody>
                  <a:tcPr marL="22860" marR="22860" marT="13716" marB="13716">
                    <a:solidFill>
                      <a:srgbClr val="E8F7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미처리 큐≤주간 처리량</a:t>
                      </a:r>
                    </a:p>
                  </a:txBody>
                  <a:tcPr marL="22860" marR="22860" marT="13716" marB="13716">
                    <a:solidFill>
                      <a:srgbClr val="E8F7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PO·보건소</a:t>
                      </a:r>
                    </a:p>
                  </a:txBody>
                  <a:tcPr marL="22860" marR="22860" marT="13716" marB="13716">
                    <a:solidFill>
                      <a:srgbClr val="E8F7F1"/>
                    </a:solidFill>
                  </a:tcPr>
                </a:tc>
              </a:tr>
              <a:tr h="697992"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A36"/>
                          </a:solidFill>
                          <a:latin typeface="Malgun Gothic"/>
                        </a:rPr>
                        <a:t>집단 recall gap≥0.05</a:t>
                      </a:r>
                    </a:p>
                  </a:txBody>
                  <a:tcPr marL="22860" marR="22860" marT="13716" marB="13716">
                    <a:solidFill>
                      <a:srgbClr val="FFF7E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해당 집단 자동라우팅 중지 → 수동 검토</a:t>
                      </a:r>
                    </a:p>
                  </a:txBody>
                  <a:tcPr marL="22860" marR="22860" marT="13716" marB="13716">
                    <a:solidFill>
                      <a:srgbClr val="FFF7E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3영업일</a:t>
                      </a:r>
                    </a:p>
                  </a:txBody>
                  <a:tcPr marL="22860" marR="22860" marT="13716" marB="13716">
                    <a:solidFill>
                      <a:srgbClr val="FFF7E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원인분석·재검증 후 gap&lt;0.05</a:t>
                      </a:r>
                    </a:p>
                  </a:txBody>
                  <a:tcPr marL="22860" marR="22860" marT="13716" marB="13716">
                    <a:solidFill>
                      <a:srgbClr val="FFF7E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운영위</a:t>
                      </a:r>
                    </a:p>
                  </a:txBody>
                  <a:tcPr marL="22860" marR="22860" marT="13716" marB="13716">
                    <a:solidFill>
                      <a:srgbClr val="FFF7E6"/>
                    </a:solidFill>
                  </a:tcPr>
                </a:tc>
              </a:tr>
              <a:tr h="697992"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A36"/>
                          </a:solidFill>
                          <a:latin typeface="Malgun Gothic"/>
                        </a:rPr>
                        <a:t>오발송·권한·개인정보 사고</a:t>
                      </a:r>
                    </a:p>
                  </a:txBody>
                  <a:tcPr marL="22860" marR="22860" marT="13716" marB="13716">
                    <a:solidFill>
                      <a:srgbClr val="F8F9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서비스 즉시 OFF → 책임자 통보 → 로그 보존</a:t>
                      </a:r>
                    </a:p>
                  </a:txBody>
                  <a:tcPr marL="22860" marR="22860" marT="13716" marB="13716">
                    <a:solidFill>
                      <a:srgbClr val="F8F9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즉시</a:t>
                      </a:r>
                    </a:p>
                  </a:txBody>
                  <a:tcPr marL="22860" marR="22860" marT="13716" marB="13716">
                    <a:solidFill>
                      <a:srgbClr val="F8F9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사고보고서·재발방지·책임자 승인</a:t>
                      </a:r>
                    </a:p>
                  </a:txBody>
                  <a:tcPr marL="22860" marR="22860" marT="13716" marB="13716">
                    <a:solidFill>
                      <a:srgbClr val="F8F9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개인정보책임자</a:t>
                      </a:r>
                    </a:p>
                  </a:txBody>
                  <a:tcPr marL="22860" marR="22860" marT="13716" marB="13716">
                    <a:solidFill>
                      <a:srgbClr val="F8F9FA"/>
                    </a:solidFill>
                  </a:tcPr>
                </a:tc>
              </a:tr>
              <a:tr h="697992"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A36"/>
                          </a:solidFill>
                          <a:latin typeface="Malgun Gothic"/>
                        </a:rPr>
                        <a:t>D14 무개선·Red 2회·미응답</a:t>
                      </a:r>
                    </a:p>
                  </a:txBody>
                  <a:tcPr marL="22860" marR="22860" marT="13716" marB="13716">
                    <a:solidFill>
                      <a:srgbClr val="FDEE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상담사 수동검토 → 대체 지원·외부기관 연결</a:t>
                      </a:r>
                    </a:p>
                  </a:txBody>
                  <a:tcPr marL="22860" marR="22860" marT="13716" marB="13716">
                    <a:solidFill>
                      <a:srgbClr val="FDEE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24시간</a:t>
                      </a:r>
                    </a:p>
                  </a:txBody>
                  <a:tcPr marL="22860" marR="22860" marT="13716" marB="13716">
                    <a:solidFill>
                      <a:srgbClr val="FDEE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개별 관리계획·다음 확인일 기록</a:t>
                      </a:r>
                    </a:p>
                  </a:txBody>
                  <a:tcPr marL="22860" marR="22860" marT="13716" marB="13716">
                    <a:solidFill>
                      <a:srgbClr val="FDEE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상담센터</a:t>
                      </a:r>
                    </a:p>
                  </a:txBody>
                  <a:tcPr marL="22860" marR="22860" marT="13716" marB="13716">
                    <a:solidFill>
                      <a:srgbClr val="FDEEEE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548640" y="5632704"/>
            <a:ext cx="11091672" cy="512064"/>
          </a:xfrm>
          <a:prstGeom prst="roundRect">
            <a:avLst/>
          </a:prstGeom>
          <a:solidFill>
            <a:srgbClr val="22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660136"/>
            <a:ext cx="10725912" cy="4389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algun Gothic"/>
              </a:rPr>
              <a:t>A/S 완료 기준: 원인·조치·책임자·재가동 근거가 감사로그에 남고 운영위원회가 다시 승인한다.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37392" y="6318504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B6773"/>
                </a:solidFill>
                <a:latin typeface="Malgun Gothic"/>
              </a:rPr>
              <a:t>29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60920" y="137160"/>
            <a:ext cx="107899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5B6773"/>
                </a:solidFill>
                <a:latin typeface="Malgun Gothic"/>
              </a:rPr>
              <a:t>1. 제안 배경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06640" y="448056"/>
            <a:ext cx="987551" cy="41148"/>
          </a:xfrm>
          <a:prstGeom prst="rect">
            <a:avLst/>
          </a:prstGeom>
          <a:solidFill>
            <a:srgbClr val="C7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31352" y="137160"/>
            <a:ext cx="932688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5B6773"/>
                </a:solidFill>
                <a:latin typeface="Malgun Gothic"/>
              </a:rPr>
              <a:t>2. 서비스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77072" y="448056"/>
            <a:ext cx="841248" cy="41148"/>
          </a:xfrm>
          <a:prstGeom prst="rect">
            <a:avLst/>
          </a:prstGeom>
          <a:solidFill>
            <a:srgbClr val="C7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555480" y="137160"/>
            <a:ext cx="1133856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5B6773"/>
                </a:solidFill>
                <a:latin typeface="Malgun Gothic"/>
              </a:rPr>
              <a:t>3. 검증·근거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0" y="448056"/>
            <a:ext cx="1042415" cy="41148"/>
          </a:xfrm>
          <a:prstGeom prst="rect">
            <a:avLst/>
          </a:prstGeom>
          <a:solidFill>
            <a:srgbClr val="C7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780776" y="137160"/>
            <a:ext cx="107899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1">
                <a:solidFill>
                  <a:srgbClr val="222A36"/>
                </a:solidFill>
                <a:latin typeface="Malgun Gothic"/>
              </a:rPr>
              <a:t>4. 도입 계획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826496" y="448056"/>
            <a:ext cx="987551" cy="41148"/>
          </a:xfrm>
          <a:prstGeom prst="rect">
            <a:avLst/>
          </a:prstGeom>
          <a:solidFill>
            <a:srgbClr val="00A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92608"/>
            <a:ext cx="5394960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07E62"/>
                </a:solidFill>
                <a:latin typeface="Malgun Gothic"/>
              </a:rPr>
              <a:t>DECISION · 8-WEEK ROADMAP × 5 GATES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603504"/>
            <a:ext cx="10881360" cy="6766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222A36"/>
                </a:solidFill>
                <a:latin typeface="Malgun Gothic"/>
              </a:rPr>
              <a:t>오늘 승인하면 8주 뒤 5개 지표로 확대 여부를 결정한다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417320"/>
            <a:ext cx="2139696" cy="2496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F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417320"/>
            <a:ext cx="64008" cy="2496312"/>
          </a:xfrm>
          <a:prstGeom prst="rect">
            <a:avLst/>
          </a:prstGeom>
          <a:solidFill>
            <a:srgbClr val="F2A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1508760"/>
            <a:ext cx="1865376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2A621"/>
                </a:solidFill>
                <a:latin typeface="Malgun Gothic"/>
              </a:rPr>
              <a:t>W0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1783080"/>
            <a:ext cx="1865376" cy="4389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22A36"/>
                </a:solidFill>
                <a:latin typeface="Malgun Gothic"/>
              </a:rPr>
              <a:t>계약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258568"/>
            <a:ext cx="1865376" cy="154533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B6773"/>
                </a:solidFill>
                <a:latin typeface="Malgun Gothic"/>
              </a:rPr>
              <a:t>동의·철회·RACI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B6773"/>
                </a:solidFill>
                <a:latin typeface="Malgun Gothic"/>
              </a:rPr>
              <a:t>입력계약·상담 슬롯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60904" y="2505456"/>
            <a:ext cx="25603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7CFD6"/>
                </a:solidFill>
                <a:latin typeface="Malgun Gothic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07208" y="1417320"/>
            <a:ext cx="2139696" cy="2496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F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07208" y="1417320"/>
            <a:ext cx="64008" cy="2496312"/>
          </a:xfrm>
          <a:prstGeom prst="rect">
            <a:avLst/>
          </a:prstGeom>
          <a:solidFill>
            <a:srgbClr val="1E8B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62656" y="1508760"/>
            <a:ext cx="1865376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E8BCD"/>
                </a:solidFill>
                <a:latin typeface="Malgun Gothic"/>
              </a:rPr>
              <a:t>W1–2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62656" y="1783080"/>
            <a:ext cx="1865376" cy="4389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22A36"/>
                </a:solidFill>
                <a:latin typeface="Malgun Gothic"/>
              </a:rPr>
              <a:t>Shadow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62656" y="2258568"/>
            <a:ext cx="1865376" cy="154533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B6773"/>
                </a:solidFill>
                <a:latin typeface="Malgun Gothic"/>
              </a:rPr>
              <a:t>무발송 검증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B6773"/>
                </a:solidFill>
                <a:latin typeface="Malgun Gothic"/>
              </a:rPr>
              <a:t>오류·권한사고 0건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65192" y="2505456"/>
            <a:ext cx="25603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7CFD6"/>
                </a:solidFill>
                <a:latin typeface="Malgun Gothic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11496" y="1417320"/>
            <a:ext cx="2139696" cy="2496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F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111496" y="1417320"/>
            <a:ext cx="64008" cy="2496312"/>
          </a:xfrm>
          <a:prstGeom prst="rect">
            <a:avLst/>
          </a:prstGeom>
          <a:solidFill>
            <a:srgbClr val="00A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66944" y="1508760"/>
            <a:ext cx="1865376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A67D"/>
                </a:solidFill>
                <a:latin typeface="Malgun Gothic"/>
              </a:rPr>
              <a:t>W3–6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66944" y="1783080"/>
            <a:ext cx="1865376" cy="4389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22A36"/>
                </a:solidFill>
                <a:latin typeface="Malgun Gothic"/>
              </a:rPr>
              <a:t>Live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6944" y="2258568"/>
            <a:ext cx="1865376" cy="154533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B6773"/>
                </a:solidFill>
                <a:latin typeface="Malgun Gothic"/>
              </a:rPr>
              <a:t>Red 24h·Amber 72h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B6773"/>
                </a:solidFill>
                <a:latin typeface="Malgun Gothic"/>
              </a:rPr>
              <a:t>D1·D7 이행 확인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79" y="2505456"/>
            <a:ext cx="25603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7CFD6"/>
                </a:solidFill>
                <a:latin typeface="Malgun Gothic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15783" y="1417320"/>
            <a:ext cx="2139696" cy="2496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F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415783" y="1417320"/>
            <a:ext cx="64008" cy="2496312"/>
          </a:xfrm>
          <a:prstGeom prst="rect">
            <a:avLst/>
          </a:prstGeom>
          <a:solidFill>
            <a:srgbClr val="22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71231" y="1508760"/>
            <a:ext cx="1865376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22A36"/>
                </a:solidFill>
                <a:latin typeface="Malgun Gothic"/>
              </a:rPr>
              <a:t>W7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71231" y="1783080"/>
            <a:ext cx="1865376" cy="4389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22A36"/>
                </a:solidFill>
                <a:latin typeface="Malgun Gothic"/>
              </a:rPr>
              <a:t>A/S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71231" y="2258568"/>
            <a:ext cx="1865376" cy="154533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B6773"/>
                </a:solidFill>
                <a:latin typeface="Malgun Gothic"/>
              </a:rPr>
              <a:t>D14 재점수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B6773"/>
                </a:solidFill>
                <a:latin typeface="Malgun Gothic"/>
              </a:rPr>
              <a:t>미응답·재악화 처리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73767" y="2505456"/>
            <a:ext cx="25603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7CFD6"/>
                </a:solidFill>
                <a:latin typeface="Malgun Gothic"/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720072" y="1417320"/>
            <a:ext cx="2139696" cy="2496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F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720072" y="1417320"/>
            <a:ext cx="64008" cy="2496312"/>
          </a:xfrm>
          <a:prstGeom prst="rect">
            <a:avLst/>
          </a:prstGeom>
          <a:solidFill>
            <a:srgbClr val="E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75519" y="1508760"/>
            <a:ext cx="1865376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E05555"/>
                </a:solidFill>
                <a:latin typeface="Malgun Gothic"/>
              </a:rPr>
              <a:t>W8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75519" y="1783080"/>
            <a:ext cx="1865376" cy="4389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22A36"/>
                </a:solidFill>
                <a:latin typeface="Malgun Gothic"/>
              </a:rPr>
              <a:t>결정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75519" y="2258568"/>
            <a:ext cx="1865376" cy="154533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B6773"/>
                </a:solidFill>
                <a:latin typeface="Malgun Gothic"/>
              </a:rPr>
              <a:t>KPI 5개 통과 여부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B6773"/>
                </a:solidFill>
                <a:latin typeface="Malgun Gothic"/>
              </a:rPr>
              <a:t>확대·보완·중단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4151376"/>
            <a:ext cx="1975104" cy="658368"/>
          </a:xfrm>
          <a:prstGeom prst="roundRect">
            <a:avLst/>
          </a:prstGeom>
          <a:solidFill>
            <a:srgbClr val="E8F7F1"/>
          </a:solidFill>
          <a:ln w="10160">
            <a:solidFill>
              <a:srgbClr val="00A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4169663"/>
            <a:ext cx="1975104" cy="62179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22A36"/>
                </a:solidFill>
                <a:latin typeface="Malgun Gothic"/>
              </a:rPr>
              <a:t>성능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22A36"/>
                </a:solidFill>
                <a:latin typeface="Malgun Gothic"/>
              </a:rPr>
              <a:t>BA≥.95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834639" y="4151376"/>
            <a:ext cx="1975104" cy="658368"/>
          </a:xfrm>
          <a:prstGeom prst="roundRect">
            <a:avLst/>
          </a:prstGeom>
          <a:solidFill>
            <a:srgbClr val="E8F7F1"/>
          </a:solidFill>
          <a:ln w="10160">
            <a:solidFill>
              <a:srgbClr val="00A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834639" y="4169663"/>
            <a:ext cx="1975104" cy="62179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22A36"/>
                </a:solidFill>
                <a:latin typeface="Malgun Gothic"/>
              </a:rPr>
              <a:t>운영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22A36"/>
                </a:solidFill>
                <a:latin typeface="Malgun Gothic"/>
              </a:rPr>
              <a:t>Red 24h≥90%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10912" y="4151376"/>
            <a:ext cx="1975104" cy="658368"/>
          </a:xfrm>
          <a:prstGeom prst="roundRect">
            <a:avLst/>
          </a:prstGeom>
          <a:solidFill>
            <a:srgbClr val="E8F7F1"/>
          </a:solidFill>
          <a:ln w="10160">
            <a:solidFill>
              <a:srgbClr val="00A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10912" y="4169663"/>
            <a:ext cx="1975104" cy="62179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22A36"/>
                </a:solidFill>
                <a:latin typeface="Malgun Gothic"/>
              </a:rPr>
              <a:t>효과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22A36"/>
                </a:solidFill>
                <a:latin typeface="Malgun Gothic"/>
              </a:rPr>
              <a:t>D14 개선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187183" y="4151376"/>
            <a:ext cx="1975104" cy="658368"/>
          </a:xfrm>
          <a:prstGeom prst="roundRect">
            <a:avLst/>
          </a:prstGeom>
          <a:solidFill>
            <a:srgbClr val="E8F7F1"/>
          </a:solidFill>
          <a:ln w="10160">
            <a:solidFill>
              <a:srgbClr val="00A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87183" y="4169663"/>
            <a:ext cx="1975104" cy="62179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22A36"/>
                </a:solidFill>
                <a:latin typeface="Malgun Gothic"/>
              </a:rPr>
              <a:t>형평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22A36"/>
                </a:solidFill>
                <a:latin typeface="Malgun Gothic"/>
              </a:rPr>
              <a:t>gap&lt;.05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363456" y="4151376"/>
            <a:ext cx="1975104" cy="658368"/>
          </a:xfrm>
          <a:prstGeom prst="roundRect">
            <a:avLst/>
          </a:prstGeom>
          <a:solidFill>
            <a:srgbClr val="FDEEEE"/>
          </a:solidFill>
          <a:ln w="10160">
            <a:solidFill>
              <a:srgbClr val="E0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63456" y="4169663"/>
            <a:ext cx="1975104" cy="62179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22A36"/>
                </a:solidFill>
                <a:latin typeface="Malgun Gothic"/>
              </a:rPr>
              <a:t>안전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22A36"/>
                </a:solidFill>
                <a:latin typeface="Malgun Gothic"/>
              </a:rPr>
              <a:t>사고 0건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8368" y="5029200"/>
            <a:ext cx="10863072" cy="493776"/>
          </a:xfrm>
          <a:prstGeom prst="roundRect">
            <a:avLst/>
          </a:prstGeom>
          <a:solidFill>
            <a:srgbClr val="E7F4FC"/>
          </a:solidFill>
          <a:ln w="10160">
            <a:solidFill>
              <a:srgbClr val="1E8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8680" y="5138928"/>
            <a:ext cx="713232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E8BCD"/>
                </a:solidFill>
                <a:latin typeface="Malgun Gothic"/>
              </a:rPr>
              <a:t>ACTION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600200" y="5093208"/>
            <a:ext cx="9509760" cy="32918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22A36"/>
                </a:solidFill>
                <a:latin typeface="Malgun Gothic"/>
              </a:rPr>
              <a:t>5개 모두 통과=전교 확대 · 1개 미달=2주 보완검증 · 안전사고/2개 이상 미달=중단·수동운영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48640" y="5632704"/>
            <a:ext cx="11091672" cy="512064"/>
          </a:xfrm>
          <a:prstGeom prst="roundRect">
            <a:avLst/>
          </a:prstGeom>
          <a:solidFill>
            <a:srgbClr val="22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1520" y="5660136"/>
            <a:ext cx="10725912" cy="4389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algun Gothic"/>
              </a:rPr>
              <a:t>승인 요청: 동의자 300명·8주·상담 30슬롯/주·담당자 5역할·Go/No-Go 기준 적용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137392" y="6318504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B6773"/>
                </a:solidFill>
                <a:latin typeface="Malgun Gothic"/>
              </a:rPr>
              <a:t>30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360920" y="137160"/>
            <a:ext cx="107899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5B6773"/>
                </a:solidFill>
                <a:latin typeface="Malgun Gothic"/>
              </a:rPr>
              <a:t>1. 제안 배경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406640" y="448056"/>
            <a:ext cx="987551" cy="41148"/>
          </a:xfrm>
          <a:prstGeom prst="rect">
            <a:avLst/>
          </a:prstGeom>
          <a:solidFill>
            <a:srgbClr val="C7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531352" y="137160"/>
            <a:ext cx="932688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5B6773"/>
                </a:solidFill>
                <a:latin typeface="Malgun Gothic"/>
              </a:rPr>
              <a:t>2. 서비스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577072" y="448056"/>
            <a:ext cx="841248" cy="41148"/>
          </a:xfrm>
          <a:prstGeom prst="rect">
            <a:avLst/>
          </a:prstGeom>
          <a:solidFill>
            <a:srgbClr val="C7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555480" y="137160"/>
            <a:ext cx="1133856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5B6773"/>
                </a:solidFill>
                <a:latin typeface="Malgun Gothic"/>
              </a:rPr>
              <a:t>3. 검증·근거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601200" y="448056"/>
            <a:ext cx="1042415" cy="41148"/>
          </a:xfrm>
          <a:prstGeom prst="rect">
            <a:avLst/>
          </a:prstGeom>
          <a:solidFill>
            <a:srgbClr val="C7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780776" y="137160"/>
            <a:ext cx="107899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869" b="1">
                <a:solidFill>
                  <a:srgbClr val="222A36"/>
                </a:solidFill>
                <a:latin typeface="Malgun Gothic"/>
              </a:rPr>
              <a:t>4. 도입 계획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826496" y="448056"/>
            <a:ext cx="987551" cy="41148"/>
          </a:xfrm>
          <a:prstGeom prst="rect">
            <a:avLst/>
          </a:prstGeom>
          <a:solidFill>
            <a:srgbClr val="00A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43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A67D"/>
                </a:solidFill>
                <a:latin typeface="Malgun Gothic"/>
              </a:rPr>
              <a:t>APPENDIX · 근거 원장</a:t>
            </a:r>
          </a:p>
        </p:txBody>
      </p:sp>
      <p:sp>
        <p:nvSpPr>
          <p:cNvPr id="3" name="Text 1"/>
          <p:cNvSpPr/>
          <p:nvPr/>
        </p:nvSpPr>
        <p:spPr>
          <a:xfrm>
            <a:off x="822960" y="31089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Malgun Gothic"/>
              </a:rPr>
              <a:t>부록: 데이터·시각화·실험 기록</a:t>
            </a:r>
          </a:p>
        </p:txBody>
      </p:sp>
      <p:sp>
        <p:nvSpPr>
          <p:cNvPr id="4" name="Text 2"/>
          <p:cNvSpPr/>
          <p:nvPr/>
        </p:nvSpPr>
        <p:spPr>
          <a:xfrm>
            <a:off x="822960" y="3840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D2DCE4"/>
                </a:solidFill>
                <a:latin typeface="Malgun Gothic"/>
              </a:rPr>
              <a:t>EDA · 데이터 정합성 · 피처 역할 · 압축 실험 매트릭스 · 추가 SHAP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37392" y="6318504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0AEB9"/>
                </a:solidFill>
                <a:latin typeface="Malgun Gothic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292608"/>
            <a:ext cx="1764792" cy="310896"/>
          </a:xfrm>
          <a:prstGeom prst="roundRect">
            <a:avLst>
              <a:gd name="adj" fmla="val 17647"/>
            </a:avLst>
          </a:prstGeom>
          <a:solidFill>
            <a:srgbClr val="22232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966960" y="292608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93D6"/>
                </a:solidFill>
                <a:latin typeface="Malgun Gothic" pitchFamily="34" charset="0"/>
                <a:ea typeface="Calibri" pitchFamily="34" charset="-122"/>
                <a:cs typeface="Calibri" pitchFamily="34" charset="-120"/>
              </a:rPr>
              <a:t>부록 A1 · EDA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2325"/>
                </a:solidFill>
                <a:latin typeface="Malgun Gothic" pitchFamily="34" charset="0"/>
                <a:ea typeface="Arial" pitchFamily="34" charset="-122"/>
                <a:cs typeface="Arial" pitchFamily="34" charset="-120"/>
              </a:rPr>
              <a:t>범주형 피처별 건강등급 분포</a:t>
            </a:r>
            <a:endParaRPr lang="en-US" sz="2200" dirty="0"/>
          </a:p>
        </p:txBody>
      </p:sp>
      <p:pic>
        <p:nvPicPr>
          <p:cNvPr id="8" name="Image 0" descr="assets/categorical_by_cl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293" y="1342647"/>
            <a:ext cx="10082107" cy="522274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137392" y="6318504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B6773"/>
                </a:solidFill>
                <a:latin typeface="Malgun Gothic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292608"/>
            <a:ext cx="1764792" cy="310896"/>
          </a:xfrm>
          <a:prstGeom prst="roundRect">
            <a:avLst>
              <a:gd name="adj" fmla="val 17647"/>
            </a:avLst>
          </a:prstGeom>
          <a:solidFill>
            <a:srgbClr val="22232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966960" y="292608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 err="1">
                <a:solidFill>
                  <a:srgbClr val="2E93D6"/>
                </a:solidFill>
                <a:latin typeface="Malgun Gothic" pitchFamily="34" charset="0"/>
                <a:ea typeface="Calibri" pitchFamily="34" charset="-122"/>
                <a:cs typeface="Calibri" pitchFamily="34" charset="-120"/>
              </a:rPr>
              <a:t>부록</a:t>
            </a:r>
            <a:r>
              <a:rPr lang="en-US" sz="1200" b="1" kern="0" spc="100" dirty="0">
                <a:solidFill>
                  <a:srgbClr val="2E93D6"/>
                </a:solidFill>
                <a:latin typeface="Malgun Gothic" pitchFamily="34" charset="0"/>
                <a:ea typeface="Calibri" pitchFamily="34" charset="-122"/>
                <a:cs typeface="Calibri" pitchFamily="34" charset="-120"/>
              </a:rPr>
              <a:t> A2 · 데이터 정합성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2325"/>
                </a:solidFill>
                <a:latin typeface="Malgun Gothic" pitchFamily="34" charset="0"/>
                <a:ea typeface="Arial" pitchFamily="34" charset="-122"/>
                <a:cs typeface="Arial" pitchFamily="34" charset="-120"/>
              </a:rPr>
              <a:t>Train vs Test 분포 일치 검증</a:t>
            </a:r>
            <a:endParaRPr lang="en-US" sz="2200" dirty="0"/>
          </a:p>
        </p:txBody>
      </p:sp>
      <p:pic>
        <p:nvPicPr>
          <p:cNvPr id="8" name="Image 0" descr="assets/train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00200"/>
            <a:ext cx="10515600" cy="316118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4834533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Calibri" pitchFamily="34" charset="-122"/>
                <a:cs typeface="Calibri" pitchFamily="34" charset="-120"/>
              </a:rPr>
              <a:t>bmi · step_count · heart_rate (synthetic data sanity check)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22960" y="4937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0"/>
              </a:spcAft>
            </a:pPr>
            <a:r>
              <a:rPr>
                <a:latin typeface="Malgun Gothic"/>
              </a:rPr>
              <a:t>큰 공변량 이동이 보이지 않음을 확인했습니다. 다만 실세계 성능을 보장하지 않으므로 PoC에서 외부 타당성을 별도로 검증합니다.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37392" y="6318504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B6773"/>
                </a:solidFill>
                <a:latin typeface="Malgun Gothic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92608"/>
            <a:ext cx="5394960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07E62"/>
                </a:solidFill>
                <a:latin typeface="Malgun Gothic"/>
              </a:rPr>
              <a:t>APPENDIX A3 · FEATURE ROLE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603504"/>
            <a:ext cx="10881360" cy="6766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222A36"/>
                </a:solidFill>
                <a:latin typeface="Malgun Gothic"/>
              </a:rPr>
              <a:t>핵심 3개가 규칙을 만들고, 나머지 10개는 결측에서 보완한다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463040"/>
            <a:ext cx="2103120" cy="27432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B6773"/>
                </a:solidFill>
                <a:latin typeface="Malgun Gothic"/>
              </a:rPr>
              <a:t>Balanced Accuracy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874519"/>
            <a:ext cx="1783080" cy="36576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2A36"/>
                </a:solidFill>
                <a:latin typeface="Malgun Gothic"/>
              </a:rPr>
              <a:t>핵심 3개</a:t>
            </a:r>
          </a:p>
        </p:txBody>
      </p:sp>
      <p:sp>
        <p:nvSpPr>
          <p:cNvPr id="7" name="Rectangle 6"/>
          <p:cNvSpPr/>
          <p:nvPr/>
        </p:nvSpPr>
        <p:spPr>
          <a:xfrm>
            <a:off x="2788920" y="1911095"/>
            <a:ext cx="8001000" cy="329184"/>
          </a:xfrm>
          <a:prstGeom prst="rect">
            <a:avLst/>
          </a:prstGeom>
          <a:solidFill>
            <a:srgbClr val="EF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88920" y="1911095"/>
            <a:ext cx="7547343" cy="329184"/>
          </a:xfrm>
          <a:prstGeom prst="rect">
            <a:avLst/>
          </a:prstGeom>
          <a:solidFill>
            <a:srgbClr val="1E8B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35640" y="1856231"/>
            <a:ext cx="71323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E8BCD"/>
                </a:solidFill>
                <a:latin typeface="Malgun Gothic"/>
              </a:rPr>
              <a:t>0.9433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624327"/>
            <a:ext cx="1783080" cy="36576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2A36"/>
                </a:solidFill>
                <a:latin typeface="Malgun Gothic"/>
              </a:rPr>
              <a:t>13개 전체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88920" y="2660903"/>
            <a:ext cx="8001000" cy="329184"/>
          </a:xfrm>
          <a:prstGeom prst="rect">
            <a:avLst/>
          </a:prstGeom>
          <a:solidFill>
            <a:srgbClr val="EF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88920" y="2660903"/>
            <a:ext cx="7591348" cy="329184"/>
          </a:xfrm>
          <a:prstGeom prst="rect">
            <a:avLst/>
          </a:prstGeom>
          <a:solidFill>
            <a:srgbClr val="00A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35640" y="2606039"/>
            <a:ext cx="71323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A67D"/>
                </a:solidFill>
                <a:latin typeface="Malgun Gothic"/>
              </a:rPr>
              <a:t>0.9488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374135"/>
            <a:ext cx="1783080" cy="36576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2A36"/>
                </a:solidFill>
                <a:latin typeface="Malgun Gothic"/>
              </a:rPr>
              <a:t>완전 관측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88920" y="3410711"/>
            <a:ext cx="8001000" cy="329184"/>
          </a:xfrm>
          <a:prstGeom prst="rect">
            <a:avLst/>
          </a:prstGeom>
          <a:solidFill>
            <a:srgbClr val="EF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88920" y="3410711"/>
            <a:ext cx="7772971" cy="329184"/>
          </a:xfrm>
          <a:prstGeom prst="rect">
            <a:avLst/>
          </a:prstGeom>
          <a:solidFill>
            <a:srgbClr val="22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5640" y="3355847"/>
            <a:ext cx="71323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22A36"/>
                </a:solidFill>
                <a:latin typeface="Malgun Gothic"/>
              </a:rPr>
              <a:t>0.9715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123944"/>
            <a:ext cx="1783080" cy="36576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2A36"/>
                </a:solidFill>
                <a:latin typeface="Malgun Gothic"/>
              </a:rPr>
              <a:t>핵심 결측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88920" y="4160520"/>
            <a:ext cx="8001000" cy="329184"/>
          </a:xfrm>
          <a:prstGeom prst="rect">
            <a:avLst/>
          </a:prstGeom>
          <a:solidFill>
            <a:srgbClr val="EF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88920" y="4160520"/>
            <a:ext cx="7219302" cy="329184"/>
          </a:xfrm>
          <a:prstGeom prst="rect">
            <a:avLst/>
          </a:prstGeom>
          <a:solidFill>
            <a:srgbClr val="F2A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835640" y="4105656"/>
            <a:ext cx="71323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2A621"/>
                </a:solidFill>
                <a:latin typeface="Malgun Gothic"/>
              </a:rPr>
              <a:t>0.9023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4983480"/>
            <a:ext cx="5212080" cy="566928"/>
          </a:xfrm>
          <a:prstGeom prst="roundRect">
            <a:avLst/>
          </a:prstGeom>
          <a:solidFill>
            <a:srgbClr val="E7F4FC"/>
          </a:solidFill>
          <a:ln w="10160">
            <a:solidFill>
              <a:srgbClr val="1E8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" y="5074920"/>
            <a:ext cx="1920240" cy="31089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8BCD"/>
                </a:solidFill>
                <a:latin typeface="Malgun Gothic"/>
              </a:rPr>
              <a:t>전체 평균  +0.006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5074920"/>
            <a:ext cx="2834640" cy="31089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22A36"/>
                </a:solidFill>
                <a:latin typeface="Malgun Gothic"/>
              </a:rPr>
              <a:t>프록시 10개 추가 이득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44768" y="4983480"/>
            <a:ext cx="5212080" cy="566928"/>
          </a:xfrm>
          <a:prstGeom prst="roundRect">
            <a:avLst/>
          </a:prstGeom>
          <a:solidFill>
            <a:srgbClr val="FFF7E6"/>
          </a:solidFill>
          <a:ln w="10160">
            <a:solidFill>
              <a:srgbClr val="F2A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82512" y="5074920"/>
            <a:ext cx="2286000" cy="31089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2A621"/>
                </a:solidFill>
                <a:latin typeface="Malgun Gothic"/>
              </a:rPr>
              <a:t>핵심 결측  +0.022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76488" y="5074920"/>
            <a:ext cx="2514600" cy="31089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22A36"/>
                </a:solidFill>
                <a:latin typeface="Malgun Gothic"/>
              </a:rPr>
              <a:t>결측 구간에서 보완 가치 4배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632704"/>
            <a:ext cx="11091672" cy="512064"/>
          </a:xfrm>
          <a:prstGeom prst="roundRect">
            <a:avLst/>
          </a:prstGeom>
          <a:solidFill>
            <a:srgbClr val="22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660136"/>
            <a:ext cx="10725912" cy="4389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algun Gothic"/>
              </a:rPr>
              <a:t>13개를 모두 쓰되 역할을 분리했다 — 3개는 주 신호, 10개는 결측 보완 프록시이며 인과효과로 해석하지 않는다.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37392" y="6318504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B6773"/>
                </a:solidFill>
                <a:latin typeface="Malgun Gothic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92608"/>
            <a:ext cx="5394960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07E62"/>
                </a:solidFill>
                <a:latin typeface="Malgun Gothic"/>
              </a:rPr>
              <a:t>부록 A4-1 · 실험 통합 매트릭스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603504"/>
            <a:ext cx="10881360" cy="6766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222A36"/>
                </a:solidFill>
                <a:latin typeface="Malgun Gothic"/>
              </a:rPr>
              <a:t>대표 실험 — 동일 검증 체계에서 개선·실패·최종 선택을 함께 비교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38912" y="1298448"/>
          <a:ext cx="10451592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3232"/>
                <a:gridCol w="1261872"/>
                <a:gridCol w="1261872"/>
                <a:gridCol w="1371600"/>
                <a:gridCol w="749808"/>
                <a:gridCol w="1170432"/>
                <a:gridCol w="1024128"/>
                <a:gridCol w="1078992"/>
                <a:gridCol w="941832"/>
                <a:gridCol w="877824"/>
              </a:tblGrid>
              <a:tr h="313508"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Malgun Gothic"/>
                        </a:rPr>
                        <a:t>실험</a:t>
                      </a:r>
                    </a:p>
                  </a:txBody>
                  <a:tcPr marL="22860" marR="22860" marT="13716" marB="13716">
                    <a:solidFill>
                      <a:srgbClr val="222A3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Malgun Gothic"/>
                        </a:rPr>
                        <a:t>모델</a:t>
                      </a:r>
                    </a:p>
                  </a:txBody>
                  <a:tcPr marL="22860" marR="22860" marT="13716" marB="13716">
                    <a:solidFill>
                      <a:srgbClr val="222A3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Malgun Gothic"/>
                        </a:rPr>
                        <a:t>인코딩</a:t>
                      </a:r>
                    </a:p>
                  </a:txBody>
                  <a:tcPr marL="22860" marR="22860" marT="13716" marB="13716">
                    <a:solidFill>
                      <a:srgbClr val="222A3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Malgun Gothic"/>
                        </a:rPr>
                        <a:t>피처</a:t>
                      </a:r>
                    </a:p>
                  </a:txBody>
                  <a:tcPr marL="22860" marR="22860" marT="13716" marB="13716">
                    <a:solidFill>
                      <a:srgbClr val="222A3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Malgun Gothic"/>
                        </a:rPr>
                        <a:t>불균형</a:t>
                      </a:r>
                    </a:p>
                  </a:txBody>
                  <a:tcPr marL="22860" marR="22860" marT="13716" marB="13716">
                    <a:solidFill>
                      <a:srgbClr val="222A3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Malgun Gothic"/>
                        </a:rPr>
                        <a:t>데이터</a:t>
                      </a:r>
                    </a:p>
                  </a:txBody>
                  <a:tcPr marL="22860" marR="22860" marT="13716" marB="13716">
                    <a:solidFill>
                      <a:srgbClr val="222A3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Malgun Gothic"/>
                        </a:rPr>
                        <a:t>검증</a:t>
                      </a:r>
                    </a:p>
                  </a:txBody>
                  <a:tcPr marL="22860" marR="22860" marT="13716" marB="13716">
                    <a:solidFill>
                      <a:srgbClr val="222A3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Malgun Gothic"/>
                        </a:rPr>
                        <a:t>BalancedAcc</a:t>
                      </a:r>
                    </a:p>
                  </a:txBody>
                  <a:tcPr marL="22860" marR="22860" marT="13716" marB="13716">
                    <a:solidFill>
                      <a:srgbClr val="222A3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Malgun Gothic"/>
                        </a:rPr>
                        <a:t>PublicLB</a:t>
                      </a:r>
                    </a:p>
                  </a:txBody>
                  <a:tcPr marL="22860" marR="22860" marT="13716" marB="13716">
                    <a:solidFill>
                      <a:srgbClr val="222A3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Malgun Gothic"/>
                        </a:rPr>
                        <a:t>학습시간(s)</a:t>
                      </a:r>
                    </a:p>
                  </a:txBody>
                  <a:tcPr marL="22860" marR="22860" marT="13716" marB="13716">
                    <a:solidFill>
                      <a:srgbClr val="222A36"/>
                    </a:solidFill>
                  </a:tcPr>
                </a:tc>
              </a:tr>
              <a:tr h="313508"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222A36"/>
                          </a:solidFill>
                          <a:latin typeface="Malgun Gothic"/>
                        </a:rPr>
                        <a:t>zoo</a:t>
                      </a:r>
                    </a:p>
                  </a:txBody>
                  <a:tcPr marL="22860" marR="22860" marT="13716" marB="13716">
                    <a:solidFill>
                      <a:srgbClr val="F8F9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LogisticRegression</a:t>
                      </a:r>
                    </a:p>
                  </a:txBody>
                  <a:tcPr marL="22860" marR="22860" marT="13716" marB="13716">
                    <a:solidFill>
                      <a:srgbClr val="F8F9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OHE+Scale</a:t>
                      </a:r>
                    </a:p>
                  </a:txBody>
                  <a:tcPr marL="22860" marR="22860" marT="13716" marB="13716">
                    <a:solidFill>
                      <a:srgbClr val="F8F9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기본13</a:t>
                      </a:r>
                    </a:p>
                  </a:txBody>
                  <a:tcPr marL="22860" marR="22860" marT="13716" marB="13716">
                    <a:solidFill>
                      <a:srgbClr val="F8F9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가중</a:t>
                      </a:r>
                    </a:p>
                  </a:txBody>
                  <a:tcPr marL="22860" marR="22860" marT="13716" marB="13716">
                    <a:solidFill>
                      <a:srgbClr val="F8F9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100k</a:t>
                      </a:r>
                    </a:p>
                  </a:txBody>
                  <a:tcPr marL="22860" marR="22860" marT="13716" marB="13716">
                    <a:solidFill>
                      <a:srgbClr val="F8F9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holdout</a:t>
                      </a:r>
                    </a:p>
                  </a:txBody>
                  <a:tcPr marL="22860" marR="22860" marT="13716" marB="13716">
                    <a:solidFill>
                      <a:srgbClr val="F8F9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0.91995</a:t>
                      </a:r>
                    </a:p>
                  </a:txBody>
                  <a:tcPr marL="22860" marR="22860" marT="13716" marB="13716">
                    <a:solidFill>
                      <a:srgbClr val="F8F9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22860" marR="22860" marT="13716" marB="13716">
                    <a:solidFill>
                      <a:srgbClr val="F8F9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0.8</a:t>
                      </a:r>
                    </a:p>
                  </a:txBody>
                  <a:tcPr marL="22860" marR="22860" marT="13716" marB="13716">
                    <a:solidFill>
                      <a:srgbClr val="F8F9FA"/>
                    </a:solidFill>
                  </a:tcPr>
                </a:tc>
              </a:tr>
              <a:tr h="313508"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222A36"/>
                          </a:solidFill>
                          <a:latin typeface="Malgun Gothic"/>
                        </a:rPr>
                        <a:t>zoo</a:t>
                      </a:r>
                    </a:p>
                  </a:txBody>
                  <a:tcPr marL="22860" marR="22860" marT="13716" marB="13716">
                    <a:solidFill>
                      <a:srgbClr val="F8F9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HistGradientBoosting</a:t>
                      </a:r>
                    </a:p>
                  </a:txBody>
                  <a:tcPr marL="22860" marR="22860" marT="13716" marB="13716">
                    <a:solidFill>
                      <a:srgbClr val="F8F9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OHE+Scale</a:t>
                      </a:r>
                    </a:p>
                  </a:txBody>
                  <a:tcPr marL="22860" marR="22860" marT="13716" marB="13716">
                    <a:solidFill>
                      <a:srgbClr val="F8F9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기본13</a:t>
                      </a:r>
                    </a:p>
                  </a:txBody>
                  <a:tcPr marL="22860" marR="22860" marT="13716" marB="13716">
                    <a:solidFill>
                      <a:srgbClr val="F8F9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가중</a:t>
                      </a:r>
                    </a:p>
                  </a:txBody>
                  <a:tcPr marL="22860" marR="22860" marT="13716" marB="13716">
                    <a:solidFill>
                      <a:srgbClr val="F8F9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100k</a:t>
                      </a:r>
                    </a:p>
                  </a:txBody>
                  <a:tcPr marL="22860" marR="22860" marT="13716" marB="13716">
                    <a:solidFill>
                      <a:srgbClr val="F8F9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holdout</a:t>
                      </a:r>
                    </a:p>
                  </a:txBody>
                  <a:tcPr marL="22860" marR="22860" marT="13716" marB="13716">
                    <a:solidFill>
                      <a:srgbClr val="F8F9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0.95183</a:t>
                      </a:r>
                    </a:p>
                  </a:txBody>
                  <a:tcPr marL="22860" marR="22860" marT="13716" marB="13716">
                    <a:solidFill>
                      <a:srgbClr val="F8F9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22860" marR="22860" marT="13716" marB="13716">
                    <a:solidFill>
                      <a:srgbClr val="F8F9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4.2</a:t>
                      </a:r>
                    </a:p>
                  </a:txBody>
                  <a:tcPr marL="22860" marR="22860" marT="13716" marB="13716">
                    <a:solidFill>
                      <a:srgbClr val="F8F9FA"/>
                    </a:solidFill>
                  </a:tcPr>
                </a:tc>
              </a:tr>
              <a:tr h="313508"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222A36"/>
                          </a:solidFill>
                          <a:latin typeface="Malgun Gothic"/>
                        </a:rPr>
                        <a:t>zoo</a:t>
                      </a:r>
                    </a:p>
                  </a:txBody>
                  <a:tcPr marL="22860" marR="22860" marT="13716" marB="13716">
                    <a:solidFill>
                      <a:srgbClr val="F8F9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CatBoost</a:t>
                      </a:r>
                    </a:p>
                  </a:txBody>
                  <a:tcPr marL="22860" marR="22860" marT="13716" marB="13716">
                    <a:solidFill>
                      <a:srgbClr val="F8F9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OHE+Scale</a:t>
                      </a:r>
                    </a:p>
                  </a:txBody>
                  <a:tcPr marL="22860" marR="22860" marT="13716" marB="13716">
                    <a:solidFill>
                      <a:srgbClr val="F8F9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기본13</a:t>
                      </a:r>
                    </a:p>
                  </a:txBody>
                  <a:tcPr marL="22860" marR="22860" marT="13716" marB="13716">
                    <a:solidFill>
                      <a:srgbClr val="F8F9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가중</a:t>
                      </a:r>
                    </a:p>
                  </a:txBody>
                  <a:tcPr marL="22860" marR="22860" marT="13716" marB="13716">
                    <a:solidFill>
                      <a:srgbClr val="F8F9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100k</a:t>
                      </a:r>
                    </a:p>
                  </a:txBody>
                  <a:tcPr marL="22860" marR="22860" marT="13716" marB="13716">
                    <a:solidFill>
                      <a:srgbClr val="F8F9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holdout</a:t>
                      </a:r>
                    </a:p>
                  </a:txBody>
                  <a:tcPr marL="22860" marR="22860" marT="13716" marB="13716">
                    <a:solidFill>
                      <a:srgbClr val="F8F9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0.94934</a:t>
                      </a:r>
                    </a:p>
                  </a:txBody>
                  <a:tcPr marL="22860" marR="22860" marT="13716" marB="13716">
                    <a:solidFill>
                      <a:srgbClr val="F8F9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22860" marR="22860" marT="13716" marB="13716">
                    <a:solidFill>
                      <a:srgbClr val="F8F9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38.9</a:t>
                      </a:r>
                    </a:p>
                  </a:txBody>
                  <a:tcPr marL="22860" marR="22860" marT="13716" marB="13716">
                    <a:solidFill>
                      <a:srgbClr val="F8F9FA"/>
                    </a:solidFill>
                  </a:tcPr>
                </a:tc>
              </a:tr>
              <a:tr h="313508"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222A36"/>
                          </a:solidFill>
                          <a:latin typeface="Malgun Gothic"/>
                        </a:rPr>
                        <a:t>N1</a:t>
                      </a:r>
                    </a:p>
                  </a:txBody>
                  <a:tcPr marL="22860" marR="22860" marT="13716" marB="13716">
                    <a:solidFill>
                      <a:srgbClr val="E7F4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LightGBM</a:t>
                      </a:r>
                    </a:p>
                  </a:txBody>
                  <a:tcPr marL="22860" marR="22860" marT="13716" marB="13716">
                    <a:solidFill>
                      <a:srgbClr val="E7F4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네이티브 범주</a:t>
                      </a:r>
                    </a:p>
                  </a:txBody>
                  <a:tcPr marL="22860" marR="22860" marT="13716" marB="13716">
                    <a:solidFill>
                      <a:srgbClr val="E7F4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기본13</a:t>
                      </a:r>
                    </a:p>
                  </a:txBody>
                  <a:tcPr marL="22860" marR="22860" marT="13716" marB="13716">
                    <a:solidFill>
                      <a:srgbClr val="E7F4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가중</a:t>
                      </a:r>
                    </a:p>
                  </a:txBody>
                  <a:tcPr marL="22860" marR="22860" marT="13716" marB="13716">
                    <a:solidFill>
                      <a:srgbClr val="E7F4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전체×5fold</a:t>
                      </a:r>
                    </a:p>
                  </a:txBody>
                  <a:tcPr marL="22860" marR="22860" marT="13716" marB="13716">
                    <a:solidFill>
                      <a:srgbClr val="E7F4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OOF</a:t>
                      </a:r>
                    </a:p>
                  </a:txBody>
                  <a:tcPr marL="22860" marR="22860" marT="13716" marB="13716">
                    <a:solidFill>
                      <a:srgbClr val="E7F4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0.94962</a:t>
                      </a:r>
                    </a:p>
                  </a:txBody>
                  <a:tcPr marL="22860" marR="22860" marT="13716" marB="13716">
                    <a:solidFill>
                      <a:srgbClr val="E7F4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0.94952</a:t>
                      </a:r>
                    </a:p>
                  </a:txBody>
                  <a:tcPr marL="22860" marR="22860" marT="13716" marB="13716">
                    <a:solidFill>
                      <a:srgbClr val="E7F4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335.0</a:t>
                      </a:r>
                    </a:p>
                  </a:txBody>
                  <a:tcPr marL="22860" marR="22860" marT="13716" marB="13716">
                    <a:solidFill>
                      <a:srgbClr val="E7F4FC"/>
                    </a:solidFill>
                  </a:tcPr>
                </a:tc>
              </a:tr>
              <a:tr h="313508"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222A36"/>
                          </a:solidFill>
                          <a:latin typeface="Malgun Gothic"/>
                        </a:rPr>
                        <a:t>V2-C</a:t>
                      </a:r>
                    </a:p>
                  </a:txBody>
                  <a:tcPr marL="22860" marR="22860" marT="13716" marB="13716">
                    <a:solidFill>
                      <a:srgbClr val="E8F7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HistGB</a:t>
                      </a:r>
                    </a:p>
                  </a:txBody>
                  <a:tcPr marL="22860" marR="22860" marT="13716" marB="13716">
                    <a:solidFill>
                      <a:srgbClr val="E8F7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서수+수치TE</a:t>
                      </a:r>
                    </a:p>
                  </a:txBody>
                  <a:tcPr marL="22860" marR="22860" marT="13716" marB="13716">
                    <a:solidFill>
                      <a:srgbClr val="E8F7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+규칙피처</a:t>
                      </a:r>
                    </a:p>
                  </a:txBody>
                  <a:tcPr marL="22860" marR="22860" marT="13716" marB="13716">
                    <a:solidFill>
                      <a:srgbClr val="E8F7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가중</a:t>
                      </a:r>
                    </a:p>
                  </a:txBody>
                  <a:tcPr marL="22860" marR="22860" marT="13716" marB="13716">
                    <a:solidFill>
                      <a:srgbClr val="E8F7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전체×5fold</a:t>
                      </a:r>
                    </a:p>
                  </a:txBody>
                  <a:tcPr marL="22860" marR="22860" marT="13716" marB="13716">
                    <a:solidFill>
                      <a:srgbClr val="E8F7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OOF</a:t>
                      </a:r>
                    </a:p>
                  </a:txBody>
                  <a:tcPr marL="22860" marR="22860" marT="13716" marB="13716">
                    <a:solidFill>
                      <a:srgbClr val="E8F7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0.95028</a:t>
                      </a:r>
                    </a:p>
                  </a:txBody>
                  <a:tcPr marL="22860" marR="22860" marT="13716" marB="13716">
                    <a:solidFill>
                      <a:srgbClr val="E8F7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22860" marR="22860" marT="13716" marB="13716">
                    <a:solidFill>
                      <a:srgbClr val="E8F7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225.0</a:t>
                      </a:r>
                    </a:p>
                  </a:txBody>
                  <a:tcPr marL="22860" marR="22860" marT="13716" marB="13716">
                    <a:solidFill>
                      <a:srgbClr val="E8F7F1"/>
                    </a:solidFill>
                  </a:tcPr>
                </a:tc>
              </a:tr>
              <a:tr h="313508"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222A36"/>
                          </a:solidFill>
                          <a:latin typeface="Malgun Gothic"/>
                        </a:rPr>
                        <a:t>N2</a:t>
                      </a:r>
                    </a:p>
                  </a:txBody>
                  <a:tcPr marL="22860" marR="22860" marT="13716" marB="13716">
                    <a:solidFill>
                      <a:srgbClr val="E8F7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HistGB</a:t>
                      </a:r>
                    </a:p>
                  </a:txBody>
                  <a:tcPr marL="22860" marR="22860" marT="13716" marB="13716">
                    <a:solidFill>
                      <a:srgbClr val="E8F7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서수+수치TE</a:t>
                      </a:r>
                    </a:p>
                  </a:txBody>
                  <a:tcPr marL="22860" marR="22860" marT="13716" marB="13716">
                    <a:solidFill>
                      <a:srgbClr val="E8F7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+규칙피처</a:t>
                      </a:r>
                    </a:p>
                  </a:txBody>
                  <a:tcPr marL="22860" marR="22860" marT="13716" marB="13716">
                    <a:solidFill>
                      <a:srgbClr val="E8F7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가중</a:t>
                      </a:r>
                    </a:p>
                  </a:txBody>
                  <a:tcPr marL="22860" marR="22860" marT="13716" marB="13716">
                    <a:solidFill>
                      <a:srgbClr val="E8F7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전체×5fold×5seed</a:t>
                      </a:r>
                    </a:p>
                  </a:txBody>
                  <a:tcPr marL="22860" marR="22860" marT="13716" marB="13716">
                    <a:solidFill>
                      <a:srgbClr val="E8F7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OOF</a:t>
                      </a:r>
                    </a:p>
                  </a:txBody>
                  <a:tcPr marL="22860" marR="22860" marT="13716" marB="13716">
                    <a:solidFill>
                      <a:srgbClr val="E8F7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0.95051</a:t>
                      </a:r>
                    </a:p>
                  </a:txBody>
                  <a:tcPr marL="22860" marR="22860" marT="13716" marB="13716">
                    <a:solidFill>
                      <a:srgbClr val="E8F7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0.94982</a:t>
                      </a:r>
                    </a:p>
                  </a:txBody>
                  <a:tcPr marL="22860" marR="22860" marT="13716" marB="13716">
                    <a:solidFill>
                      <a:srgbClr val="E8F7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1200.0</a:t>
                      </a:r>
                    </a:p>
                  </a:txBody>
                  <a:tcPr marL="22860" marR="22860" marT="13716" marB="13716">
                    <a:solidFill>
                      <a:srgbClr val="E8F7F1"/>
                    </a:solidFill>
                  </a:tcPr>
                </a:tc>
              </a:tr>
              <a:tr h="313508"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222A36"/>
                          </a:solidFill>
                          <a:latin typeface="Malgun Gothic"/>
                        </a:rPr>
                        <a:t>N5</a:t>
                      </a:r>
                    </a:p>
                  </a:txBody>
                  <a:tcPr marL="22860" marR="22860" marT="13716" marB="13716">
                    <a:solidFill>
                      <a:srgbClr val="E8F7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HistGB</a:t>
                      </a:r>
                    </a:p>
                  </a:txBody>
                  <a:tcPr marL="22860" marR="22860" marT="13716" marB="13716">
                    <a:solidFill>
                      <a:srgbClr val="E8F7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서수+수치TE</a:t>
                      </a:r>
                    </a:p>
                  </a:txBody>
                  <a:tcPr marL="22860" marR="22860" marT="13716" marB="13716">
                    <a:solidFill>
                      <a:srgbClr val="E8F7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+규칙피처</a:t>
                      </a:r>
                    </a:p>
                  </a:txBody>
                  <a:tcPr marL="22860" marR="22860" marT="13716" marB="13716">
                    <a:solidFill>
                      <a:srgbClr val="E8F7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가중</a:t>
                      </a:r>
                    </a:p>
                  </a:txBody>
                  <a:tcPr marL="22860" marR="22860" marT="13716" marB="13716">
                    <a:solidFill>
                      <a:srgbClr val="E8F7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전체×10fold×7seed</a:t>
                      </a:r>
                    </a:p>
                  </a:txBody>
                  <a:tcPr marL="22860" marR="22860" marT="13716" marB="13716">
                    <a:solidFill>
                      <a:srgbClr val="E8F7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OOF</a:t>
                      </a:r>
                    </a:p>
                  </a:txBody>
                  <a:tcPr marL="22860" marR="22860" marT="13716" marB="13716">
                    <a:solidFill>
                      <a:srgbClr val="E8F7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0.95045</a:t>
                      </a:r>
                    </a:p>
                  </a:txBody>
                  <a:tcPr marL="22860" marR="22860" marT="13716" marB="13716">
                    <a:solidFill>
                      <a:srgbClr val="E8F7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0.95007</a:t>
                      </a:r>
                    </a:p>
                  </a:txBody>
                  <a:tcPr marL="22860" marR="22860" marT="13716" marB="13716">
                    <a:solidFill>
                      <a:srgbClr val="E8F7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3361.0</a:t>
                      </a:r>
                    </a:p>
                  </a:txBody>
                  <a:tcPr marL="22860" marR="22860" marT="13716" marB="13716">
                    <a:solidFill>
                      <a:srgbClr val="E8F7F1"/>
                    </a:solidFill>
                  </a:tcPr>
                </a:tc>
              </a:tr>
              <a:tr h="313508"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222A36"/>
                          </a:solidFill>
                          <a:latin typeface="Malgun Gothic"/>
                        </a:rPr>
                        <a:t>N3</a:t>
                      </a:r>
                    </a:p>
                  </a:txBody>
                  <a:tcPr marL="22860" marR="22860" marT="13716" marB="13716">
                    <a:solidFill>
                      <a:srgbClr val="E7F4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HGB 3시드 보팅(폴백)</a:t>
                      </a:r>
                    </a:p>
                  </a:txBody>
                  <a:tcPr marL="22860" marR="22860" marT="13716" marB="13716">
                    <a:solidFill>
                      <a:srgbClr val="E7F4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서수+수치TE</a:t>
                      </a:r>
                    </a:p>
                  </a:txBody>
                  <a:tcPr marL="22860" marR="22860" marT="13716" marB="13716">
                    <a:solidFill>
                      <a:srgbClr val="E7F4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+규칙피처</a:t>
                      </a:r>
                    </a:p>
                  </a:txBody>
                  <a:tcPr marL="22860" marR="22860" marT="13716" marB="13716">
                    <a:solidFill>
                      <a:srgbClr val="E7F4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가중</a:t>
                      </a:r>
                    </a:p>
                  </a:txBody>
                  <a:tcPr marL="22860" marR="22860" marT="13716" marB="13716">
                    <a:solidFill>
                      <a:srgbClr val="E7F4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전체×5fold</a:t>
                      </a:r>
                    </a:p>
                  </a:txBody>
                  <a:tcPr marL="22860" marR="22860" marT="13716" marB="13716">
                    <a:solidFill>
                      <a:srgbClr val="E7F4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중첩검증</a:t>
                      </a:r>
                    </a:p>
                  </a:txBody>
                  <a:tcPr marL="22860" marR="22860" marT="13716" marB="13716">
                    <a:solidFill>
                      <a:srgbClr val="E7F4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0.95026</a:t>
                      </a:r>
                    </a:p>
                  </a:txBody>
                  <a:tcPr marL="22860" marR="22860" marT="13716" marB="13716">
                    <a:solidFill>
                      <a:srgbClr val="E7F4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0.95015</a:t>
                      </a:r>
                    </a:p>
                  </a:txBody>
                  <a:tcPr marL="22860" marR="22860" marT="13716" marB="13716">
                    <a:solidFill>
                      <a:srgbClr val="E7F4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22860" marR="22860" marT="13716" marB="13716">
                    <a:solidFill>
                      <a:srgbClr val="E7F4FC"/>
                    </a:solidFill>
                  </a:tcPr>
                </a:tc>
              </a:tr>
              <a:tr h="313508"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222A36"/>
                          </a:solidFill>
                          <a:latin typeface="Malgun Gothic"/>
                        </a:rPr>
                        <a:t>V2-H</a:t>
                      </a:r>
                    </a:p>
                  </a:txBody>
                  <a:tcPr marL="22860" marR="22860" marT="13716" marB="13716">
                    <a:solidFill>
                      <a:srgbClr val="E8F7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HistGB</a:t>
                      </a:r>
                    </a:p>
                  </a:txBody>
                  <a:tcPr marL="22860" marR="22860" marT="13716" marB="13716">
                    <a:solidFill>
                      <a:srgbClr val="E8F7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서수+다중해상도TE</a:t>
                      </a:r>
                    </a:p>
                  </a:txBody>
                  <a:tcPr marL="22860" marR="22860" marT="13716" marB="13716">
                    <a:solidFill>
                      <a:srgbClr val="E8F7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+거친구간 6종</a:t>
                      </a:r>
                    </a:p>
                  </a:txBody>
                  <a:tcPr marL="22860" marR="22860" marT="13716" marB="13716">
                    <a:solidFill>
                      <a:srgbClr val="E8F7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가중</a:t>
                      </a:r>
                    </a:p>
                  </a:txBody>
                  <a:tcPr marL="22860" marR="22860" marT="13716" marB="13716">
                    <a:solidFill>
                      <a:srgbClr val="E8F7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전체×5fold</a:t>
                      </a:r>
                    </a:p>
                  </a:txBody>
                  <a:tcPr marL="22860" marR="22860" marT="13716" marB="13716">
                    <a:solidFill>
                      <a:srgbClr val="E8F7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OOF</a:t>
                      </a:r>
                    </a:p>
                  </a:txBody>
                  <a:tcPr marL="22860" marR="22860" marT="13716" marB="13716">
                    <a:solidFill>
                      <a:srgbClr val="E8F7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0.95036</a:t>
                      </a:r>
                    </a:p>
                  </a:txBody>
                  <a:tcPr marL="22860" marR="22860" marT="13716" marB="13716">
                    <a:solidFill>
                      <a:srgbClr val="E8F7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22860" marR="22860" marT="13716" marB="13716">
                    <a:solidFill>
                      <a:srgbClr val="E8F7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500.0</a:t>
                      </a:r>
                    </a:p>
                  </a:txBody>
                  <a:tcPr marL="22860" marR="22860" marT="13716" marB="13716">
                    <a:solidFill>
                      <a:srgbClr val="E8F7F1"/>
                    </a:solidFill>
                  </a:tcPr>
                </a:tc>
              </a:tr>
              <a:tr h="313508"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222A36"/>
                          </a:solidFill>
                          <a:latin typeface="Malgun Gothic"/>
                        </a:rPr>
                        <a:t>V2-K</a:t>
                      </a:r>
                    </a:p>
                  </a:txBody>
                  <a:tcPr marL="22860" marR="22860" marT="13716" marB="13716">
                    <a:solidFill>
                      <a:srgbClr val="FDEE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HistGB</a:t>
                      </a:r>
                    </a:p>
                  </a:txBody>
                  <a:tcPr marL="22860" marR="22860" marT="13716" marB="13716">
                    <a:solidFill>
                      <a:srgbClr val="FDEE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서수+다중해상도TE</a:t>
                      </a:r>
                    </a:p>
                  </a:txBody>
                  <a:tcPr marL="22860" marR="22860" marT="13716" marB="13716">
                    <a:solidFill>
                      <a:srgbClr val="FDEE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H+J 결합</a:t>
                      </a:r>
                    </a:p>
                  </a:txBody>
                  <a:tcPr marL="22860" marR="22860" marT="13716" marB="13716">
                    <a:solidFill>
                      <a:srgbClr val="FDEE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가중</a:t>
                      </a:r>
                    </a:p>
                  </a:txBody>
                  <a:tcPr marL="22860" marR="22860" marT="13716" marB="13716">
                    <a:solidFill>
                      <a:srgbClr val="FDEE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전체×5fold</a:t>
                      </a:r>
                    </a:p>
                  </a:txBody>
                  <a:tcPr marL="22860" marR="22860" marT="13716" marB="13716">
                    <a:solidFill>
                      <a:srgbClr val="FDEE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OOF</a:t>
                      </a:r>
                    </a:p>
                  </a:txBody>
                  <a:tcPr marL="22860" marR="22860" marT="13716" marB="13716">
                    <a:solidFill>
                      <a:srgbClr val="FDEE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0.95039</a:t>
                      </a:r>
                    </a:p>
                  </a:txBody>
                  <a:tcPr marL="22860" marR="22860" marT="13716" marB="13716">
                    <a:solidFill>
                      <a:srgbClr val="FDEE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22860" marR="22860" marT="13716" marB="13716">
                    <a:solidFill>
                      <a:srgbClr val="FDEE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541.0</a:t>
                      </a:r>
                    </a:p>
                  </a:txBody>
                  <a:tcPr marL="22860" marR="22860" marT="13716" marB="13716">
                    <a:solidFill>
                      <a:srgbClr val="FDEEEE"/>
                    </a:solidFill>
                  </a:tcPr>
                </a:tc>
              </a:tr>
              <a:tr h="313508"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222A36"/>
                          </a:solidFill>
                          <a:latin typeface="Malgun Gothic"/>
                        </a:rPr>
                        <a:t>Optuna</a:t>
                      </a:r>
                    </a:p>
                  </a:txBody>
                  <a:tcPr marL="22860" marR="22860" marT="13716" marB="13716">
                    <a:solidFill>
                      <a:srgbClr val="E8F7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HistGB</a:t>
                      </a:r>
                    </a:p>
                  </a:txBody>
                  <a:tcPr marL="22860" marR="22860" marT="13716" marB="13716">
                    <a:solidFill>
                      <a:srgbClr val="E8F7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서수+TE</a:t>
                      </a:r>
                    </a:p>
                  </a:txBody>
                  <a:tcPr marL="22860" marR="22860" marT="13716" marB="13716">
                    <a:solidFill>
                      <a:srgbClr val="E8F7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K피처 (25트라이얼)</a:t>
                      </a:r>
                    </a:p>
                  </a:txBody>
                  <a:tcPr marL="22860" marR="22860" marT="13716" marB="13716">
                    <a:solidFill>
                      <a:srgbClr val="E8F7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가중</a:t>
                      </a:r>
                    </a:p>
                  </a:txBody>
                  <a:tcPr marL="22860" marR="22860" marT="13716" marB="13716">
                    <a:solidFill>
                      <a:srgbClr val="E8F7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20만→전체 재검증</a:t>
                      </a:r>
                    </a:p>
                  </a:txBody>
                  <a:tcPr marL="22860" marR="22860" marT="13716" marB="13716">
                    <a:solidFill>
                      <a:srgbClr val="E8F7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OOF</a:t>
                      </a:r>
                    </a:p>
                  </a:txBody>
                  <a:tcPr marL="22860" marR="22860" marT="13716" marB="13716">
                    <a:solidFill>
                      <a:srgbClr val="E8F7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0.95039</a:t>
                      </a:r>
                    </a:p>
                  </a:txBody>
                  <a:tcPr marL="22860" marR="22860" marT="13716" marB="13716">
                    <a:solidFill>
                      <a:srgbClr val="E8F7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22860" marR="22860" marT="13716" marB="13716">
                    <a:solidFill>
                      <a:srgbClr val="E8F7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1500.0</a:t>
                      </a:r>
                    </a:p>
                  </a:txBody>
                  <a:tcPr marL="22860" marR="22860" marT="13716" marB="13716">
                    <a:solidFill>
                      <a:srgbClr val="E8F7F1"/>
                    </a:solidFill>
                  </a:tcPr>
                </a:tc>
              </a:tr>
              <a:tr h="313508"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222A36"/>
                          </a:solidFill>
                          <a:latin typeface="Malgun Gothic"/>
                        </a:rPr>
                        <a:t>N7</a:t>
                      </a:r>
                    </a:p>
                  </a:txBody>
                  <a:tcPr marL="22860" marR="22860" marT="13716" marB="13716">
                    <a:solidFill>
                      <a:srgbClr val="E8F7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N5+RealMLP 블렌드</a:t>
                      </a:r>
                    </a:p>
                  </a:txBody>
                  <a:tcPr marL="22860" marR="22860" marT="13716" marB="13716">
                    <a:solidFill>
                      <a:srgbClr val="E8F7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2860" marR="22860" marT="13716" marB="13716">
                    <a:solidFill>
                      <a:srgbClr val="E8F7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가중 0.40/0.60</a:t>
                      </a:r>
                    </a:p>
                  </a:txBody>
                  <a:tcPr marL="22860" marR="22860" marT="13716" marB="13716">
                    <a:solidFill>
                      <a:srgbClr val="E8F7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2860" marR="22860" marT="13716" marB="13716">
                    <a:solidFill>
                      <a:srgbClr val="E8F7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전체</a:t>
                      </a:r>
                    </a:p>
                  </a:txBody>
                  <a:tcPr marL="22860" marR="22860" marT="13716" marB="13716">
                    <a:solidFill>
                      <a:srgbClr val="E8F7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중첩검증</a:t>
                      </a:r>
                    </a:p>
                  </a:txBody>
                  <a:tcPr marL="22860" marR="22860" marT="13716" marB="13716">
                    <a:solidFill>
                      <a:srgbClr val="E8F7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0.95084</a:t>
                      </a:r>
                    </a:p>
                  </a:txBody>
                  <a:tcPr marL="22860" marR="22860" marT="13716" marB="13716">
                    <a:solidFill>
                      <a:srgbClr val="E8F7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22860" marR="22860" marT="13716" marB="13716">
                    <a:solidFill>
                      <a:srgbClr val="E8F7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22860" marR="22860" marT="13716" marB="13716">
                    <a:solidFill>
                      <a:srgbClr val="E8F7F1"/>
                    </a:solidFill>
                  </a:tcPr>
                </a:tc>
              </a:tr>
              <a:tr h="313516"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222A36"/>
                          </a:solidFill>
                          <a:latin typeface="Malgun Gothic"/>
                        </a:rPr>
                        <a:t>N9</a:t>
                      </a:r>
                    </a:p>
                  </a:txBody>
                  <a:tcPr marL="22860" marR="22860" marT="13716" marB="13716">
                    <a:solidFill>
                      <a:srgbClr val="00A67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3중 블렌드</a:t>
                      </a:r>
                    </a:p>
                  </a:txBody>
                  <a:tcPr marL="22860" marR="22860" marT="13716" marB="13716">
                    <a:solidFill>
                      <a:srgbClr val="00A67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2860" marR="22860" marT="13716" marB="13716">
                    <a:solidFill>
                      <a:srgbClr val="00A67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N5·RMLP·K 0.15/0.57/0.28</a:t>
                      </a:r>
                    </a:p>
                  </a:txBody>
                  <a:tcPr marL="22860" marR="22860" marT="13716" marB="13716">
                    <a:solidFill>
                      <a:srgbClr val="00A67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2860" marR="22860" marT="13716" marB="13716">
                    <a:solidFill>
                      <a:srgbClr val="00A67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전체</a:t>
                      </a:r>
                    </a:p>
                  </a:txBody>
                  <a:tcPr marL="22860" marR="22860" marT="13716" marB="13716">
                    <a:solidFill>
                      <a:srgbClr val="00A67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중첩검증</a:t>
                      </a:r>
                    </a:p>
                  </a:txBody>
                  <a:tcPr marL="22860" marR="22860" marT="13716" marB="13716">
                    <a:solidFill>
                      <a:srgbClr val="00A67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0.95088</a:t>
                      </a:r>
                    </a:p>
                  </a:txBody>
                  <a:tcPr marL="22860" marR="22860" marT="13716" marB="13716">
                    <a:solidFill>
                      <a:srgbClr val="00A67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0.95089</a:t>
                      </a:r>
                    </a:p>
                  </a:txBody>
                  <a:tcPr marL="22860" marR="22860" marT="13716" marB="13716">
                    <a:solidFill>
                      <a:srgbClr val="00A67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A36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22860" marR="22860" marT="13716" marB="13716">
                    <a:solidFill>
                      <a:srgbClr val="00A67D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5742432"/>
            <a:ext cx="11091672" cy="512064"/>
          </a:xfrm>
          <a:prstGeom prst="roundRect">
            <a:avLst/>
          </a:prstGeom>
          <a:solidFill>
            <a:srgbClr val="22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769864"/>
            <a:ext cx="10725912" cy="4389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algun Gothic"/>
              </a:rPr>
              <a:t>40+ 전체 실험 원장은 GitHub에 보존 · 본문에는 의사결정을 바꾼 대표 실험만 압축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318504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B6773"/>
                </a:solidFill>
                <a:latin typeface="Malgun Gothic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644768730"/>
      </p:ext>
    </p:extLst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92608"/>
            <a:ext cx="5394960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07E62"/>
                </a:solidFill>
                <a:latin typeface="Malgun Gothic"/>
              </a:rPr>
              <a:t>부록 A4-2 · Kaggle 제출 원장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603504"/>
            <a:ext cx="10881360" cy="6766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222A36"/>
                </a:solidFill>
                <a:latin typeface="Malgun Gothic"/>
              </a:rPr>
              <a:t>Public 결과와 출처 — 독립 성과·보정 실패·외부 제공을 구분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38912" y="1298448"/>
          <a:ext cx="10451592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3232"/>
                <a:gridCol w="1261872"/>
                <a:gridCol w="1261872"/>
                <a:gridCol w="1371600"/>
                <a:gridCol w="749808"/>
                <a:gridCol w="1170432"/>
                <a:gridCol w="1024128"/>
                <a:gridCol w="1078992"/>
                <a:gridCol w="941832"/>
                <a:gridCol w="877824"/>
              </a:tblGrid>
              <a:tr h="337624"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1">
                          <a:solidFill>
                            <a:srgbClr val="FFFFFF"/>
                          </a:solidFill>
                          <a:latin typeface="Malgun Gothic"/>
                        </a:rPr>
                        <a:t>실험</a:t>
                      </a:r>
                    </a:p>
                  </a:txBody>
                  <a:tcPr marL="22860" marR="22860" marT="13716" marB="13716">
                    <a:solidFill>
                      <a:srgbClr val="222A3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1">
                          <a:solidFill>
                            <a:srgbClr val="FFFFFF"/>
                          </a:solidFill>
                          <a:latin typeface="Malgun Gothic"/>
                        </a:rPr>
                        <a:t>모델</a:t>
                      </a:r>
                    </a:p>
                  </a:txBody>
                  <a:tcPr marL="22860" marR="22860" marT="13716" marB="13716">
                    <a:solidFill>
                      <a:srgbClr val="222A3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1">
                          <a:solidFill>
                            <a:srgbClr val="FFFFFF"/>
                          </a:solidFill>
                          <a:latin typeface="Malgun Gothic"/>
                        </a:rPr>
                        <a:t>인코딩</a:t>
                      </a:r>
                    </a:p>
                  </a:txBody>
                  <a:tcPr marL="22860" marR="22860" marT="13716" marB="13716">
                    <a:solidFill>
                      <a:srgbClr val="222A3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1">
                          <a:solidFill>
                            <a:srgbClr val="FFFFFF"/>
                          </a:solidFill>
                          <a:latin typeface="Malgun Gothic"/>
                        </a:rPr>
                        <a:t>피처</a:t>
                      </a:r>
                    </a:p>
                  </a:txBody>
                  <a:tcPr marL="22860" marR="22860" marT="13716" marB="13716">
                    <a:solidFill>
                      <a:srgbClr val="222A3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1">
                          <a:solidFill>
                            <a:srgbClr val="FFFFFF"/>
                          </a:solidFill>
                          <a:latin typeface="Malgun Gothic"/>
                        </a:rPr>
                        <a:t>불균형</a:t>
                      </a:r>
                    </a:p>
                  </a:txBody>
                  <a:tcPr marL="22860" marR="22860" marT="13716" marB="13716">
                    <a:solidFill>
                      <a:srgbClr val="222A3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1">
                          <a:solidFill>
                            <a:srgbClr val="FFFFFF"/>
                          </a:solidFill>
                          <a:latin typeface="Malgun Gothic"/>
                        </a:rPr>
                        <a:t>데이터</a:t>
                      </a:r>
                    </a:p>
                  </a:txBody>
                  <a:tcPr marL="22860" marR="22860" marT="13716" marB="13716">
                    <a:solidFill>
                      <a:srgbClr val="222A3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1">
                          <a:solidFill>
                            <a:srgbClr val="FFFFFF"/>
                          </a:solidFill>
                          <a:latin typeface="Malgun Gothic"/>
                        </a:rPr>
                        <a:t>검증</a:t>
                      </a:r>
                    </a:p>
                  </a:txBody>
                  <a:tcPr marL="22860" marR="22860" marT="13716" marB="13716">
                    <a:solidFill>
                      <a:srgbClr val="222A3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1">
                          <a:solidFill>
                            <a:srgbClr val="FFFFFF"/>
                          </a:solidFill>
                          <a:latin typeface="Malgun Gothic"/>
                        </a:rPr>
                        <a:t>BalancedAcc</a:t>
                      </a:r>
                    </a:p>
                  </a:txBody>
                  <a:tcPr marL="22860" marR="22860" marT="13716" marB="13716">
                    <a:solidFill>
                      <a:srgbClr val="222A3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1">
                          <a:solidFill>
                            <a:srgbClr val="FFFFFF"/>
                          </a:solidFill>
                          <a:latin typeface="Malgun Gothic"/>
                        </a:rPr>
                        <a:t>PublicLB</a:t>
                      </a:r>
                    </a:p>
                  </a:txBody>
                  <a:tcPr marL="22860" marR="22860" marT="13716" marB="13716">
                    <a:solidFill>
                      <a:srgbClr val="222A3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1">
                          <a:solidFill>
                            <a:srgbClr val="FFFFFF"/>
                          </a:solidFill>
                          <a:latin typeface="Malgun Gothic"/>
                        </a:rPr>
                        <a:t>학습시간(s)</a:t>
                      </a:r>
                    </a:p>
                  </a:txBody>
                  <a:tcPr marL="22860" marR="22860" marT="13716" marB="13716">
                    <a:solidFill>
                      <a:srgbClr val="222A36"/>
                    </a:solidFill>
                  </a:tcPr>
                </a:tc>
              </a:tr>
              <a:tr h="337624"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1">
                          <a:solidFill>
                            <a:srgbClr val="222A36"/>
                          </a:solidFill>
                          <a:latin typeface="Malgun Gothic"/>
                        </a:rPr>
                        <a:t>N9</a:t>
                      </a:r>
                    </a:p>
                  </a:txBody>
                  <a:tcPr marL="22860" marR="22860" marT="13716" marB="13716">
                    <a:solidFill>
                      <a:srgbClr val="E8F7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3중 블렌드</a:t>
                      </a:r>
                    </a:p>
                  </a:txBody>
                  <a:tcPr marL="22860" marR="22860" marT="13716" marB="13716">
                    <a:solidFill>
                      <a:srgbClr val="E8F7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TE+표준화</a:t>
                      </a:r>
                    </a:p>
                  </a:txBody>
                  <a:tcPr marL="22860" marR="22860" marT="13716" marB="13716">
                    <a:solidFill>
                      <a:srgbClr val="E8F7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N5·RMLP·K</a:t>
                      </a:r>
                    </a:p>
                  </a:txBody>
                  <a:tcPr marL="22860" marR="22860" marT="13716" marB="13716">
                    <a:solidFill>
                      <a:srgbClr val="E8F7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nested</a:t>
                      </a:r>
                    </a:p>
                  </a:txBody>
                  <a:tcPr marL="22860" marR="22860" marT="13716" marB="13716">
                    <a:solidFill>
                      <a:srgbClr val="E8F7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전체</a:t>
                      </a:r>
                    </a:p>
                  </a:txBody>
                  <a:tcPr marL="22860" marR="22860" marT="13716" marB="13716">
                    <a:solidFill>
                      <a:srgbClr val="E8F7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OOF</a:t>
                      </a:r>
                    </a:p>
                  </a:txBody>
                  <a:tcPr marL="22860" marR="22860" marT="13716" marB="13716">
                    <a:solidFill>
                      <a:srgbClr val="E8F7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0.95088</a:t>
                      </a:r>
                    </a:p>
                  </a:txBody>
                  <a:tcPr marL="22860" marR="22860" marT="13716" marB="13716">
                    <a:solidFill>
                      <a:srgbClr val="E8F7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0.95089</a:t>
                      </a:r>
                    </a:p>
                  </a:txBody>
                  <a:tcPr marL="22860" marR="22860" marT="13716" marB="13716">
                    <a:solidFill>
                      <a:srgbClr val="E8F7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22860" marR="22860" marT="13716" marB="13716">
                    <a:solidFill>
                      <a:srgbClr val="E8F7F1"/>
                    </a:solidFill>
                  </a:tcPr>
                </a:tc>
              </a:tr>
              <a:tr h="337624"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1">
                          <a:solidFill>
                            <a:srgbClr val="222A36"/>
                          </a:solidFill>
                          <a:latin typeface="Malgun Gothic"/>
                        </a:rPr>
                        <a:t>Co_1</a:t>
                      </a:r>
                    </a:p>
                  </a:txBody>
                  <a:tcPr marL="22860" marR="22860" marT="13716" marB="13716">
                    <a:solidFill>
                      <a:srgbClr val="F8F9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XGB+specialist</a:t>
                      </a:r>
                    </a:p>
                  </a:txBody>
                  <a:tcPr marL="22860" marR="22860" marT="13716" marB="13716">
                    <a:solidFill>
                      <a:srgbClr val="F8F9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TE</a:t>
                      </a:r>
                    </a:p>
                  </a:txBody>
                  <a:tcPr marL="22860" marR="22860" marT="13716" marB="13716">
                    <a:solidFill>
                      <a:srgbClr val="F8F9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결측 라우팅</a:t>
                      </a:r>
                    </a:p>
                  </a:txBody>
                  <a:tcPr marL="22860" marR="22860" marT="13716" marB="13716">
                    <a:solidFill>
                      <a:srgbClr val="F8F9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prior</a:t>
                      </a:r>
                    </a:p>
                  </a:txBody>
                  <a:tcPr marL="22860" marR="22860" marT="13716" marB="13716">
                    <a:solidFill>
                      <a:srgbClr val="F8F9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전체</a:t>
                      </a:r>
                    </a:p>
                  </a:txBody>
                  <a:tcPr marL="22860" marR="22860" marT="13716" marB="13716">
                    <a:solidFill>
                      <a:srgbClr val="F8F9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LB</a:t>
                      </a:r>
                    </a:p>
                  </a:txBody>
                  <a:tcPr marL="22860" marR="22860" marT="13716" marB="13716">
                    <a:solidFill>
                      <a:srgbClr val="F8F9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22860" marR="22860" marT="13716" marB="13716">
                    <a:solidFill>
                      <a:srgbClr val="F8F9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0.95009</a:t>
                      </a:r>
                    </a:p>
                  </a:txBody>
                  <a:tcPr marL="22860" marR="22860" marT="13716" marB="13716">
                    <a:solidFill>
                      <a:srgbClr val="F8F9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22860" marR="22860" marT="13716" marB="13716">
                    <a:solidFill>
                      <a:srgbClr val="F8F9FA"/>
                    </a:solidFill>
                  </a:tcPr>
                </a:tc>
              </a:tr>
              <a:tr h="337624"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1">
                          <a:solidFill>
                            <a:srgbClr val="222A36"/>
                          </a:solidFill>
                          <a:latin typeface="Malgun Gothic"/>
                        </a:rPr>
                        <a:t>Co_F1</a:t>
                      </a:r>
                    </a:p>
                  </a:txBody>
                  <a:tcPr marL="22860" marR="22860" marT="13716" marB="13716">
                    <a:solidFill>
                      <a:srgbClr val="F8F9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dual router</a:t>
                      </a:r>
                    </a:p>
                  </a:txBody>
                  <a:tcPr marL="22860" marR="22860" marT="13716" marB="13716">
                    <a:solidFill>
                      <a:srgbClr val="F8F9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TE</a:t>
                      </a:r>
                    </a:p>
                  </a:txBody>
                  <a:tcPr marL="22860" marR="22860" marT="13716" marB="13716">
                    <a:solidFill>
                      <a:srgbClr val="F8F9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고위험 라우팅</a:t>
                      </a:r>
                    </a:p>
                  </a:txBody>
                  <a:tcPr marL="22860" marR="22860" marT="13716" marB="13716">
                    <a:solidFill>
                      <a:srgbClr val="F8F9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calib</a:t>
                      </a:r>
                    </a:p>
                  </a:txBody>
                  <a:tcPr marL="22860" marR="22860" marT="13716" marB="13716">
                    <a:solidFill>
                      <a:srgbClr val="F8F9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전체</a:t>
                      </a:r>
                    </a:p>
                  </a:txBody>
                  <a:tcPr marL="22860" marR="22860" marT="13716" marB="13716">
                    <a:solidFill>
                      <a:srgbClr val="F8F9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LB</a:t>
                      </a:r>
                    </a:p>
                  </a:txBody>
                  <a:tcPr marL="22860" marR="22860" marT="13716" marB="13716">
                    <a:solidFill>
                      <a:srgbClr val="F8F9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22860" marR="22860" marT="13716" marB="13716">
                    <a:solidFill>
                      <a:srgbClr val="F8F9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0.95081</a:t>
                      </a:r>
                    </a:p>
                  </a:txBody>
                  <a:tcPr marL="22860" marR="22860" marT="13716" marB="13716">
                    <a:solidFill>
                      <a:srgbClr val="F8F9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22860" marR="22860" marT="13716" marB="13716">
                    <a:solidFill>
                      <a:srgbClr val="F8F9FA"/>
                    </a:solidFill>
                  </a:tcPr>
                </a:tc>
              </a:tr>
              <a:tr h="337624"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1">
                          <a:solidFill>
                            <a:srgbClr val="222A36"/>
                          </a:solidFill>
                          <a:latin typeface="Malgun Gothic"/>
                        </a:rPr>
                        <a:t>Co_2</a:t>
                      </a:r>
                    </a:p>
                  </a:txBody>
                  <a:tcPr marL="22860" marR="22860" marT="13716" marB="13716">
                    <a:solidFill>
                      <a:srgbClr val="F8F9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precision router</a:t>
                      </a:r>
                    </a:p>
                  </a:txBody>
                  <a:tcPr marL="22860" marR="22860" marT="13716" marB="13716">
                    <a:solidFill>
                      <a:srgbClr val="F8F9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TE</a:t>
                      </a:r>
                    </a:p>
                  </a:txBody>
                  <a:tcPr marL="22860" marR="22860" marT="13716" marB="13716">
                    <a:solidFill>
                      <a:srgbClr val="F8F9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소수 정밀도</a:t>
                      </a:r>
                    </a:p>
                  </a:txBody>
                  <a:tcPr marL="22860" marR="22860" marT="13716" marB="13716">
                    <a:solidFill>
                      <a:srgbClr val="F8F9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calib</a:t>
                      </a:r>
                    </a:p>
                  </a:txBody>
                  <a:tcPr marL="22860" marR="22860" marT="13716" marB="13716">
                    <a:solidFill>
                      <a:srgbClr val="F8F9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전체</a:t>
                      </a:r>
                    </a:p>
                  </a:txBody>
                  <a:tcPr marL="22860" marR="22860" marT="13716" marB="13716">
                    <a:solidFill>
                      <a:srgbClr val="F8F9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LB</a:t>
                      </a:r>
                    </a:p>
                  </a:txBody>
                  <a:tcPr marL="22860" marR="22860" marT="13716" marB="13716">
                    <a:solidFill>
                      <a:srgbClr val="F8F9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22860" marR="22860" marT="13716" marB="13716">
                    <a:solidFill>
                      <a:srgbClr val="F8F9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0.95080</a:t>
                      </a:r>
                    </a:p>
                  </a:txBody>
                  <a:tcPr marL="22860" marR="22860" marT="13716" marB="13716">
                    <a:solidFill>
                      <a:srgbClr val="F8F9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22860" marR="22860" marT="13716" marB="13716">
                    <a:solidFill>
                      <a:srgbClr val="F8F9FA"/>
                    </a:solidFill>
                  </a:tcPr>
                </a:tc>
              </a:tr>
              <a:tr h="337624"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1">
                          <a:solidFill>
                            <a:srgbClr val="222A36"/>
                          </a:solidFill>
                          <a:latin typeface="Malgun Gothic"/>
                        </a:rPr>
                        <a:t>Co_3</a:t>
                      </a:r>
                    </a:p>
                  </a:txBody>
                  <a:tcPr marL="22860" marR="22860" marT="13716" marB="13716">
                    <a:solidFill>
                      <a:srgbClr val="F8F9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RealMLP router</a:t>
                      </a:r>
                    </a:p>
                  </a:txBody>
                  <a:tcPr marL="22860" marR="22860" marT="13716" marB="13716">
                    <a:solidFill>
                      <a:srgbClr val="F8F9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TE+scale</a:t>
                      </a:r>
                    </a:p>
                  </a:txBody>
                  <a:tcPr marL="22860" marR="22860" marT="13716" marB="13716">
                    <a:solidFill>
                      <a:srgbClr val="F8F9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독립 다양성</a:t>
                      </a:r>
                    </a:p>
                  </a:txBody>
                  <a:tcPr marL="22860" marR="22860" marT="13716" marB="13716">
                    <a:solidFill>
                      <a:srgbClr val="F8F9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weighted</a:t>
                      </a:r>
                    </a:p>
                  </a:txBody>
                  <a:tcPr marL="22860" marR="22860" marT="13716" marB="13716">
                    <a:solidFill>
                      <a:srgbClr val="F8F9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전체</a:t>
                      </a:r>
                    </a:p>
                  </a:txBody>
                  <a:tcPr marL="22860" marR="22860" marT="13716" marB="13716">
                    <a:solidFill>
                      <a:srgbClr val="F8F9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LB</a:t>
                      </a:r>
                    </a:p>
                  </a:txBody>
                  <a:tcPr marL="22860" marR="22860" marT="13716" marB="13716">
                    <a:solidFill>
                      <a:srgbClr val="F8F9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22860" marR="22860" marT="13716" marB="13716">
                    <a:solidFill>
                      <a:srgbClr val="F8F9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0.95092</a:t>
                      </a:r>
                    </a:p>
                  </a:txBody>
                  <a:tcPr marL="22860" marR="22860" marT="13716" marB="13716">
                    <a:solidFill>
                      <a:srgbClr val="F8F9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22860" marR="22860" marT="13716" marB="13716">
                    <a:solidFill>
                      <a:srgbClr val="F8F9FA"/>
                    </a:solidFill>
                  </a:tcPr>
                </a:tc>
              </a:tr>
              <a:tr h="337624"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1">
                          <a:solidFill>
                            <a:srgbClr val="222A36"/>
                          </a:solidFill>
                          <a:latin typeface="Malgun Gothic"/>
                        </a:rPr>
                        <a:t>Co_5</a:t>
                      </a:r>
                    </a:p>
                  </a:txBody>
                  <a:tcPr marL="22860" marR="22860" marT="13716" marB="13716">
                    <a:solidFill>
                      <a:srgbClr val="00A67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HGB pipeline</a:t>
                      </a:r>
                    </a:p>
                  </a:txBody>
                  <a:tcPr marL="22860" marR="22860" marT="13716" marB="13716">
                    <a:solidFill>
                      <a:srgbClr val="00A67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exact TE</a:t>
                      </a:r>
                    </a:p>
                  </a:txBody>
                  <a:tcPr marL="22860" marR="22860" marT="13716" marB="13716">
                    <a:solidFill>
                      <a:srgbClr val="00A67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수면·물·활동</a:t>
                      </a:r>
                    </a:p>
                  </a:txBody>
                  <a:tcPr marL="22860" marR="22860" marT="13716" marB="13716">
                    <a:solidFill>
                      <a:srgbClr val="00A67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balanced</a:t>
                      </a:r>
                    </a:p>
                  </a:txBody>
                  <a:tcPr marL="22860" marR="22860" marT="13716" marB="13716">
                    <a:solidFill>
                      <a:srgbClr val="00A67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전체</a:t>
                      </a:r>
                    </a:p>
                  </a:txBody>
                  <a:tcPr marL="22860" marR="22860" marT="13716" marB="13716">
                    <a:solidFill>
                      <a:srgbClr val="00A67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LB</a:t>
                      </a:r>
                    </a:p>
                  </a:txBody>
                  <a:tcPr marL="22860" marR="22860" marT="13716" marB="13716">
                    <a:solidFill>
                      <a:srgbClr val="00A67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22860" marR="22860" marT="13716" marB="13716">
                    <a:solidFill>
                      <a:srgbClr val="00A67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0.95104</a:t>
                      </a:r>
                    </a:p>
                  </a:txBody>
                  <a:tcPr marL="22860" marR="22860" marT="13716" marB="13716">
                    <a:solidFill>
                      <a:srgbClr val="00A67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22860" marR="22860" marT="13716" marB="13716">
                    <a:solidFill>
                      <a:srgbClr val="00A67D"/>
                    </a:solidFill>
                  </a:tcPr>
                </a:tc>
              </a:tr>
              <a:tr h="337624"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1">
                          <a:solidFill>
                            <a:srgbClr val="222A36"/>
                          </a:solidFill>
                          <a:latin typeface="Malgun Gothic"/>
                        </a:rPr>
                        <a:t>Co_6</a:t>
                      </a:r>
                    </a:p>
                  </a:txBody>
                  <a:tcPr marL="22860" marR="22860" marT="13716" marB="13716">
                    <a:solidFill>
                      <a:srgbClr val="FFF7E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prior diversity</a:t>
                      </a:r>
                    </a:p>
                  </a:txBody>
                  <a:tcPr marL="22860" marR="22860" marT="13716" marB="13716">
                    <a:solidFill>
                      <a:srgbClr val="FFF7E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TE</a:t>
                      </a:r>
                    </a:p>
                  </a:txBody>
                  <a:tcPr marL="22860" marR="22860" marT="13716" marB="13716">
                    <a:solidFill>
                      <a:srgbClr val="FFF7E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class prior</a:t>
                      </a:r>
                    </a:p>
                  </a:txBody>
                  <a:tcPr marL="22860" marR="22860" marT="13716" marB="13716">
                    <a:solidFill>
                      <a:srgbClr val="FFF7E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prior</a:t>
                      </a:r>
                    </a:p>
                  </a:txBody>
                  <a:tcPr marL="22860" marR="22860" marT="13716" marB="13716">
                    <a:solidFill>
                      <a:srgbClr val="FFF7E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전체</a:t>
                      </a:r>
                    </a:p>
                  </a:txBody>
                  <a:tcPr marL="22860" marR="22860" marT="13716" marB="13716">
                    <a:solidFill>
                      <a:srgbClr val="FFF7E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LB</a:t>
                      </a:r>
                    </a:p>
                  </a:txBody>
                  <a:tcPr marL="22860" marR="22860" marT="13716" marB="13716">
                    <a:solidFill>
                      <a:srgbClr val="FFF7E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22860" marR="22860" marT="13716" marB="13716">
                    <a:solidFill>
                      <a:srgbClr val="FFF7E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0.95098</a:t>
                      </a:r>
                    </a:p>
                  </a:txBody>
                  <a:tcPr marL="22860" marR="22860" marT="13716" marB="13716">
                    <a:solidFill>
                      <a:srgbClr val="FFF7E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22860" marR="22860" marT="13716" marB="13716">
                    <a:solidFill>
                      <a:srgbClr val="FFF7E6"/>
                    </a:solidFill>
                  </a:tcPr>
                </a:tc>
              </a:tr>
              <a:tr h="337624"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1">
                          <a:solidFill>
                            <a:srgbClr val="222A36"/>
                          </a:solidFill>
                          <a:latin typeface="Malgun Gothic"/>
                        </a:rPr>
                        <a:t>Co_9</a:t>
                      </a:r>
                    </a:p>
                  </a:txBody>
                  <a:tcPr marL="22860" marR="22860" marT="13716" marB="13716">
                    <a:solidFill>
                      <a:srgbClr val="00A67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minority recovery</a:t>
                      </a:r>
                    </a:p>
                  </a:txBody>
                  <a:tcPr marL="22860" marR="22860" marT="13716" marB="13716">
                    <a:solidFill>
                      <a:srgbClr val="00A67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exact TE</a:t>
                      </a:r>
                    </a:p>
                  </a:txBody>
                  <a:tcPr marL="22860" marR="22860" marT="13716" marB="13716">
                    <a:solidFill>
                      <a:srgbClr val="00A67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소수 회수</a:t>
                      </a:r>
                    </a:p>
                  </a:txBody>
                  <a:tcPr marL="22860" marR="22860" marT="13716" marB="13716">
                    <a:solidFill>
                      <a:srgbClr val="00A67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threshold</a:t>
                      </a:r>
                    </a:p>
                  </a:txBody>
                  <a:tcPr marL="22860" marR="22860" marT="13716" marB="13716">
                    <a:solidFill>
                      <a:srgbClr val="00A67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전체</a:t>
                      </a:r>
                    </a:p>
                  </a:txBody>
                  <a:tcPr marL="22860" marR="22860" marT="13716" marB="13716">
                    <a:solidFill>
                      <a:srgbClr val="00A67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LB</a:t>
                      </a:r>
                    </a:p>
                  </a:txBody>
                  <a:tcPr marL="22860" marR="22860" marT="13716" marB="13716">
                    <a:solidFill>
                      <a:srgbClr val="00A67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22860" marR="22860" marT="13716" marB="13716">
                    <a:solidFill>
                      <a:srgbClr val="00A67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0.95104</a:t>
                      </a:r>
                    </a:p>
                  </a:txBody>
                  <a:tcPr marL="22860" marR="22860" marT="13716" marB="13716">
                    <a:solidFill>
                      <a:srgbClr val="00A67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22860" marR="22860" marT="13716" marB="13716">
                    <a:solidFill>
                      <a:srgbClr val="00A67D"/>
                    </a:solidFill>
                  </a:tcPr>
                </a:tc>
              </a:tr>
              <a:tr h="337624"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1">
                          <a:solidFill>
                            <a:srgbClr val="222A36"/>
                          </a:solidFill>
                          <a:latin typeface="Malgun Gothic"/>
                        </a:rPr>
                        <a:t>Co_10</a:t>
                      </a:r>
                    </a:p>
                  </a:txBody>
                  <a:tcPr marL="22860" marR="22860" marT="13716" marB="13716">
                    <a:solidFill>
                      <a:srgbClr val="00A67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5-fold consensus</a:t>
                      </a:r>
                    </a:p>
                  </a:txBody>
                  <a:tcPr marL="22860" marR="22860" marT="13716" marB="13716">
                    <a:solidFill>
                      <a:srgbClr val="00A67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exact TE</a:t>
                      </a:r>
                    </a:p>
                  </a:txBody>
                  <a:tcPr marL="22860" marR="22860" marT="13716" marB="13716">
                    <a:solidFill>
                      <a:srgbClr val="00A67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강한 합의</a:t>
                      </a:r>
                    </a:p>
                  </a:txBody>
                  <a:tcPr marL="22860" marR="22860" marT="13716" marB="13716">
                    <a:solidFill>
                      <a:srgbClr val="00A67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nested</a:t>
                      </a:r>
                    </a:p>
                  </a:txBody>
                  <a:tcPr marL="22860" marR="22860" marT="13716" marB="13716">
                    <a:solidFill>
                      <a:srgbClr val="00A67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전체</a:t>
                      </a:r>
                    </a:p>
                  </a:txBody>
                  <a:tcPr marL="22860" marR="22860" marT="13716" marB="13716">
                    <a:solidFill>
                      <a:srgbClr val="00A67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LB</a:t>
                      </a:r>
                    </a:p>
                  </a:txBody>
                  <a:tcPr marL="22860" marR="22860" marT="13716" marB="13716">
                    <a:solidFill>
                      <a:srgbClr val="00A67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22860" marR="22860" marT="13716" marB="13716">
                    <a:solidFill>
                      <a:srgbClr val="00A67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0.95104</a:t>
                      </a:r>
                    </a:p>
                  </a:txBody>
                  <a:tcPr marL="22860" marR="22860" marT="13716" marB="13716">
                    <a:solidFill>
                      <a:srgbClr val="00A67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22860" marR="22860" marT="13716" marB="13716">
                    <a:solidFill>
                      <a:srgbClr val="00A67D"/>
                    </a:solidFill>
                  </a:tcPr>
                </a:tc>
              </a:tr>
              <a:tr h="337624"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1">
                          <a:solidFill>
                            <a:srgbClr val="222A36"/>
                          </a:solidFill>
                          <a:latin typeface="Malgun Gothic"/>
                        </a:rPr>
                        <a:t>Co_17</a:t>
                      </a:r>
                    </a:p>
                  </a:txBody>
                  <a:tcPr marL="22860" marR="22860" marT="13716" marB="13716">
                    <a:solidFill>
                      <a:srgbClr val="FDEE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wide calibration</a:t>
                      </a:r>
                    </a:p>
                  </a:txBody>
                  <a:tcPr marL="22860" marR="22860" marT="13716" marB="13716">
                    <a:solidFill>
                      <a:srgbClr val="FDEE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TE</a:t>
                      </a:r>
                    </a:p>
                  </a:txBody>
                  <a:tcPr marL="22860" marR="22860" marT="13716" marB="13716">
                    <a:solidFill>
                      <a:srgbClr val="FDEE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광역 보정</a:t>
                      </a:r>
                    </a:p>
                  </a:txBody>
                  <a:tcPr marL="22860" marR="22860" marT="13716" marB="13716">
                    <a:solidFill>
                      <a:srgbClr val="FDEE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calib</a:t>
                      </a:r>
                    </a:p>
                  </a:txBody>
                  <a:tcPr marL="22860" marR="22860" marT="13716" marB="13716">
                    <a:solidFill>
                      <a:srgbClr val="FDEE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전체</a:t>
                      </a:r>
                    </a:p>
                  </a:txBody>
                  <a:tcPr marL="22860" marR="22860" marT="13716" marB="13716">
                    <a:solidFill>
                      <a:srgbClr val="FDEE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LB</a:t>
                      </a:r>
                    </a:p>
                  </a:txBody>
                  <a:tcPr marL="22860" marR="22860" marT="13716" marB="13716">
                    <a:solidFill>
                      <a:srgbClr val="FDEE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22860" marR="22860" marT="13716" marB="13716">
                    <a:solidFill>
                      <a:srgbClr val="FDEE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0.95057</a:t>
                      </a:r>
                    </a:p>
                  </a:txBody>
                  <a:tcPr marL="22860" marR="22860" marT="13716" marB="13716">
                    <a:solidFill>
                      <a:srgbClr val="FDEE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22860" marR="22860" marT="13716" marB="13716">
                    <a:solidFill>
                      <a:srgbClr val="FDEEEE"/>
                    </a:solidFill>
                  </a:tcPr>
                </a:tc>
              </a:tr>
              <a:tr h="337624"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1">
                          <a:solidFill>
                            <a:srgbClr val="222A36"/>
                          </a:solidFill>
                          <a:latin typeface="Malgun Gothic"/>
                        </a:rPr>
                        <a:t>Co_L1~4</a:t>
                      </a:r>
                    </a:p>
                  </a:txBody>
                  <a:tcPr marL="22860" marR="22860" marT="13716" marB="13716">
                    <a:solidFill>
                      <a:srgbClr val="FDEE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강공 4종</a:t>
                      </a:r>
                    </a:p>
                  </a:txBody>
                  <a:tcPr marL="22860" marR="22860" marT="13716" marB="13716">
                    <a:solidFill>
                      <a:srgbClr val="FDEE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혼합</a:t>
                      </a:r>
                    </a:p>
                  </a:txBody>
                  <a:tcPr marL="22860" marR="22860" marT="13716" marB="13716">
                    <a:solidFill>
                      <a:srgbClr val="FDEE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class attack</a:t>
                      </a:r>
                    </a:p>
                  </a:txBody>
                  <a:tcPr marL="22860" marR="22860" marT="13716" marB="13716">
                    <a:solidFill>
                      <a:srgbClr val="FDEE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aggressive</a:t>
                      </a:r>
                    </a:p>
                  </a:txBody>
                  <a:tcPr marL="22860" marR="22860" marT="13716" marB="13716">
                    <a:solidFill>
                      <a:srgbClr val="FDEE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전체</a:t>
                      </a:r>
                    </a:p>
                  </a:txBody>
                  <a:tcPr marL="22860" marR="22860" marT="13716" marB="13716">
                    <a:solidFill>
                      <a:srgbClr val="FDEE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LB</a:t>
                      </a:r>
                    </a:p>
                  </a:txBody>
                  <a:tcPr marL="22860" marR="22860" marT="13716" marB="13716">
                    <a:solidFill>
                      <a:srgbClr val="FDEE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best 0.95085</a:t>
                      </a:r>
                    </a:p>
                  </a:txBody>
                  <a:tcPr marL="22860" marR="22860" marT="13716" marB="13716">
                    <a:solidFill>
                      <a:srgbClr val="FDEE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best 0.95063</a:t>
                      </a:r>
                    </a:p>
                  </a:txBody>
                  <a:tcPr marL="22860" marR="22860" marT="13716" marB="13716">
                    <a:solidFill>
                      <a:srgbClr val="FDEE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22860" marR="22860" marT="13716" marB="13716">
                    <a:solidFill>
                      <a:srgbClr val="FDEEEE"/>
                    </a:solidFill>
                  </a:tcPr>
                </a:tc>
              </a:tr>
              <a:tr h="337632"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1">
                          <a:solidFill>
                            <a:srgbClr val="222A36"/>
                          </a:solidFill>
                          <a:latin typeface="Malgun Gothic"/>
                        </a:rPr>
                        <a:t>Co_16</a:t>
                      </a:r>
                    </a:p>
                  </a:txBody>
                  <a:tcPr marL="22860" marR="22860" marT="13716" marB="13716">
                    <a:solidFill>
                      <a:srgbClr val="EFF2F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A_F 동일</a:t>
                      </a:r>
                    </a:p>
                  </a:txBody>
                  <a:tcPr marL="22860" marR="22860" marT="13716" marB="13716">
                    <a:solidFill>
                      <a:srgbClr val="EFF2F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22860" marR="22860" marT="13716" marB="13716">
                    <a:solidFill>
                      <a:srgbClr val="EFF2F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외부 제공</a:t>
                      </a:r>
                    </a:p>
                  </a:txBody>
                  <a:tcPr marL="22860" marR="22860" marT="13716" marB="13716">
                    <a:solidFill>
                      <a:srgbClr val="EFF2F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22860" marR="22860" marT="13716" marB="13716">
                    <a:solidFill>
                      <a:srgbClr val="EFF2F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외부</a:t>
                      </a:r>
                    </a:p>
                  </a:txBody>
                  <a:tcPr marL="22860" marR="22860" marT="13716" marB="13716">
                    <a:solidFill>
                      <a:srgbClr val="EFF2F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LB</a:t>
                      </a:r>
                    </a:p>
                  </a:txBody>
                  <a:tcPr marL="22860" marR="22860" marT="13716" marB="13716">
                    <a:solidFill>
                      <a:srgbClr val="EFF2F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22860" marR="22860" marT="13716" marB="13716">
                    <a:solidFill>
                      <a:srgbClr val="EFF2F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0.95114</a:t>
                      </a:r>
                    </a:p>
                  </a:txBody>
                  <a:tcPr marL="22860" marR="22860" marT="13716" marB="13716">
                    <a:solidFill>
                      <a:srgbClr val="EFF2F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5" b="0">
                          <a:solidFill>
                            <a:srgbClr val="222A36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22860" marR="22860" marT="13716" marB="13716">
                    <a:solidFill>
                      <a:srgbClr val="EFF2F4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5742432"/>
            <a:ext cx="11091672" cy="512064"/>
          </a:xfrm>
          <a:prstGeom prst="roundRect">
            <a:avLst/>
          </a:prstGeom>
          <a:solidFill>
            <a:srgbClr val="22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769864"/>
            <a:ext cx="10725912" cy="4389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algun Gothic"/>
              </a:rPr>
              <a:t>발표 대표 성적 Co_10 = 0.95104 · Co_16 = 0.95114는 외부 제공물과 동일하여 성과 집계에서 제외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318504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B6773"/>
                </a:solidFill>
                <a:latin typeface="Malgun Gothic"/>
              </a:rPr>
              <a:t>36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292608"/>
            <a:ext cx="1764792" cy="310896"/>
          </a:xfrm>
          <a:prstGeom prst="roundRect">
            <a:avLst>
              <a:gd name="adj" fmla="val 17647"/>
            </a:avLst>
          </a:prstGeom>
          <a:solidFill>
            <a:srgbClr val="22232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966960" y="292608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 err="1">
                <a:solidFill>
                  <a:srgbClr val="2E93D6"/>
                </a:solidFill>
                <a:latin typeface="Malgun Gothic" pitchFamily="34" charset="0"/>
                <a:ea typeface="Calibri" pitchFamily="34" charset="-122"/>
                <a:cs typeface="Calibri" pitchFamily="34" charset="-120"/>
              </a:rPr>
              <a:t>부록</a:t>
            </a:r>
            <a:r>
              <a:rPr lang="en-US" sz="1200" b="1" kern="0" spc="100" dirty="0">
                <a:solidFill>
                  <a:srgbClr val="2E93D6"/>
                </a:solidFill>
                <a:latin typeface="Malgun Gothic" pitchFamily="34" charset="0"/>
                <a:ea typeface="Calibri" pitchFamily="34" charset="-122"/>
                <a:cs typeface="Calibri" pitchFamily="34" charset="-120"/>
              </a:rPr>
              <a:t> A5 · SHAP 상세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2325"/>
                </a:solidFill>
                <a:latin typeface="Malgun Gothic" pitchFamily="34" charset="0"/>
                <a:ea typeface="Arial" pitchFamily="34" charset="-122"/>
                <a:cs typeface="Arial" pitchFamily="34" charset="-120"/>
              </a:rPr>
              <a:t>SHAP Beeswarm: Fit vs Unhealthy 클래스</a:t>
            </a:r>
            <a:endParaRPr lang="en-US" sz="2200" dirty="0"/>
          </a:p>
        </p:txBody>
      </p:sp>
      <p:pic>
        <p:nvPicPr>
          <p:cNvPr id="8" name="Image 0" descr="assets/shap_beeswarm_f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00200"/>
            <a:ext cx="5394960" cy="4569329"/>
          </a:xfrm>
          <a:prstGeom prst="rect">
            <a:avLst/>
          </a:prstGeom>
        </p:spPr>
      </p:pic>
      <p:pic>
        <p:nvPicPr>
          <p:cNvPr id="9" name="Image 1" descr="assets/shap_beeswarm_unhealth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600200"/>
            <a:ext cx="5394960" cy="456932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" y="6169529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Calibri" pitchFamily="34" charset="-122"/>
                <a:cs typeface="Calibri" pitchFamily="34" charset="-120"/>
              </a:rPr>
              <a:t>'fit' 방향 SHAP 분포 (좌) vs 'unhealthy' 방향 SHAP 분포 (우) — 색: 피처 값 크기</a:t>
            </a:r>
            <a:endParaRPr lang="en-US" sz="1000" dirty="0"/>
          </a:p>
        </p:txBody>
      </p:sp>
      <p:sp>
        <p:nvSpPr>
          <p:cNvPr id="11" name="TextBox 10"/>
          <p:cNvSpPr txBox="1"/>
          <p:nvPr/>
        </p:nvSpPr>
        <p:spPr>
          <a:xfrm>
            <a:off x="11137392" y="6318504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B6773"/>
                </a:solidFill>
                <a:latin typeface="Malgun Gothic"/>
              </a:rPr>
              <a:t>37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92608"/>
            <a:ext cx="5394960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07E62"/>
                </a:solidFill>
                <a:latin typeface="Malgun Gothic"/>
              </a:rPr>
              <a:t>부록 A6 · SHAP 상세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603504"/>
            <a:ext cx="10881360" cy="6766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222A36"/>
                </a:solidFill>
                <a:latin typeface="Malgun Gothic"/>
              </a:rPr>
              <a:t>SHAP Summary Plot — At-risk 클래스 상세 분포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960" y="1325880"/>
            <a:ext cx="8275320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3000" y="5797296"/>
            <a:ext cx="9921240" cy="32918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22A36"/>
                </a:solidFill>
                <a:latin typeface="Malgun Gothic"/>
              </a:rPr>
              <a:t>physical_activity_level · sleep_duration · stress_level이 at-risk 판정을 주도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318504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B6773"/>
                </a:solidFill>
                <a:latin typeface="Malgun Gothic"/>
              </a:rPr>
              <a:t>38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200" b="1" kern="0" spc="100" dirty="0" err="1">
                <a:solidFill>
                  <a:srgbClr val="2E93D6"/>
                </a:solidFill>
                <a:latin typeface="Malgun Gothic" pitchFamily="34" charset="0"/>
                <a:ea typeface="Calibri" pitchFamily="34" charset="-122"/>
                <a:cs typeface="Calibri" pitchFamily="34" charset="-120"/>
              </a:rPr>
              <a:t>부록</a:t>
            </a:r>
            <a:r>
              <a:rPr lang="en-US" altLang="ko-KR" sz="1200" b="1" kern="0" spc="100" dirty="0">
                <a:solidFill>
                  <a:srgbClr val="2E93D6"/>
                </a:solidFill>
                <a:latin typeface="Malgun Gothic" pitchFamily="34" charset="0"/>
                <a:ea typeface="Calibri" pitchFamily="34" charset="-122"/>
                <a:cs typeface="Calibri" pitchFamily="34" charset="-120"/>
              </a:rPr>
              <a:t> A7 </a:t>
            </a:r>
            <a:r>
              <a:rPr lang="en-US" sz="1200" b="1" kern="0" spc="100" dirty="0">
                <a:solidFill>
                  <a:srgbClr val="2E93D6"/>
                </a:solidFill>
                <a:latin typeface="Malgun Gothic" pitchFamily="34" charset="0"/>
                <a:ea typeface="Calibri" pitchFamily="34" charset="-122"/>
                <a:cs typeface="Calibri" pitchFamily="34" charset="-120"/>
              </a:rPr>
              <a:t>EVIDENCE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수면이 짧을수록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</a:t>
            </a: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</a:t>
            </a:r>
            <a:endParaRPr lang="en-US" sz="3400" dirty="0"/>
          </a:p>
        </p:txBody>
      </p:sp>
      <p:pic>
        <p:nvPicPr>
          <p:cNvPr id="13" name="Image 0" descr="C:/Users/1/AppData/Local/Temp/claude/C--Users-1--claude/45391a5d-3788-4f7f-b795-a49f83cafb61/scratchpad/teammate/kaggle-student-health-risk-master/assets/numeric_by_cl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794321"/>
            <a:ext cx="7406640" cy="3543677"/>
          </a:xfrm>
          <a:prstGeom prst="rect">
            <a:avLst/>
          </a:prstGeom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pic>
      <p:sp>
        <p:nvSpPr>
          <p:cNvPr id="14" name="Text 11"/>
          <p:cNvSpPr/>
          <p:nvPr/>
        </p:nvSpPr>
        <p:spPr>
          <a:xfrm>
            <a:off x="7955280" y="157276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수면 시간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7955280" y="1965960"/>
            <a:ext cx="3703320" cy="841248"/>
          </a:xfrm>
          <a:prstGeom prst="roundRect">
            <a:avLst>
              <a:gd name="adj" fmla="val 9783"/>
            </a:avLst>
          </a:prstGeom>
          <a:solidFill>
            <a:srgbClr val="E1F3ED"/>
          </a:solidFill>
          <a:ln/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8183880" y="2276856"/>
            <a:ext cx="201168" cy="201168"/>
          </a:xfrm>
          <a:prstGeom prst="ellipse">
            <a:avLst/>
          </a:prstGeom>
          <a:solidFill>
            <a:srgbClr val="009E73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8458200" y="207568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fit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8458200" y="2350008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7.95h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7955280" y="2916936"/>
            <a:ext cx="3703320" cy="841248"/>
          </a:xfrm>
          <a:prstGeom prst="roundRect">
            <a:avLst>
              <a:gd name="adj" fmla="val 9783"/>
            </a:avLst>
          </a:prstGeom>
          <a:solidFill>
            <a:srgbClr val="FBEFD9"/>
          </a:solidFill>
          <a:ln/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8183880" y="3227832"/>
            <a:ext cx="201168" cy="201168"/>
          </a:xfrm>
          <a:prstGeom prst="ellipse">
            <a:avLst/>
          </a:prstGeom>
          <a:solidFill>
            <a:srgbClr val="E69F00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8458200" y="302666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at-risk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8458200" y="3300984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87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7.09h</a:t>
            </a:r>
            <a:endParaRPr lang="en-US" sz="2200" dirty="0"/>
          </a:p>
        </p:txBody>
      </p:sp>
      <p:sp>
        <p:nvSpPr>
          <p:cNvPr id="23" name="Shape 20"/>
          <p:cNvSpPr/>
          <p:nvPr/>
        </p:nvSpPr>
        <p:spPr>
          <a:xfrm>
            <a:off x="7955280" y="3867912"/>
            <a:ext cx="3703320" cy="841248"/>
          </a:xfrm>
          <a:prstGeom prst="roundRect">
            <a:avLst>
              <a:gd name="adj" fmla="val 9783"/>
            </a:avLst>
          </a:prstGeom>
          <a:solidFill>
            <a:srgbClr val="FBE9DD"/>
          </a:solidFill>
          <a:ln/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8183880" y="4178808"/>
            <a:ext cx="201168" cy="201168"/>
          </a:xfrm>
          <a:prstGeom prst="ellipse">
            <a:avLst/>
          </a:prstGeom>
          <a:solidFill>
            <a:srgbClr val="D55E00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8458200" y="397764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unhealthy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8458200" y="425196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55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5.37h</a:t>
            </a:r>
            <a:endParaRPr lang="en-US" sz="2200" dirty="0"/>
          </a:p>
        </p:txBody>
      </p:sp>
      <p:sp>
        <p:nvSpPr>
          <p:cNvPr id="27" name="Shape 24"/>
          <p:cNvSpPr/>
          <p:nvPr/>
        </p:nvSpPr>
        <p:spPr>
          <a:xfrm>
            <a:off x="7955280" y="4846320"/>
            <a:ext cx="3703320" cy="914400"/>
          </a:xfrm>
          <a:prstGeom prst="roundRect">
            <a:avLst>
              <a:gd name="adj" fmla="val 9000"/>
            </a:avLst>
          </a:prstGeom>
          <a:solidFill>
            <a:srgbClr val="FBEFD9"/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8183880" y="4956048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stress = medium → at-risk  </a:t>
            </a:r>
            <a:r>
              <a:rPr lang="en-US" sz="2000" b="1" dirty="0">
                <a:solidFill>
                  <a:srgbClr val="A87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99.4%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8183880" y="535838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스트레스 등급만으로 거의 완벽히 분리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365760" y="566928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unhealthy 평균 수면은 5.4시간 — fit(8.0h)과 뚜렷이 갈립니다. 생활 신호가 등급을 가릅니다.</a:t>
            </a:r>
            <a:endParaRPr lang="en-US" sz="1250" dirty="0"/>
          </a:p>
        </p:txBody>
      </p:sp>
      <p:sp>
        <p:nvSpPr>
          <p:cNvPr id="31" name="TextBox 30"/>
          <p:cNvSpPr txBox="1"/>
          <p:nvPr/>
        </p:nvSpPr>
        <p:spPr>
          <a:xfrm>
            <a:off x="11137392" y="6318504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B6773"/>
                </a:solidFill>
                <a:latin typeface="Malgun Gothic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28143311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2948</Words>
  <Application>Microsoft Office PowerPoint</Application>
  <PresentationFormat>와이드스크린</PresentationFormat>
  <Paragraphs>766</Paragraphs>
  <Slides>38</Slides>
  <Notes>38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38</vt:i4>
      </vt:variant>
    </vt:vector>
  </HeadingPairs>
  <TitlesOfParts>
    <vt:vector size="43" baseType="lpstr">
      <vt:lpstr>Malgun Gothic</vt:lpstr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건강신호등 (Health Signal) — 플랫폼 제안서</dc:title>
  <dc:subject>PptxGenJS Presentation</dc:subject>
  <dc:creator>건강신호등 팀</dc:creator>
  <cp:lastModifiedBy>중진공42</cp:lastModifiedBy>
  <cp:revision>12</cp:revision>
  <dcterms:created xsi:type="dcterms:W3CDTF">2026-07-14T14:31:27Z</dcterms:created>
  <dcterms:modified xsi:type="dcterms:W3CDTF">2026-07-15T02:05:58Z</dcterms:modified>
</cp:coreProperties>
</file>